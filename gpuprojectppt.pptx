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mo" charset="1" panose="020B0604020202020204"/>
      <p:regular r:id="rId20"/>
    </p:embeddedFont>
    <p:embeddedFont>
      <p:font typeface="Source Serif Pro" charset="1" panose="02040603050405020204"/>
      <p:regular r:id="rId21"/>
    </p:embeddedFont>
    <p:embeddedFont>
      <p:font typeface="Source Serif Pro Bold" charset="1" panose="02040803050405020204"/>
      <p:regular r:id="rId23"/>
    </p:embeddedFont>
    <p:embeddedFont>
      <p:font typeface="Arimo Bold" charset="1" panose="020B070402020202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jpe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notesSlides/notesSlide3.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png" Type="http://schemas.openxmlformats.org/officeDocument/2006/relationships/image"/><Relationship Id="rId2" Target="../notesSlides/notesSlide5.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jpe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5.png" Type="http://schemas.openxmlformats.org/officeDocument/2006/relationships/image"/><Relationship Id="rId6"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6.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6181" t="0" r="-6181" b="0"/>
              </a:stretch>
            </a:blipFill>
          </p:spPr>
        </p:sp>
      </p:grpSp>
      <p:sp>
        <p:nvSpPr>
          <p:cNvPr name="TextBox 10" id="10"/>
          <p:cNvSpPr txBox="true"/>
          <p:nvPr/>
        </p:nvSpPr>
        <p:spPr>
          <a:xfrm rot="0">
            <a:off x="446103" y="1677372"/>
            <a:ext cx="9509613" cy="2655187"/>
          </a:xfrm>
          <a:prstGeom prst="rect">
            <a:avLst/>
          </a:prstGeom>
        </p:spPr>
        <p:txBody>
          <a:bodyPr anchor="t" rtlCol="false" tIns="0" lIns="0" bIns="0" rIns="0">
            <a:spAutoFit/>
          </a:bodyPr>
          <a:lstStyle/>
          <a:p>
            <a:pPr algn="l">
              <a:lnSpc>
                <a:spcPts val="6932"/>
              </a:lnSpc>
            </a:pPr>
            <a:r>
              <a:rPr lang="en-US" sz="5574">
                <a:solidFill>
                  <a:srgbClr val="201B18"/>
                </a:solidFill>
                <a:latin typeface="Arimo"/>
                <a:ea typeface="Arimo"/>
                <a:cs typeface="Arimo"/>
                <a:sym typeface="Arimo"/>
              </a:rPr>
              <a:t>GPU-Accelerated Image Compression with Content-Aware Quality </a:t>
            </a:r>
            <a:r>
              <a:rPr lang="en-US" sz="5574">
                <a:solidFill>
                  <a:srgbClr val="201B18"/>
                </a:solidFill>
                <a:latin typeface="Arimo"/>
                <a:ea typeface="Arimo"/>
                <a:cs typeface="Arimo"/>
                <a:sym typeface="Arimo"/>
              </a:rPr>
              <a:t>Mapping</a:t>
            </a:r>
          </a:p>
        </p:txBody>
      </p:sp>
      <p:sp>
        <p:nvSpPr>
          <p:cNvPr name="TextBox 11" id="11"/>
          <p:cNvSpPr txBox="true"/>
          <p:nvPr/>
        </p:nvSpPr>
        <p:spPr>
          <a:xfrm rot="0">
            <a:off x="992238" y="5801316"/>
            <a:ext cx="9445523" cy="499869"/>
          </a:xfrm>
          <a:prstGeom prst="rect">
            <a:avLst/>
          </a:prstGeom>
        </p:spPr>
        <p:txBody>
          <a:bodyPr anchor="t" rtlCol="false" tIns="0" lIns="0" bIns="0" rIns="0">
            <a:spAutoFit/>
          </a:bodyPr>
          <a:lstStyle/>
          <a:p>
            <a:pPr algn="l">
              <a:lnSpc>
                <a:spcPts val="4254"/>
              </a:lnSpc>
            </a:pPr>
            <a:r>
              <a:rPr lang="en-US" sz="2637">
                <a:solidFill>
                  <a:srgbClr val="504C49"/>
                </a:solidFill>
                <a:latin typeface="Source Serif Pro"/>
                <a:ea typeface="Source Serif Pro"/>
                <a:cs typeface="Source Serif Pro"/>
                <a:sym typeface="Source Serif Pro"/>
              </a:rPr>
              <a:t>Parallel &amp; Distributed Computing Project</a:t>
            </a:r>
          </a:p>
        </p:txBody>
      </p:sp>
      <p:sp>
        <p:nvSpPr>
          <p:cNvPr name="TextBox 12" id="12"/>
          <p:cNvSpPr txBox="true"/>
          <p:nvPr/>
        </p:nvSpPr>
        <p:spPr>
          <a:xfrm rot="0">
            <a:off x="1001763" y="6360166"/>
            <a:ext cx="9445523" cy="1688260"/>
          </a:xfrm>
          <a:prstGeom prst="rect">
            <a:avLst/>
          </a:prstGeom>
        </p:spPr>
        <p:txBody>
          <a:bodyPr anchor="t" rtlCol="false" tIns="0" lIns="0" bIns="0" rIns="0">
            <a:spAutoFit/>
          </a:bodyPr>
          <a:lstStyle/>
          <a:p>
            <a:pPr algn="l">
              <a:lnSpc>
                <a:spcPts val="3445"/>
              </a:lnSpc>
            </a:pPr>
            <a:r>
              <a:rPr lang="en-US" sz="2137">
                <a:solidFill>
                  <a:srgbClr val="504C49"/>
                </a:solidFill>
                <a:latin typeface="Source Serif Pro"/>
                <a:ea typeface="Source Serif Pro"/>
                <a:cs typeface="Source Serif Pro"/>
                <a:sym typeface="Source Serif Pro"/>
              </a:rPr>
              <a:t>Team:</a:t>
            </a:r>
          </a:p>
          <a:p>
            <a:pPr algn="l">
              <a:lnSpc>
                <a:spcPts val="3445"/>
              </a:lnSpc>
            </a:pPr>
            <a:r>
              <a:rPr lang="en-US" sz="2137">
                <a:solidFill>
                  <a:srgbClr val="504C49"/>
                </a:solidFill>
                <a:latin typeface="Source Serif Pro"/>
                <a:ea typeface="Source Serif Pro"/>
                <a:cs typeface="Source Serif Pro"/>
                <a:sym typeface="Source Serif Pro"/>
              </a:rPr>
              <a:t>1) Aditya Chauhan - 102303130</a:t>
            </a:r>
          </a:p>
          <a:p>
            <a:pPr algn="l">
              <a:lnSpc>
                <a:spcPts val="3445"/>
              </a:lnSpc>
            </a:pPr>
            <a:r>
              <a:rPr lang="en-US" sz="2137">
                <a:solidFill>
                  <a:srgbClr val="504C49"/>
                </a:solidFill>
                <a:latin typeface="Source Serif Pro"/>
                <a:ea typeface="Source Serif Pro"/>
                <a:cs typeface="Source Serif Pro"/>
                <a:sym typeface="Source Serif Pro"/>
              </a:rPr>
              <a:t>2) Gaurang Garg - 102303134</a:t>
            </a:r>
          </a:p>
          <a:p>
            <a:pPr algn="l">
              <a:lnSpc>
                <a:spcPts val="3447"/>
              </a:lnSpc>
            </a:pPr>
            <a:r>
              <a:rPr lang="en-US" sz="2137">
                <a:solidFill>
                  <a:srgbClr val="504C49"/>
                </a:solidFill>
                <a:latin typeface="Source Serif Pro"/>
                <a:ea typeface="Source Serif Pro"/>
                <a:cs typeface="Source Serif Pro"/>
                <a:sym typeface="Source Serif Pro"/>
              </a:rPr>
              <a:t>3) Saksham Mittal - 102303135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92238" y="2661199"/>
            <a:ext cx="8062170" cy="2294182"/>
            <a:chOff x="0" y="0"/>
            <a:chExt cx="10749559" cy="3058909"/>
          </a:xfrm>
        </p:grpSpPr>
        <p:sp>
          <p:nvSpPr>
            <p:cNvPr name="Freeform 7" id="7"/>
            <p:cNvSpPr/>
            <p:nvPr/>
          </p:nvSpPr>
          <p:spPr>
            <a:xfrm flipH="false" flipV="false" rot="0">
              <a:off x="0" y="0"/>
              <a:ext cx="10749534" cy="3058922"/>
            </a:xfrm>
            <a:custGeom>
              <a:avLst/>
              <a:gdLst/>
              <a:ahLst/>
              <a:cxnLst/>
              <a:rect r="r" b="b" t="t" l="l"/>
              <a:pathLst>
                <a:path h="3058922" w="10749534">
                  <a:moveTo>
                    <a:pt x="0" y="42164"/>
                  </a:moveTo>
                  <a:cubicBezTo>
                    <a:pt x="0" y="18923"/>
                    <a:pt x="18923" y="0"/>
                    <a:pt x="42164" y="0"/>
                  </a:cubicBezTo>
                  <a:lnTo>
                    <a:pt x="10707370" y="0"/>
                  </a:lnTo>
                  <a:cubicBezTo>
                    <a:pt x="10730611" y="0"/>
                    <a:pt x="10749534" y="18923"/>
                    <a:pt x="10749534" y="42164"/>
                  </a:cubicBezTo>
                  <a:lnTo>
                    <a:pt x="10749534" y="3016758"/>
                  </a:lnTo>
                  <a:cubicBezTo>
                    <a:pt x="10749534" y="3039999"/>
                    <a:pt x="10730611" y="3058922"/>
                    <a:pt x="10707370" y="3058922"/>
                  </a:cubicBezTo>
                  <a:lnTo>
                    <a:pt x="42164" y="3058922"/>
                  </a:lnTo>
                  <a:cubicBezTo>
                    <a:pt x="18923" y="3058922"/>
                    <a:pt x="0" y="3039999"/>
                    <a:pt x="0" y="3016758"/>
                  </a:cubicBezTo>
                  <a:close/>
                </a:path>
              </a:pathLst>
            </a:custGeom>
            <a:solidFill>
              <a:srgbClr val="F9F7F7"/>
            </a:solidFill>
          </p:spPr>
        </p:sp>
      </p:grpSp>
      <p:grpSp>
        <p:nvGrpSpPr>
          <p:cNvPr name="Group 8" id="8"/>
          <p:cNvGrpSpPr/>
          <p:nvPr/>
        </p:nvGrpSpPr>
        <p:grpSpPr>
          <a:xfrm rot="0">
            <a:off x="1202979" y="2871940"/>
            <a:ext cx="632517" cy="632517"/>
            <a:chOff x="0" y="0"/>
            <a:chExt cx="843356" cy="843356"/>
          </a:xfrm>
        </p:grpSpPr>
        <p:sp>
          <p:nvSpPr>
            <p:cNvPr name="Freeform 9" id="9"/>
            <p:cNvSpPr/>
            <p:nvPr/>
          </p:nvSpPr>
          <p:spPr>
            <a:xfrm flipH="false" flipV="false" rot="0">
              <a:off x="0" y="0"/>
              <a:ext cx="843280" cy="843280"/>
            </a:xfrm>
            <a:custGeom>
              <a:avLst/>
              <a:gdLst/>
              <a:ahLst/>
              <a:cxnLst/>
              <a:rect r="r" b="b" t="t" l="l"/>
              <a:pathLst>
                <a:path h="843280" w="843280">
                  <a:moveTo>
                    <a:pt x="0" y="421640"/>
                  </a:moveTo>
                  <a:cubicBezTo>
                    <a:pt x="0" y="188849"/>
                    <a:pt x="188849" y="0"/>
                    <a:pt x="421640" y="0"/>
                  </a:cubicBezTo>
                  <a:cubicBezTo>
                    <a:pt x="654431" y="0"/>
                    <a:pt x="843280" y="188849"/>
                    <a:pt x="843280" y="421640"/>
                  </a:cubicBezTo>
                  <a:cubicBezTo>
                    <a:pt x="843280" y="654431"/>
                    <a:pt x="654431" y="843280"/>
                    <a:pt x="421640" y="843280"/>
                  </a:cubicBezTo>
                  <a:cubicBezTo>
                    <a:pt x="188849" y="843280"/>
                    <a:pt x="0" y="654558"/>
                    <a:pt x="0" y="421640"/>
                  </a:cubicBezTo>
                  <a:close/>
                </a:path>
              </a:pathLst>
            </a:custGeom>
            <a:solidFill>
              <a:srgbClr val="3E2513"/>
            </a:solidFill>
          </p:spPr>
        </p:sp>
      </p:grpSp>
      <p:sp>
        <p:nvSpPr>
          <p:cNvPr name="Freeform 10" id="10" descr="preencoded.png"/>
          <p:cNvSpPr/>
          <p:nvPr/>
        </p:nvSpPr>
        <p:spPr>
          <a:xfrm flipH="false" flipV="false" rot="0">
            <a:off x="1376953" y="3045771"/>
            <a:ext cx="284559" cy="284559"/>
          </a:xfrm>
          <a:custGeom>
            <a:avLst/>
            <a:gdLst/>
            <a:ahLst/>
            <a:cxnLst/>
            <a:rect r="r" b="b" t="t" l="l"/>
            <a:pathLst>
              <a:path h="284559" w="284559">
                <a:moveTo>
                  <a:pt x="0" y="0"/>
                </a:moveTo>
                <a:lnTo>
                  <a:pt x="284559" y="0"/>
                </a:lnTo>
                <a:lnTo>
                  <a:pt x="284559" y="284560"/>
                </a:lnTo>
                <a:lnTo>
                  <a:pt x="0" y="284560"/>
                </a:lnTo>
                <a:lnTo>
                  <a:pt x="0" y="0"/>
                </a:lnTo>
                <a:close/>
              </a:path>
            </a:pathLst>
          </a:custGeom>
          <a:blipFill>
            <a:blip r:embed="rId3">
              <a:extLst>
                <a:ext uri="{96DAC541-7B7A-43D3-8B79-37D633B846F1}">
                  <asvg:svgBlip xmlns:asvg="http://schemas.microsoft.com/office/drawing/2016/SVG/main" r:embed="rId4"/>
                </a:ext>
              </a:extLst>
            </a:blip>
            <a:stretch>
              <a:fillRect l="-1666" t="0" r="-1666" b="0"/>
            </a:stretch>
          </a:blipFill>
        </p:spPr>
      </p:sp>
      <p:grpSp>
        <p:nvGrpSpPr>
          <p:cNvPr name="Group 11" id="11"/>
          <p:cNvGrpSpPr/>
          <p:nvPr/>
        </p:nvGrpSpPr>
        <p:grpSpPr>
          <a:xfrm rot="0">
            <a:off x="9233592" y="2661199"/>
            <a:ext cx="8062170" cy="2294182"/>
            <a:chOff x="0" y="0"/>
            <a:chExt cx="10749559" cy="3058909"/>
          </a:xfrm>
        </p:grpSpPr>
        <p:sp>
          <p:nvSpPr>
            <p:cNvPr name="Freeform 12" id="12"/>
            <p:cNvSpPr/>
            <p:nvPr/>
          </p:nvSpPr>
          <p:spPr>
            <a:xfrm flipH="false" flipV="false" rot="0">
              <a:off x="0" y="0"/>
              <a:ext cx="10749534" cy="3058922"/>
            </a:xfrm>
            <a:custGeom>
              <a:avLst/>
              <a:gdLst/>
              <a:ahLst/>
              <a:cxnLst/>
              <a:rect r="r" b="b" t="t" l="l"/>
              <a:pathLst>
                <a:path h="3058922" w="10749534">
                  <a:moveTo>
                    <a:pt x="0" y="42164"/>
                  </a:moveTo>
                  <a:cubicBezTo>
                    <a:pt x="0" y="18923"/>
                    <a:pt x="18923" y="0"/>
                    <a:pt x="42164" y="0"/>
                  </a:cubicBezTo>
                  <a:lnTo>
                    <a:pt x="10707370" y="0"/>
                  </a:lnTo>
                  <a:cubicBezTo>
                    <a:pt x="10730611" y="0"/>
                    <a:pt x="10749534" y="18923"/>
                    <a:pt x="10749534" y="42164"/>
                  </a:cubicBezTo>
                  <a:lnTo>
                    <a:pt x="10749534" y="3016758"/>
                  </a:lnTo>
                  <a:cubicBezTo>
                    <a:pt x="10749534" y="3039999"/>
                    <a:pt x="10730611" y="3058922"/>
                    <a:pt x="10707370" y="3058922"/>
                  </a:cubicBezTo>
                  <a:lnTo>
                    <a:pt x="42164" y="3058922"/>
                  </a:lnTo>
                  <a:cubicBezTo>
                    <a:pt x="18923" y="3058922"/>
                    <a:pt x="0" y="3039999"/>
                    <a:pt x="0" y="3016758"/>
                  </a:cubicBezTo>
                  <a:close/>
                </a:path>
              </a:pathLst>
            </a:custGeom>
            <a:solidFill>
              <a:srgbClr val="F9F7F7"/>
            </a:solidFill>
          </p:spPr>
        </p:sp>
      </p:grpSp>
      <p:grpSp>
        <p:nvGrpSpPr>
          <p:cNvPr name="Group 13" id="13"/>
          <p:cNvGrpSpPr/>
          <p:nvPr/>
        </p:nvGrpSpPr>
        <p:grpSpPr>
          <a:xfrm rot="0">
            <a:off x="9444333" y="2871940"/>
            <a:ext cx="632517" cy="632517"/>
            <a:chOff x="0" y="0"/>
            <a:chExt cx="843356" cy="843356"/>
          </a:xfrm>
        </p:grpSpPr>
        <p:sp>
          <p:nvSpPr>
            <p:cNvPr name="Freeform 14" id="14"/>
            <p:cNvSpPr/>
            <p:nvPr/>
          </p:nvSpPr>
          <p:spPr>
            <a:xfrm flipH="false" flipV="false" rot="0">
              <a:off x="0" y="0"/>
              <a:ext cx="843280" cy="843280"/>
            </a:xfrm>
            <a:custGeom>
              <a:avLst/>
              <a:gdLst/>
              <a:ahLst/>
              <a:cxnLst/>
              <a:rect r="r" b="b" t="t" l="l"/>
              <a:pathLst>
                <a:path h="843280" w="843280">
                  <a:moveTo>
                    <a:pt x="0" y="421640"/>
                  </a:moveTo>
                  <a:cubicBezTo>
                    <a:pt x="0" y="188849"/>
                    <a:pt x="188849" y="0"/>
                    <a:pt x="421640" y="0"/>
                  </a:cubicBezTo>
                  <a:cubicBezTo>
                    <a:pt x="654431" y="0"/>
                    <a:pt x="843280" y="188849"/>
                    <a:pt x="843280" y="421640"/>
                  </a:cubicBezTo>
                  <a:cubicBezTo>
                    <a:pt x="843280" y="654431"/>
                    <a:pt x="654431" y="843280"/>
                    <a:pt x="421640" y="843280"/>
                  </a:cubicBezTo>
                  <a:cubicBezTo>
                    <a:pt x="188849" y="843280"/>
                    <a:pt x="0" y="654558"/>
                    <a:pt x="0" y="421640"/>
                  </a:cubicBezTo>
                  <a:close/>
                </a:path>
              </a:pathLst>
            </a:custGeom>
            <a:solidFill>
              <a:srgbClr val="3E2513"/>
            </a:solidFill>
          </p:spPr>
        </p:sp>
      </p:grpSp>
      <p:sp>
        <p:nvSpPr>
          <p:cNvPr name="Freeform 15" id="15" descr="preencoded.png"/>
          <p:cNvSpPr/>
          <p:nvPr/>
        </p:nvSpPr>
        <p:spPr>
          <a:xfrm flipH="false" flipV="false" rot="0">
            <a:off x="9618316" y="3045771"/>
            <a:ext cx="284559" cy="284559"/>
          </a:xfrm>
          <a:custGeom>
            <a:avLst/>
            <a:gdLst/>
            <a:ahLst/>
            <a:cxnLst/>
            <a:rect r="r" b="b" t="t" l="l"/>
            <a:pathLst>
              <a:path h="284559" w="284559">
                <a:moveTo>
                  <a:pt x="0" y="0"/>
                </a:moveTo>
                <a:lnTo>
                  <a:pt x="284560" y="0"/>
                </a:lnTo>
                <a:lnTo>
                  <a:pt x="284560" y="284560"/>
                </a:lnTo>
                <a:lnTo>
                  <a:pt x="0" y="284560"/>
                </a:lnTo>
                <a:lnTo>
                  <a:pt x="0" y="0"/>
                </a:lnTo>
                <a:close/>
              </a:path>
            </a:pathLst>
          </a:custGeom>
          <a:blipFill>
            <a:blip r:embed="rId5">
              <a:extLst>
                <a:ext uri="{96DAC541-7B7A-43D3-8B79-37D633B846F1}">
                  <asvg:svgBlip xmlns:asvg="http://schemas.microsoft.com/office/drawing/2016/SVG/main" r:embed="rId6"/>
                </a:ext>
              </a:extLst>
            </a:blip>
            <a:stretch>
              <a:fillRect l="0" t="-18333" r="0" b="-18333"/>
            </a:stretch>
          </a:blipFill>
        </p:spPr>
      </p:sp>
      <p:grpSp>
        <p:nvGrpSpPr>
          <p:cNvPr name="Group 16" id="16"/>
          <p:cNvGrpSpPr/>
          <p:nvPr/>
        </p:nvGrpSpPr>
        <p:grpSpPr>
          <a:xfrm rot="0">
            <a:off x="992238" y="5888241"/>
            <a:ext cx="421634" cy="263576"/>
            <a:chOff x="0" y="0"/>
            <a:chExt cx="562178" cy="351434"/>
          </a:xfrm>
        </p:grpSpPr>
        <p:sp>
          <p:nvSpPr>
            <p:cNvPr name="Freeform 17" id="17"/>
            <p:cNvSpPr/>
            <p:nvPr/>
          </p:nvSpPr>
          <p:spPr>
            <a:xfrm flipH="false" flipV="false" rot="0">
              <a:off x="0" y="0"/>
              <a:ext cx="562173" cy="351433"/>
            </a:xfrm>
            <a:custGeom>
              <a:avLst/>
              <a:gdLst/>
              <a:ahLst/>
              <a:cxnLst/>
              <a:rect r="r" b="b" t="t" l="l"/>
              <a:pathLst>
                <a:path h="351433" w="562173">
                  <a:moveTo>
                    <a:pt x="0" y="0"/>
                  </a:moveTo>
                  <a:lnTo>
                    <a:pt x="562173" y="0"/>
                  </a:lnTo>
                  <a:lnTo>
                    <a:pt x="562173" y="351433"/>
                  </a:lnTo>
                  <a:lnTo>
                    <a:pt x="0" y="351433"/>
                  </a:lnTo>
                  <a:close/>
                </a:path>
              </a:pathLst>
            </a:custGeom>
            <a:blipFill>
              <a:blip r:embed="rId7">
                <a:alphaModFix amt="0"/>
              </a:blip>
              <a:stretch>
                <a:fillRect l="-30206" t="0" r="-30207" b="0"/>
              </a:stretch>
            </a:blipFill>
          </p:spPr>
        </p:sp>
        <p:sp>
          <p:nvSpPr>
            <p:cNvPr name="TextBox 18" id="18"/>
            <p:cNvSpPr txBox="true"/>
            <p:nvPr/>
          </p:nvSpPr>
          <p:spPr>
            <a:xfrm>
              <a:off x="0" y="-66675"/>
              <a:ext cx="562178" cy="418109"/>
            </a:xfrm>
            <a:prstGeom prst="rect">
              <a:avLst/>
            </a:prstGeom>
          </p:spPr>
          <p:txBody>
            <a:bodyPr anchor="ctr" rtlCol="false" tIns="0" lIns="0" bIns="0" rIns="0"/>
            <a:lstStyle/>
            <a:p>
              <a:pPr algn="l">
                <a:lnSpc>
                  <a:spcPts val="2437"/>
                </a:lnSpc>
              </a:pPr>
              <a:r>
                <a:rPr lang="en-US" sz="1625">
                  <a:solidFill>
                    <a:srgbClr val="504C49"/>
                  </a:solidFill>
                  <a:latin typeface="Arimo"/>
                  <a:ea typeface="Arimo"/>
                  <a:cs typeface="Arimo"/>
                  <a:sym typeface="Arimo"/>
                </a:rPr>
                <a:t>01</a:t>
              </a:r>
            </a:p>
          </p:txBody>
        </p:sp>
      </p:grpSp>
      <p:grpSp>
        <p:nvGrpSpPr>
          <p:cNvPr name="Group 19" id="19"/>
          <p:cNvGrpSpPr/>
          <p:nvPr/>
        </p:nvGrpSpPr>
        <p:grpSpPr>
          <a:xfrm rot="0">
            <a:off x="992238" y="6218034"/>
            <a:ext cx="8062170" cy="28575"/>
            <a:chOff x="0" y="0"/>
            <a:chExt cx="10749559" cy="38100"/>
          </a:xfrm>
        </p:grpSpPr>
        <p:sp>
          <p:nvSpPr>
            <p:cNvPr name="Freeform 20" id="20"/>
            <p:cNvSpPr/>
            <p:nvPr/>
          </p:nvSpPr>
          <p:spPr>
            <a:xfrm flipH="false" flipV="false" rot="0">
              <a:off x="0" y="0"/>
              <a:ext cx="10749534" cy="38100"/>
            </a:xfrm>
            <a:custGeom>
              <a:avLst/>
              <a:gdLst/>
              <a:ahLst/>
              <a:cxnLst/>
              <a:rect r="r" b="b" t="t" l="l"/>
              <a:pathLst>
                <a:path h="38100" w="10749534">
                  <a:moveTo>
                    <a:pt x="0" y="0"/>
                  </a:moveTo>
                  <a:lnTo>
                    <a:pt x="10749534" y="0"/>
                  </a:lnTo>
                  <a:lnTo>
                    <a:pt x="10749534" y="38100"/>
                  </a:lnTo>
                  <a:lnTo>
                    <a:pt x="0" y="38100"/>
                  </a:lnTo>
                  <a:close/>
                </a:path>
              </a:pathLst>
            </a:custGeom>
            <a:solidFill>
              <a:srgbClr val="3E2513"/>
            </a:solidFill>
          </p:spPr>
        </p:sp>
      </p:grpSp>
      <p:grpSp>
        <p:nvGrpSpPr>
          <p:cNvPr name="Group 21" id="21"/>
          <p:cNvGrpSpPr/>
          <p:nvPr/>
        </p:nvGrpSpPr>
        <p:grpSpPr>
          <a:xfrm rot="0">
            <a:off x="9233592" y="5888241"/>
            <a:ext cx="421634" cy="263576"/>
            <a:chOff x="0" y="0"/>
            <a:chExt cx="562178" cy="351434"/>
          </a:xfrm>
        </p:grpSpPr>
        <p:sp>
          <p:nvSpPr>
            <p:cNvPr name="Freeform 22" id="22"/>
            <p:cNvSpPr/>
            <p:nvPr/>
          </p:nvSpPr>
          <p:spPr>
            <a:xfrm flipH="false" flipV="false" rot="0">
              <a:off x="0" y="0"/>
              <a:ext cx="562173" cy="351433"/>
            </a:xfrm>
            <a:custGeom>
              <a:avLst/>
              <a:gdLst/>
              <a:ahLst/>
              <a:cxnLst/>
              <a:rect r="r" b="b" t="t" l="l"/>
              <a:pathLst>
                <a:path h="351433" w="562173">
                  <a:moveTo>
                    <a:pt x="0" y="0"/>
                  </a:moveTo>
                  <a:lnTo>
                    <a:pt x="562173" y="0"/>
                  </a:lnTo>
                  <a:lnTo>
                    <a:pt x="562173" y="351433"/>
                  </a:lnTo>
                  <a:lnTo>
                    <a:pt x="0" y="351433"/>
                  </a:lnTo>
                  <a:close/>
                </a:path>
              </a:pathLst>
            </a:custGeom>
            <a:blipFill>
              <a:blip r:embed="rId7">
                <a:alphaModFix amt="0"/>
              </a:blip>
              <a:stretch>
                <a:fillRect l="-30206" t="0" r="-30207" b="0"/>
              </a:stretch>
            </a:blipFill>
          </p:spPr>
        </p:sp>
        <p:sp>
          <p:nvSpPr>
            <p:cNvPr name="TextBox 23" id="23"/>
            <p:cNvSpPr txBox="true"/>
            <p:nvPr/>
          </p:nvSpPr>
          <p:spPr>
            <a:xfrm>
              <a:off x="0" y="-66675"/>
              <a:ext cx="562178" cy="418109"/>
            </a:xfrm>
            <a:prstGeom prst="rect">
              <a:avLst/>
            </a:prstGeom>
          </p:spPr>
          <p:txBody>
            <a:bodyPr anchor="ctr" rtlCol="false" tIns="0" lIns="0" bIns="0" rIns="0"/>
            <a:lstStyle/>
            <a:p>
              <a:pPr algn="l">
                <a:lnSpc>
                  <a:spcPts val="2437"/>
                </a:lnSpc>
              </a:pPr>
              <a:r>
                <a:rPr lang="en-US" sz="1625">
                  <a:solidFill>
                    <a:srgbClr val="504C49"/>
                  </a:solidFill>
                  <a:latin typeface="Arimo"/>
                  <a:ea typeface="Arimo"/>
                  <a:cs typeface="Arimo"/>
                  <a:sym typeface="Arimo"/>
                </a:rPr>
                <a:t>02</a:t>
              </a:r>
            </a:p>
          </p:txBody>
        </p:sp>
      </p:grpSp>
      <p:grpSp>
        <p:nvGrpSpPr>
          <p:cNvPr name="Group 24" id="24"/>
          <p:cNvGrpSpPr/>
          <p:nvPr/>
        </p:nvGrpSpPr>
        <p:grpSpPr>
          <a:xfrm rot="0">
            <a:off x="9233592" y="6218034"/>
            <a:ext cx="8062170" cy="28575"/>
            <a:chOff x="0" y="0"/>
            <a:chExt cx="10749559" cy="38100"/>
          </a:xfrm>
        </p:grpSpPr>
        <p:sp>
          <p:nvSpPr>
            <p:cNvPr name="Freeform 25" id="25"/>
            <p:cNvSpPr/>
            <p:nvPr/>
          </p:nvSpPr>
          <p:spPr>
            <a:xfrm flipH="false" flipV="false" rot="0">
              <a:off x="0" y="0"/>
              <a:ext cx="10749534" cy="38100"/>
            </a:xfrm>
            <a:custGeom>
              <a:avLst/>
              <a:gdLst/>
              <a:ahLst/>
              <a:cxnLst/>
              <a:rect r="r" b="b" t="t" l="l"/>
              <a:pathLst>
                <a:path h="38100" w="10749534">
                  <a:moveTo>
                    <a:pt x="0" y="0"/>
                  </a:moveTo>
                  <a:lnTo>
                    <a:pt x="10749534" y="0"/>
                  </a:lnTo>
                  <a:lnTo>
                    <a:pt x="10749534" y="38100"/>
                  </a:lnTo>
                  <a:lnTo>
                    <a:pt x="0" y="38100"/>
                  </a:lnTo>
                  <a:close/>
                </a:path>
              </a:pathLst>
            </a:custGeom>
            <a:solidFill>
              <a:srgbClr val="3E2513"/>
            </a:solidFill>
          </p:spPr>
        </p:sp>
      </p:grpSp>
      <p:grpSp>
        <p:nvGrpSpPr>
          <p:cNvPr name="Group 26" id="26"/>
          <p:cNvGrpSpPr/>
          <p:nvPr/>
        </p:nvGrpSpPr>
        <p:grpSpPr>
          <a:xfrm rot="0">
            <a:off x="1028700" y="8894382"/>
            <a:ext cx="5093367" cy="1129834"/>
            <a:chOff x="0" y="0"/>
            <a:chExt cx="16448566" cy="3648696"/>
          </a:xfrm>
        </p:grpSpPr>
        <p:sp>
          <p:nvSpPr>
            <p:cNvPr name="Freeform 27" id="27"/>
            <p:cNvSpPr/>
            <p:nvPr/>
          </p:nvSpPr>
          <p:spPr>
            <a:xfrm flipH="false" flipV="false" rot="0">
              <a:off x="0" y="0"/>
              <a:ext cx="16448526" cy="3648708"/>
            </a:xfrm>
            <a:custGeom>
              <a:avLst/>
              <a:gdLst/>
              <a:ahLst/>
              <a:cxnLst/>
              <a:rect r="r" b="b" t="t" l="l"/>
              <a:pathLst>
                <a:path h="3648708" w="16448526">
                  <a:moveTo>
                    <a:pt x="0" y="50294"/>
                  </a:moveTo>
                  <a:cubicBezTo>
                    <a:pt x="0" y="22572"/>
                    <a:pt x="28955" y="0"/>
                    <a:pt x="64518" y="0"/>
                  </a:cubicBezTo>
                  <a:lnTo>
                    <a:pt x="16384009" y="0"/>
                  </a:lnTo>
                  <a:cubicBezTo>
                    <a:pt x="16419571" y="0"/>
                    <a:pt x="16448526" y="22572"/>
                    <a:pt x="16448526" y="50294"/>
                  </a:cubicBezTo>
                  <a:lnTo>
                    <a:pt x="16448526" y="3598417"/>
                  </a:lnTo>
                  <a:cubicBezTo>
                    <a:pt x="16448526" y="3626139"/>
                    <a:pt x="16419571" y="3648708"/>
                    <a:pt x="16384009" y="3648708"/>
                  </a:cubicBezTo>
                  <a:lnTo>
                    <a:pt x="64518" y="3648708"/>
                  </a:lnTo>
                  <a:cubicBezTo>
                    <a:pt x="28955" y="3648708"/>
                    <a:pt x="0" y="3626139"/>
                    <a:pt x="0" y="3598417"/>
                  </a:cubicBezTo>
                  <a:close/>
                </a:path>
              </a:pathLst>
            </a:custGeom>
            <a:solidFill>
              <a:srgbClr val="D8D4D4"/>
            </a:solidFill>
          </p:spPr>
        </p:sp>
      </p:grpSp>
      <p:grpSp>
        <p:nvGrpSpPr>
          <p:cNvPr name="Group 28" id="28"/>
          <p:cNvGrpSpPr/>
          <p:nvPr/>
        </p:nvGrpSpPr>
        <p:grpSpPr>
          <a:xfrm rot="0">
            <a:off x="6577305" y="8894382"/>
            <a:ext cx="5695955" cy="1129834"/>
            <a:chOff x="0" y="0"/>
            <a:chExt cx="18394568" cy="3648696"/>
          </a:xfrm>
        </p:grpSpPr>
        <p:sp>
          <p:nvSpPr>
            <p:cNvPr name="Freeform 29" id="29"/>
            <p:cNvSpPr/>
            <p:nvPr/>
          </p:nvSpPr>
          <p:spPr>
            <a:xfrm flipH="false" flipV="false" rot="0">
              <a:off x="0" y="0"/>
              <a:ext cx="18394524" cy="3648708"/>
            </a:xfrm>
            <a:custGeom>
              <a:avLst/>
              <a:gdLst/>
              <a:ahLst/>
              <a:cxnLst/>
              <a:rect r="r" b="b" t="t" l="l"/>
              <a:pathLst>
                <a:path h="3648708" w="18394524">
                  <a:moveTo>
                    <a:pt x="0" y="50294"/>
                  </a:moveTo>
                  <a:cubicBezTo>
                    <a:pt x="0" y="22572"/>
                    <a:pt x="32381" y="0"/>
                    <a:pt x="72151" y="0"/>
                  </a:cubicBezTo>
                  <a:lnTo>
                    <a:pt x="18322373" y="0"/>
                  </a:lnTo>
                  <a:cubicBezTo>
                    <a:pt x="18362143" y="0"/>
                    <a:pt x="18394524" y="22572"/>
                    <a:pt x="18394524" y="50294"/>
                  </a:cubicBezTo>
                  <a:lnTo>
                    <a:pt x="18394524" y="3598417"/>
                  </a:lnTo>
                  <a:cubicBezTo>
                    <a:pt x="18394524" y="3626139"/>
                    <a:pt x="18362143" y="3648708"/>
                    <a:pt x="18322373" y="3648708"/>
                  </a:cubicBezTo>
                  <a:lnTo>
                    <a:pt x="72151" y="3648708"/>
                  </a:lnTo>
                  <a:cubicBezTo>
                    <a:pt x="32381" y="3648708"/>
                    <a:pt x="0" y="3626139"/>
                    <a:pt x="0" y="3598417"/>
                  </a:cubicBezTo>
                  <a:close/>
                </a:path>
              </a:pathLst>
            </a:custGeom>
            <a:solidFill>
              <a:srgbClr val="D8D4D4"/>
            </a:solidFill>
          </p:spPr>
        </p:sp>
      </p:grpSp>
      <p:grpSp>
        <p:nvGrpSpPr>
          <p:cNvPr name="Group 30" id="30"/>
          <p:cNvGrpSpPr/>
          <p:nvPr/>
        </p:nvGrpSpPr>
        <p:grpSpPr>
          <a:xfrm rot="0">
            <a:off x="12750853" y="8941650"/>
            <a:ext cx="4749031" cy="1082566"/>
            <a:chOff x="0" y="0"/>
            <a:chExt cx="15336565" cy="3496048"/>
          </a:xfrm>
        </p:grpSpPr>
        <p:sp>
          <p:nvSpPr>
            <p:cNvPr name="Freeform 31" id="31"/>
            <p:cNvSpPr/>
            <p:nvPr/>
          </p:nvSpPr>
          <p:spPr>
            <a:xfrm flipH="false" flipV="false" rot="0">
              <a:off x="0" y="0"/>
              <a:ext cx="15336527" cy="3496060"/>
            </a:xfrm>
            <a:custGeom>
              <a:avLst/>
              <a:gdLst/>
              <a:ahLst/>
              <a:cxnLst/>
              <a:rect r="r" b="b" t="t" l="l"/>
              <a:pathLst>
                <a:path h="3496060" w="15336527">
                  <a:moveTo>
                    <a:pt x="0" y="48190"/>
                  </a:moveTo>
                  <a:cubicBezTo>
                    <a:pt x="0" y="21627"/>
                    <a:pt x="26998" y="0"/>
                    <a:pt x="60156" y="0"/>
                  </a:cubicBezTo>
                  <a:lnTo>
                    <a:pt x="15276371" y="0"/>
                  </a:lnTo>
                  <a:cubicBezTo>
                    <a:pt x="15309531" y="0"/>
                    <a:pt x="15336527" y="21627"/>
                    <a:pt x="15336527" y="48190"/>
                  </a:cubicBezTo>
                  <a:lnTo>
                    <a:pt x="15336527" y="3447872"/>
                  </a:lnTo>
                  <a:cubicBezTo>
                    <a:pt x="15336527" y="3474435"/>
                    <a:pt x="15309531" y="3496060"/>
                    <a:pt x="15276371" y="3496060"/>
                  </a:cubicBezTo>
                  <a:lnTo>
                    <a:pt x="60156" y="3496060"/>
                  </a:lnTo>
                  <a:cubicBezTo>
                    <a:pt x="26998" y="3496060"/>
                    <a:pt x="0" y="3474435"/>
                    <a:pt x="0" y="3447872"/>
                  </a:cubicBezTo>
                  <a:close/>
                </a:path>
              </a:pathLst>
            </a:custGeom>
            <a:solidFill>
              <a:srgbClr val="D8D4D4"/>
            </a:solidFill>
          </p:spPr>
        </p:sp>
      </p:grpSp>
      <p:sp>
        <p:nvSpPr>
          <p:cNvPr name="Freeform 32" id="32"/>
          <p:cNvSpPr/>
          <p:nvPr/>
        </p:nvSpPr>
        <p:spPr>
          <a:xfrm flipH="false" flipV="false" rot="0">
            <a:off x="5913968" y="9366245"/>
            <a:ext cx="672862" cy="186108"/>
          </a:xfrm>
          <a:custGeom>
            <a:avLst/>
            <a:gdLst/>
            <a:ahLst/>
            <a:cxnLst/>
            <a:rect r="r" b="b" t="t" l="l"/>
            <a:pathLst>
              <a:path h="186108" w="672862">
                <a:moveTo>
                  <a:pt x="0" y="0"/>
                </a:moveTo>
                <a:lnTo>
                  <a:pt x="672862" y="0"/>
                </a:lnTo>
                <a:lnTo>
                  <a:pt x="672862" y="186108"/>
                </a:lnTo>
                <a:lnTo>
                  <a:pt x="0" y="186108"/>
                </a:lnTo>
                <a:lnTo>
                  <a:pt x="0" y="0"/>
                </a:lnTo>
                <a:close/>
              </a:path>
            </a:pathLst>
          </a:custGeom>
          <a:blipFill>
            <a:blip r:embed="rId8">
              <a:extLst>
                <a:ext uri="{96DAC541-7B7A-43D3-8B79-37D633B846F1}">
                  <asvg:svgBlip xmlns:asvg="http://schemas.microsoft.com/office/drawing/2016/SVG/main" r:embed="rId9"/>
                </a:ext>
              </a:extLst>
            </a:blip>
            <a:stretch>
              <a:fillRect l="-176590" t="0" r="0" b="0"/>
            </a:stretch>
          </a:blipFill>
        </p:spPr>
      </p:sp>
      <p:sp>
        <p:nvSpPr>
          <p:cNvPr name="TextBox 33" id="33"/>
          <p:cNvSpPr txBox="true"/>
          <p:nvPr/>
        </p:nvSpPr>
        <p:spPr>
          <a:xfrm rot="0">
            <a:off x="992238" y="770630"/>
            <a:ext cx="4154210" cy="774344"/>
          </a:xfrm>
          <a:prstGeom prst="rect">
            <a:avLst/>
          </a:prstGeom>
        </p:spPr>
        <p:txBody>
          <a:bodyPr anchor="t" rtlCol="false" tIns="0" lIns="0" bIns="0" rIns="0">
            <a:spAutoFit/>
          </a:bodyPr>
          <a:lstStyle/>
          <a:p>
            <a:pPr algn="l">
              <a:lnSpc>
                <a:spcPts val="6067"/>
              </a:lnSpc>
            </a:pPr>
            <a:r>
              <a:rPr lang="en-US" sz="4824">
                <a:solidFill>
                  <a:srgbClr val="201B18"/>
                </a:solidFill>
                <a:latin typeface="Arimo"/>
                <a:ea typeface="Arimo"/>
                <a:cs typeface="Arimo"/>
                <a:sym typeface="Arimo"/>
              </a:rPr>
              <a:t>What is JPEG?</a:t>
            </a:r>
          </a:p>
        </p:txBody>
      </p:sp>
      <p:sp>
        <p:nvSpPr>
          <p:cNvPr name="TextBox 34" id="34"/>
          <p:cNvSpPr txBox="true"/>
          <p:nvPr/>
        </p:nvSpPr>
        <p:spPr>
          <a:xfrm rot="0">
            <a:off x="992238" y="1768821"/>
            <a:ext cx="16303523" cy="751523"/>
          </a:xfrm>
          <a:prstGeom prst="rect">
            <a:avLst/>
          </a:prstGeom>
        </p:spPr>
        <p:txBody>
          <a:bodyPr anchor="t" rtlCol="false" tIns="0" lIns="0" bIns="0" rIns="0">
            <a:spAutoFit/>
          </a:bodyPr>
          <a:lstStyle/>
          <a:p>
            <a:pPr algn="l">
              <a:lnSpc>
                <a:spcPts val="3037"/>
              </a:lnSpc>
            </a:pPr>
            <a:r>
              <a:rPr lang="en-US" sz="2024">
                <a:solidFill>
                  <a:srgbClr val="504C49"/>
                </a:solidFill>
                <a:latin typeface="Source Serif Pro"/>
                <a:ea typeface="Source Serif Pro"/>
                <a:cs typeface="Source Serif Pro"/>
                <a:sym typeface="Source Serif Pro"/>
              </a:rPr>
              <a:t>JPEG is fundamentally a compression </a:t>
            </a:r>
            <a:r>
              <a:rPr lang="en-US" sz="2024" b="true">
                <a:solidFill>
                  <a:srgbClr val="3E2513"/>
                </a:solidFill>
                <a:latin typeface="Source Serif Pro Bold"/>
                <a:ea typeface="Source Serif Pro Bold"/>
                <a:cs typeface="Source Serif Pro Bold"/>
                <a:sym typeface="Source Serif Pro Bold"/>
              </a:rPr>
              <a:t>algorithm</a:t>
            </a:r>
            <a:r>
              <a:rPr lang="en-US" sz="2024">
                <a:solidFill>
                  <a:srgbClr val="504C49"/>
                </a:solidFill>
                <a:latin typeface="Source Serif Pro"/>
                <a:ea typeface="Source Serif Pro"/>
                <a:cs typeface="Source Serif Pro"/>
                <a:sym typeface="Source Serif Pro"/>
              </a:rPr>
              <a:t>, not a file format itself. The actual file formats such as JFIF and EXIF are merely wrappers that encapsulate the compressed data.</a:t>
            </a:r>
          </a:p>
        </p:txBody>
      </p:sp>
      <p:sp>
        <p:nvSpPr>
          <p:cNvPr name="TextBox 35" id="35"/>
          <p:cNvSpPr txBox="true"/>
          <p:nvPr/>
        </p:nvSpPr>
        <p:spPr>
          <a:xfrm rot="0">
            <a:off x="1202979" y="3655066"/>
            <a:ext cx="2522696" cy="368810"/>
          </a:xfrm>
          <a:prstGeom prst="rect">
            <a:avLst/>
          </a:prstGeom>
        </p:spPr>
        <p:txBody>
          <a:bodyPr anchor="t" rtlCol="false" tIns="0" lIns="0" bIns="0" rIns="0">
            <a:spAutoFit/>
          </a:bodyPr>
          <a:lstStyle/>
          <a:p>
            <a:pPr algn="l">
              <a:lnSpc>
                <a:spcPts val="2810"/>
              </a:lnSpc>
            </a:pPr>
            <a:r>
              <a:rPr lang="en-US" sz="2262">
                <a:solidFill>
                  <a:srgbClr val="504C49"/>
                </a:solidFill>
                <a:latin typeface="Arimo"/>
                <a:ea typeface="Arimo"/>
                <a:cs typeface="Arimo"/>
                <a:sym typeface="Arimo"/>
              </a:rPr>
              <a:t>Lossy Compression</a:t>
            </a:r>
          </a:p>
        </p:txBody>
      </p:sp>
      <p:sp>
        <p:nvSpPr>
          <p:cNvPr name="TextBox 36" id="36"/>
          <p:cNvSpPr txBox="true"/>
          <p:nvPr/>
        </p:nvSpPr>
        <p:spPr>
          <a:xfrm rot="0">
            <a:off x="1202979" y="4053783"/>
            <a:ext cx="7640688" cy="751523"/>
          </a:xfrm>
          <a:prstGeom prst="rect">
            <a:avLst/>
          </a:prstGeom>
        </p:spPr>
        <p:txBody>
          <a:bodyPr anchor="t" rtlCol="false" tIns="0" lIns="0" bIns="0" rIns="0">
            <a:spAutoFit/>
          </a:bodyPr>
          <a:lstStyle/>
          <a:p>
            <a:pPr algn="l">
              <a:lnSpc>
                <a:spcPts val="3037"/>
              </a:lnSpc>
            </a:pPr>
            <a:r>
              <a:rPr lang="en-US" sz="2024">
                <a:solidFill>
                  <a:srgbClr val="504C49"/>
                </a:solidFill>
                <a:latin typeface="Source Serif Pro"/>
                <a:ea typeface="Source Serif Pro"/>
                <a:cs typeface="Source Serif Pro"/>
                <a:sym typeface="Source Serif Pro"/>
              </a:rPr>
              <a:t>Data is intentionally discarded to reduce file size, unlike PNG or BMP which preserve all information</a:t>
            </a:r>
          </a:p>
        </p:txBody>
      </p:sp>
      <p:sp>
        <p:nvSpPr>
          <p:cNvPr name="TextBox 37" id="37"/>
          <p:cNvSpPr txBox="true"/>
          <p:nvPr/>
        </p:nvSpPr>
        <p:spPr>
          <a:xfrm rot="0">
            <a:off x="9444333" y="3655066"/>
            <a:ext cx="3049786" cy="368810"/>
          </a:xfrm>
          <a:prstGeom prst="rect">
            <a:avLst/>
          </a:prstGeom>
        </p:spPr>
        <p:txBody>
          <a:bodyPr anchor="t" rtlCol="false" tIns="0" lIns="0" bIns="0" rIns="0">
            <a:spAutoFit/>
          </a:bodyPr>
          <a:lstStyle/>
          <a:p>
            <a:pPr algn="l">
              <a:lnSpc>
                <a:spcPts val="2810"/>
              </a:lnSpc>
            </a:pPr>
            <a:r>
              <a:rPr lang="en-US" sz="2262">
                <a:solidFill>
                  <a:srgbClr val="504C49"/>
                </a:solidFill>
                <a:latin typeface="Arimo"/>
                <a:ea typeface="Arimo"/>
                <a:cs typeface="Arimo"/>
                <a:sym typeface="Arimo"/>
              </a:rPr>
              <a:t>Perceptual Optimization</a:t>
            </a:r>
          </a:p>
        </p:txBody>
      </p:sp>
      <p:sp>
        <p:nvSpPr>
          <p:cNvPr name="TextBox 38" id="38"/>
          <p:cNvSpPr txBox="true"/>
          <p:nvPr/>
        </p:nvSpPr>
        <p:spPr>
          <a:xfrm rot="0">
            <a:off x="9444333" y="4053783"/>
            <a:ext cx="7640688" cy="751523"/>
          </a:xfrm>
          <a:prstGeom prst="rect">
            <a:avLst/>
          </a:prstGeom>
        </p:spPr>
        <p:txBody>
          <a:bodyPr anchor="t" rtlCol="false" tIns="0" lIns="0" bIns="0" rIns="0">
            <a:spAutoFit/>
          </a:bodyPr>
          <a:lstStyle/>
          <a:p>
            <a:pPr algn="l">
              <a:lnSpc>
                <a:spcPts val="3037"/>
              </a:lnSpc>
            </a:pPr>
            <a:r>
              <a:rPr lang="en-US" sz="2024">
                <a:solidFill>
                  <a:srgbClr val="504C49"/>
                </a:solidFill>
                <a:latin typeface="Source Serif Pro"/>
                <a:ea typeface="Source Serif Pro"/>
                <a:cs typeface="Source Serif Pro"/>
                <a:sym typeface="Source Serif Pro"/>
              </a:rPr>
              <a:t>Exploits human visual system limitations to discard imperceptible information</a:t>
            </a:r>
          </a:p>
        </p:txBody>
      </p:sp>
      <p:sp>
        <p:nvSpPr>
          <p:cNvPr name="TextBox 39" id="39"/>
          <p:cNvSpPr txBox="true"/>
          <p:nvPr/>
        </p:nvSpPr>
        <p:spPr>
          <a:xfrm rot="0">
            <a:off x="992238" y="5186067"/>
            <a:ext cx="5402699" cy="492589"/>
          </a:xfrm>
          <a:prstGeom prst="rect">
            <a:avLst/>
          </a:prstGeom>
        </p:spPr>
        <p:txBody>
          <a:bodyPr anchor="t" rtlCol="false" tIns="0" lIns="0" bIns="0" rIns="0">
            <a:spAutoFit/>
          </a:bodyPr>
          <a:lstStyle/>
          <a:p>
            <a:pPr algn="l">
              <a:lnSpc>
                <a:spcPts val="3816"/>
              </a:lnSpc>
            </a:pPr>
            <a:r>
              <a:rPr lang="en-US" sz="3037">
                <a:solidFill>
                  <a:srgbClr val="201B18"/>
                </a:solidFill>
                <a:latin typeface="Arimo"/>
                <a:ea typeface="Arimo"/>
                <a:cs typeface="Arimo"/>
                <a:sym typeface="Arimo"/>
              </a:rPr>
              <a:t>Two Key Perceptual Limitations</a:t>
            </a:r>
          </a:p>
        </p:txBody>
      </p:sp>
      <p:sp>
        <p:nvSpPr>
          <p:cNvPr name="TextBox 40" id="40"/>
          <p:cNvSpPr txBox="true"/>
          <p:nvPr/>
        </p:nvSpPr>
        <p:spPr>
          <a:xfrm rot="0">
            <a:off x="992238" y="6361509"/>
            <a:ext cx="2150745" cy="377796"/>
          </a:xfrm>
          <a:prstGeom prst="rect">
            <a:avLst/>
          </a:prstGeom>
        </p:spPr>
        <p:txBody>
          <a:bodyPr anchor="t" rtlCol="false" tIns="0" lIns="0" bIns="0" rIns="0">
            <a:spAutoFit/>
          </a:bodyPr>
          <a:lstStyle/>
          <a:p>
            <a:pPr algn="l">
              <a:lnSpc>
                <a:spcPts val="2935"/>
              </a:lnSpc>
            </a:pPr>
            <a:r>
              <a:rPr lang="en-US" sz="2362">
                <a:solidFill>
                  <a:srgbClr val="504C49"/>
                </a:solidFill>
                <a:latin typeface="Arimo"/>
                <a:ea typeface="Arimo"/>
                <a:cs typeface="Arimo"/>
                <a:sym typeface="Arimo"/>
              </a:rPr>
              <a:t>Color Sensitivity</a:t>
            </a:r>
          </a:p>
        </p:txBody>
      </p:sp>
      <p:sp>
        <p:nvSpPr>
          <p:cNvPr name="TextBox 41" id="41"/>
          <p:cNvSpPr txBox="true"/>
          <p:nvPr/>
        </p:nvSpPr>
        <p:spPr>
          <a:xfrm rot="0">
            <a:off x="992238" y="6750691"/>
            <a:ext cx="8062170" cy="751523"/>
          </a:xfrm>
          <a:prstGeom prst="rect">
            <a:avLst/>
          </a:prstGeom>
        </p:spPr>
        <p:txBody>
          <a:bodyPr anchor="t" rtlCol="false" tIns="0" lIns="0" bIns="0" rIns="0">
            <a:spAutoFit/>
          </a:bodyPr>
          <a:lstStyle/>
          <a:p>
            <a:pPr algn="l">
              <a:lnSpc>
                <a:spcPts val="3037"/>
              </a:lnSpc>
            </a:pPr>
            <a:r>
              <a:rPr lang="en-US" sz="2024">
                <a:solidFill>
                  <a:srgbClr val="504C49"/>
                </a:solidFill>
                <a:latin typeface="Source Serif Pro"/>
                <a:ea typeface="Source Serif Pro"/>
                <a:cs typeface="Source Serif Pro"/>
                <a:sym typeface="Source Serif Pro"/>
              </a:rPr>
              <a:t>Humans are significantly less sensitive to fine color detail than to brightness variations</a:t>
            </a:r>
          </a:p>
        </p:txBody>
      </p:sp>
      <p:sp>
        <p:nvSpPr>
          <p:cNvPr name="TextBox 42" id="42"/>
          <p:cNvSpPr txBox="true"/>
          <p:nvPr/>
        </p:nvSpPr>
        <p:spPr>
          <a:xfrm rot="0">
            <a:off x="9233592" y="6361509"/>
            <a:ext cx="2935010" cy="377796"/>
          </a:xfrm>
          <a:prstGeom prst="rect">
            <a:avLst/>
          </a:prstGeom>
        </p:spPr>
        <p:txBody>
          <a:bodyPr anchor="t" rtlCol="false" tIns="0" lIns="0" bIns="0" rIns="0">
            <a:spAutoFit/>
          </a:bodyPr>
          <a:lstStyle/>
          <a:p>
            <a:pPr algn="l">
              <a:lnSpc>
                <a:spcPts val="2935"/>
              </a:lnSpc>
            </a:pPr>
            <a:r>
              <a:rPr lang="en-US" sz="2362">
                <a:solidFill>
                  <a:srgbClr val="504C49"/>
                </a:solidFill>
                <a:latin typeface="Arimo"/>
                <a:ea typeface="Arimo"/>
                <a:cs typeface="Arimo"/>
                <a:sym typeface="Arimo"/>
              </a:rPr>
              <a:t>Frequency Perception</a:t>
            </a:r>
          </a:p>
        </p:txBody>
      </p:sp>
      <p:sp>
        <p:nvSpPr>
          <p:cNvPr name="TextBox 43" id="43"/>
          <p:cNvSpPr txBox="true"/>
          <p:nvPr/>
        </p:nvSpPr>
        <p:spPr>
          <a:xfrm rot="0">
            <a:off x="9233592" y="6750691"/>
            <a:ext cx="8062170" cy="751523"/>
          </a:xfrm>
          <a:prstGeom prst="rect">
            <a:avLst/>
          </a:prstGeom>
        </p:spPr>
        <p:txBody>
          <a:bodyPr anchor="t" rtlCol="false" tIns="0" lIns="0" bIns="0" rIns="0">
            <a:spAutoFit/>
          </a:bodyPr>
          <a:lstStyle/>
          <a:p>
            <a:pPr algn="l">
              <a:lnSpc>
                <a:spcPts val="3037"/>
              </a:lnSpc>
            </a:pPr>
            <a:r>
              <a:rPr lang="en-US" sz="2024">
                <a:solidFill>
                  <a:srgbClr val="504C49"/>
                </a:solidFill>
                <a:latin typeface="Source Serif Pro"/>
                <a:ea typeface="Source Serif Pro"/>
                <a:cs typeface="Source Serif Pro"/>
                <a:sym typeface="Source Serif Pro"/>
              </a:rPr>
              <a:t>We struggle to perceive high-frequency intensity changes in images. We are physically incapable of noticing minute frequency changes</a:t>
            </a:r>
          </a:p>
        </p:txBody>
      </p:sp>
      <p:sp>
        <p:nvSpPr>
          <p:cNvPr name="TextBox 44" id="44"/>
          <p:cNvSpPr txBox="true"/>
          <p:nvPr/>
        </p:nvSpPr>
        <p:spPr>
          <a:xfrm rot="0">
            <a:off x="992238" y="7830293"/>
            <a:ext cx="3623786" cy="492589"/>
          </a:xfrm>
          <a:prstGeom prst="rect">
            <a:avLst/>
          </a:prstGeom>
        </p:spPr>
        <p:txBody>
          <a:bodyPr anchor="t" rtlCol="false" tIns="0" lIns="0" bIns="0" rIns="0">
            <a:spAutoFit/>
          </a:bodyPr>
          <a:lstStyle/>
          <a:p>
            <a:pPr algn="l">
              <a:lnSpc>
                <a:spcPts val="3816"/>
              </a:lnSpc>
            </a:pPr>
            <a:r>
              <a:rPr lang="en-US" sz="3037">
                <a:solidFill>
                  <a:srgbClr val="201B18"/>
                </a:solidFill>
                <a:latin typeface="Arimo"/>
                <a:ea typeface="Arimo"/>
                <a:cs typeface="Arimo"/>
                <a:sym typeface="Arimo"/>
              </a:rPr>
              <a:t>Three-Stage Pipeline</a:t>
            </a:r>
          </a:p>
        </p:txBody>
      </p:sp>
      <p:sp>
        <p:nvSpPr>
          <p:cNvPr name="TextBox 45" id="45"/>
          <p:cNvSpPr txBox="true"/>
          <p:nvPr/>
        </p:nvSpPr>
        <p:spPr>
          <a:xfrm rot="0">
            <a:off x="992238" y="8341932"/>
            <a:ext cx="16303523" cy="401003"/>
          </a:xfrm>
          <a:prstGeom prst="rect">
            <a:avLst/>
          </a:prstGeom>
        </p:spPr>
        <p:txBody>
          <a:bodyPr anchor="t" rtlCol="false" tIns="0" lIns="0" bIns="0" rIns="0">
            <a:spAutoFit/>
          </a:bodyPr>
          <a:lstStyle/>
          <a:p>
            <a:pPr algn="l">
              <a:lnSpc>
                <a:spcPts val="3337"/>
              </a:lnSpc>
            </a:pPr>
            <a:r>
              <a:rPr lang="en-US" sz="2224">
                <a:solidFill>
                  <a:srgbClr val="504C49"/>
                </a:solidFill>
                <a:latin typeface="Source Serif Pro"/>
                <a:ea typeface="Source Serif Pro"/>
                <a:cs typeface="Source Serif Pro"/>
                <a:sym typeface="Source Serif Pro"/>
              </a:rPr>
              <a:t>The JPEG compression pipeline consists of three main stages that work sequentially:</a:t>
            </a:r>
          </a:p>
        </p:txBody>
      </p:sp>
      <p:sp>
        <p:nvSpPr>
          <p:cNvPr name="TextBox 46" id="46"/>
          <p:cNvSpPr txBox="true"/>
          <p:nvPr/>
        </p:nvSpPr>
        <p:spPr>
          <a:xfrm rot="0">
            <a:off x="1300152" y="8997674"/>
            <a:ext cx="4851047" cy="885151"/>
          </a:xfrm>
          <a:prstGeom prst="rect">
            <a:avLst/>
          </a:prstGeom>
        </p:spPr>
        <p:txBody>
          <a:bodyPr anchor="t" rtlCol="false" tIns="0" lIns="0" bIns="0" rIns="0">
            <a:spAutoFit/>
          </a:bodyPr>
          <a:lstStyle/>
          <a:p>
            <a:pPr algn="l">
              <a:lnSpc>
                <a:spcPts val="2315"/>
              </a:lnSpc>
              <a:spcBef>
                <a:spcPct val="0"/>
              </a:spcBef>
            </a:pPr>
            <a:r>
              <a:rPr lang="en-US" b="true" sz="1862">
                <a:solidFill>
                  <a:srgbClr val="000000"/>
                </a:solidFill>
                <a:latin typeface="Arimo Bold"/>
                <a:ea typeface="Arimo Bold"/>
                <a:cs typeface="Arimo Bold"/>
                <a:sym typeface="Arimo Bold"/>
              </a:rPr>
              <a:t>Color Space Conversion </a:t>
            </a:r>
          </a:p>
          <a:p>
            <a:pPr algn="l">
              <a:lnSpc>
                <a:spcPts val="2315"/>
              </a:lnSpc>
              <a:spcBef>
                <a:spcPct val="0"/>
              </a:spcBef>
            </a:pPr>
            <a:r>
              <a:rPr lang="en-US" sz="1862">
                <a:solidFill>
                  <a:srgbClr val="000000"/>
                </a:solidFill>
                <a:latin typeface="Arimo"/>
                <a:ea typeface="Arimo"/>
                <a:cs typeface="Arimo"/>
                <a:sym typeface="Arimo"/>
              </a:rPr>
              <a:t>transforms RGB to YCbCr, DCT + Quantization</a:t>
            </a:r>
          </a:p>
        </p:txBody>
      </p:sp>
      <p:sp>
        <p:nvSpPr>
          <p:cNvPr name="TextBox 47" id="47"/>
          <p:cNvSpPr txBox="true"/>
          <p:nvPr/>
        </p:nvSpPr>
        <p:spPr>
          <a:xfrm rot="0">
            <a:off x="6751584" y="8997674"/>
            <a:ext cx="5264941" cy="885151"/>
          </a:xfrm>
          <a:prstGeom prst="rect">
            <a:avLst/>
          </a:prstGeom>
        </p:spPr>
        <p:txBody>
          <a:bodyPr anchor="t" rtlCol="false" tIns="0" lIns="0" bIns="0" rIns="0">
            <a:spAutoFit/>
          </a:bodyPr>
          <a:lstStyle/>
          <a:p>
            <a:pPr algn="l">
              <a:lnSpc>
                <a:spcPts val="2315"/>
              </a:lnSpc>
              <a:spcBef>
                <a:spcPct val="0"/>
              </a:spcBef>
            </a:pPr>
            <a:r>
              <a:rPr lang="en-US" b="true" sz="1862">
                <a:solidFill>
                  <a:srgbClr val="000000"/>
                </a:solidFill>
                <a:latin typeface="Arimo Bold"/>
                <a:ea typeface="Arimo Bold"/>
                <a:cs typeface="Arimo Bold"/>
                <a:sym typeface="Arimo Bold"/>
              </a:rPr>
              <a:t>D</a:t>
            </a:r>
            <a:r>
              <a:rPr lang="en-US" b="true" sz="1862">
                <a:solidFill>
                  <a:srgbClr val="000000"/>
                </a:solidFill>
                <a:latin typeface="Arimo Bold"/>
                <a:ea typeface="Arimo Bold"/>
                <a:cs typeface="Arimo Bold"/>
                <a:sym typeface="Arimo Bold"/>
              </a:rPr>
              <a:t>CT + Quantization </a:t>
            </a:r>
          </a:p>
          <a:p>
            <a:pPr algn="l">
              <a:lnSpc>
                <a:spcPts val="2315"/>
              </a:lnSpc>
              <a:spcBef>
                <a:spcPct val="0"/>
              </a:spcBef>
            </a:pPr>
            <a:r>
              <a:rPr lang="en-US" sz="1862">
                <a:solidFill>
                  <a:srgbClr val="000000"/>
                </a:solidFill>
                <a:latin typeface="Arimo"/>
                <a:ea typeface="Arimo"/>
                <a:cs typeface="Arimo"/>
                <a:sym typeface="Arimo"/>
              </a:rPr>
              <a:t>transforms spatial data to frequency domain and discards high-frequency components</a:t>
            </a:r>
          </a:p>
        </p:txBody>
      </p:sp>
      <p:sp>
        <p:nvSpPr>
          <p:cNvPr name="TextBox 48" id="48"/>
          <p:cNvSpPr txBox="true"/>
          <p:nvPr/>
        </p:nvSpPr>
        <p:spPr>
          <a:xfrm rot="0">
            <a:off x="12901910" y="8975345"/>
            <a:ext cx="5083095" cy="932228"/>
          </a:xfrm>
          <a:prstGeom prst="rect">
            <a:avLst/>
          </a:prstGeom>
        </p:spPr>
        <p:txBody>
          <a:bodyPr anchor="t" rtlCol="false" tIns="0" lIns="0" bIns="0" rIns="0">
            <a:spAutoFit/>
          </a:bodyPr>
          <a:lstStyle/>
          <a:p>
            <a:pPr algn="l">
              <a:lnSpc>
                <a:spcPts val="2439"/>
              </a:lnSpc>
              <a:spcBef>
                <a:spcPct val="0"/>
              </a:spcBef>
            </a:pPr>
            <a:r>
              <a:rPr lang="en-US" b="true" sz="1962">
                <a:solidFill>
                  <a:srgbClr val="000000"/>
                </a:solidFill>
                <a:latin typeface="Arimo Bold"/>
                <a:ea typeface="Arimo Bold"/>
                <a:cs typeface="Arimo Bold"/>
                <a:sym typeface="Arimo Bold"/>
              </a:rPr>
              <a:t>Ent</a:t>
            </a:r>
            <a:r>
              <a:rPr lang="en-US" b="true" sz="1962">
                <a:solidFill>
                  <a:srgbClr val="000000"/>
                </a:solidFill>
                <a:latin typeface="Arimo Bold"/>
                <a:ea typeface="Arimo Bold"/>
                <a:cs typeface="Arimo Bold"/>
                <a:sym typeface="Arimo Bold"/>
              </a:rPr>
              <a:t>ropy Encoding </a:t>
            </a:r>
          </a:p>
          <a:p>
            <a:pPr algn="l">
              <a:lnSpc>
                <a:spcPts val="2439"/>
              </a:lnSpc>
              <a:spcBef>
                <a:spcPct val="0"/>
              </a:spcBef>
            </a:pPr>
            <a:r>
              <a:rPr lang="en-US" sz="1962">
                <a:solidFill>
                  <a:srgbClr val="000000"/>
                </a:solidFill>
                <a:latin typeface="Arimo"/>
                <a:ea typeface="Arimo"/>
                <a:cs typeface="Arimo"/>
                <a:sym typeface="Arimo"/>
              </a:rPr>
              <a:t>applies Huffman coding for final lossless compression.</a:t>
            </a:r>
          </a:p>
        </p:txBody>
      </p:sp>
      <p:sp>
        <p:nvSpPr>
          <p:cNvPr name="Freeform 49" id="49"/>
          <p:cNvSpPr/>
          <p:nvPr/>
        </p:nvSpPr>
        <p:spPr>
          <a:xfrm flipH="false" flipV="false" rot="0">
            <a:off x="12068466" y="9389879"/>
            <a:ext cx="672862" cy="186108"/>
          </a:xfrm>
          <a:custGeom>
            <a:avLst/>
            <a:gdLst/>
            <a:ahLst/>
            <a:cxnLst/>
            <a:rect r="r" b="b" t="t" l="l"/>
            <a:pathLst>
              <a:path h="186108" w="672862">
                <a:moveTo>
                  <a:pt x="0" y="0"/>
                </a:moveTo>
                <a:lnTo>
                  <a:pt x="672862" y="0"/>
                </a:lnTo>
                <a:lnTo>
                  <a:pt x="672862" y="186108"/>
                </a:lnTo>
                <a:lnTo>
                  <a:pt x="0" y="186108"/>
                </a:lnTo>
                <a:lnTo>
                  <a:pt x="0" y="0"/>
                </a:lnTo>
                <a:close/>
              </a:path>
            </a:pathLst>
          </a:custGeom>
          <a:blipFill>
            <a:blip r:embed="rId8">
              <a:extLst>
                <a:ext uri="{96DAC541-7B7A-43D3-8B79-37D633B846F1}">
                  <asvg:svgBlip xmlns:asvg="http://schemas.microsoft.com/office/drawing/2016/SVG/main" r:embed="rId9"/>
                </a:ext>
              </a:extLst>
            </a:blip>
            <a:stretch>
              <a:fillRect l="-17659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7835951" y="2917622"/>
            <a:ext cx="9474098" cy="1795015"/>
            <a:chOff x="0" y="0"/>
            <a:chExt cx="12632131" cy="2393353"/>
          </a:xfrm>
        </p:grpSpPr>
        <p:sp>
          <p:nvSpPr>
            <p:cNvPr name="Freeform 7" id="7"/>
            <p:cNvSpPr/>
            <p:nvPr/>
          </p:nvSpPr>
          <p:spPr>
            <a:xfrm flipH="false" flipV="false" rot="0">
              <a:off x="19050" y="19050"/>
              <a:ext cx="12594082" cy="2355215"/>
            </a:xfrm>
            <a:custGeom>
              <a:avLst/>
              <a:gdLst/>
              <a:ahLst/>
              <a:cxnLst/>
              <a:rect r="r" b="b" t="t" l="l"/>
              <a:pathLst>
                <a:path h="2355215" w="12594082">
                  <a:moveTo>
                    <a:pt x="0" y="47117"/>
                  </a:moveTo>
                  <a:cubicBezTo>
                    <a:pt x="0" y="21082"/>
                    <a:pt x="21336" y="0"/>
                    <a:pt x="47752" y="0"/>
                  </a:cubicBezTo>
                  <a:lnTo>
                    <a:pt x="12546330" y="0"/>
                  </a:lnTo>
                  <a:cubicBezTo>
                    <a:pt x="12572747" y="0"/>
                    <a:pt x="12594082" y="21082"/>
                    <a:pt x="12594082" y="47117"/>
                  </a:cubicBezTo>
                  <a:lnTo>
                    <a:pt x="12594082" y="2308098"/>
                  </a:lnTo>
                  <a:cubicBezTo>
                    <a:pt x="12594082" y="2334133"/>
                    <a:pt x="12572747" y="2355215"/>
                    <a:pt x="12546330" y="2355215"/>
                  </a:cubicBezTo>
                  <a:lnTo>
                    <a:pt x="47752" y="2355215"/>
                  </a:lnTo>
                  <a:cubicBezTo>
                    <a:pt x="21336" y="2355215"/>
                    <a:pt x="0" y="2334133"/>
                    <a:pt x="0" y="2308098"/>
                  </a:cubicBezTo>
                  <a:close/>
                </a:path>
              </a:pathLst>
            </a:custGeom>
            <a:solidFill>
              <a:srgbClr val="FFFFFF"/>
            </a:solidFill>
          </p:spPr>
        </p:sp>
        <p:sp>
          <p:nvSpPr>
            <p:cNvPr name="Freeform 8" id="8"/>
            <p:cNvSpPr/>
            <p:nvPr/>
          </p:nvSpPr>
          <p:spPr>
            <a:xfrm flipH="false" flipV="false" rot="0">
              <a:off x="0" y="0"/>
              <a:ext cx="12632182" cy="2393315"/>
            </a:xfrm>
            <a:custGeom>
              <a:avLst/>
              <a:gdLst/>
              <a:ahLst/>
              <a:cxnLst/>
              <a:rect r="r" b="b" t="t" l="l"/>
              <a:pathLst>
                <a:path h="2393315" w="12632182">
                  <a:moveTo>
                    <a:pt x="0" y="66167"/>
                  </a:moveTo>
                  <a:cubicBezTo>
                    <a:pt x="0" y="29337"/>
                    <a:pt x="30099" y="0"/>
                    <a:pt x="66802" y="0"/>
                  </a:cubicBezTo>
                  <a:lnTo>
                    <a:pt x="12565380" y="0"/>
                  </a:lnTo>
                  <a:lnTo>
                    <a:pt x="12565380" y="19050"/>
                  </a:lnTo>
                  <a:lnTo>
                    <a:pt x="12565380" y="0"/>
                  </a:lnTo>
                  <a:cubicBezTo>
                    <a:pt x="12602083" y="0"/>
                    <a:pt x="12632182" y="29337"/>
                    <a:pt x="12632182" y="66167"/>
                  </a:cubicBezTo>
                  <a:lnTo>
                    <a:pt x="12613132" y="66167"/>
                  </a:lnTo>
                  <a:lnTo>
                    <a:pt x="12632182" y="66167"/>
                  </a:lnTo>
                  <a:lnTo>
                    <a:pt x="12632182" y="2327148"/>
                  </a:lnTo>
                  <a:lnTo>
                    <a:pt x="12613132" y="2327148"/>
                  </a:lnTo>
                  <a:lnTo>
                    <a:pt x="12632182" y="2327148"/>
                  </a:lnTo>
                  <a:cubicBezTo>
                    <a:pt x="12632182" y="2363978"/>
                    <a:pt x="12602083" y="2393315"/>
                    <a:pt x="12565380" y="2393315"/>
                  </a:cubicBezTo>
                  <a:lnTo>
                    <a:pt x="12565380" y="2374265"/>
                  </a:lnTo>
                  <a:lnTo>
                    <a:pt x="12565380" y="2393315"/>
                  </a:lnTo>
                  <a:lnTo>
                    <a:pt x="66802" y="2393315"/>
                  </a:lnTo>
                  <a:lnTo>
                    <a:pt x="66802" y="2374265"/>
                  </a:lnTo>
                  <a:lnTo>
                    <a:pt x="66802" y="2393315"/>
                  </a:lnTo>
                  <a:cubicBezTo>
                    <a:pt x="30099" y="2393315"/>
                    <a:pt x="0" y="2363978"/>
                    <a:pt x="0" y="2327148"/>
                  </a:cubicBezTo>
                  <a:lnTo>
                    <a:pt x="0" y="66167"/>
                  </a:lnTo>
                  <a:lnTo>
                    <a:pt x="19050" y="66167"/>
                  </a:lnTo>
                  <a:lnTo>
                    <a:pt x="0" y="66167"/>
                  </a:lnTo>
                  <a:moveTo>
                    <a:pt x="38100" y="66167"/>
                  </a:moveTo>
                  <a:lnTo>
                    <a:pt x="38100" y="2327148"/>
                  </a:lnTo>
                  <a:lnTo>
                    <a:pt x="19050" y="2327148"/>
                  </a:lnTo>
                  <a:lnTo>
                    <a:pt x="38100" y="2327148"/>
                  </a:lnTo>
                  <a:cubicBezTo>
                    <a:pt x="38100" y="2342388"/>
                    <a:pt x="50673" y="2355215"/>
                    <a:pt x="66802" y="2355215"/>
                  </a:cubicBezTo>
                  <a:lnTo>
                    <a:pt x="12565380" y="2355215"/>
                  </a:lnTo>
                  <a:cubicBezTo>
                    <a:pt x="12581510" y="2355215"/>
                    <a:pt x="12594082" y="2342388"/>
                    <a:pt x="12594082" y="2327148"/>
                  </a:cubicBezTo>
                  <a:lnTo>
                    <a:pt x="12594082" y="66167"/>
                  </a:lnTo>
                  <a:cubicBezTo>
                    <a:pt x="12594082" y="50927"/>
                    <a:pt x="12581510" y="38100"/>
                    <a:pt x="12565380" y="38100"/>
                  </a:cubicBezTo>
                  <a:lnTo>
                    <a:pt x="66802" y="38100"/>
                  </a:lnTo>
                  <a:lnTo>
                    <a:pt x="66802" y="19050"/>
                  </a:lnTo>
                  <a:lnTo>
                    <a:pt x="66802" y="38100"/>
                  </a:lnTo>
                  <a:cubicBezTo>
                    <a:pt x="50673" y="38100"/>
                    <a:pt x="38100" y="50927"/>
                    <a:pt x="38100" y="66167"/>
                  </a:cubicBezTo>
                  <a:close/>
                </a:path>
              </a:pathLst>
            </a:custGeom>
            <a:solidFill>
              <a:srgbClr val="D8D4D4"/>
            </a:solidFill>
          </p:spPr>
        </p:sp>
      </p:grpSp>
      <p:grpSp>
        <p:nvGrpSpPr>
          <p:cNvPr name="Group 9" id="9"/>
          <p:cNvGrpSpPr/>
          <p:nvPr/>
        </p:nvGrpSpPr>
        <p:grpSpPr>
          <a:xfrm rot="0">
            <a:off x="7878813" y="2960484"/>
            <a:ext cx="942680" cy="1709290"/>
            <a:chOff x="0" y="0"/>
            <a:chExt cx="1256906" cy="2279053"/>
          </a:xfrm>
        </p:grpSpPr>
        <p:sp>
          <p:nvSpPr>
            <p:cNvPr name="Freeform 10" id="10"/>
            <p:cNvSpPr/>
            <p:nvPr/>
          </p:nvSpPr>
          <p:spPr>
            <a:xfrm flipH="false" flipV="false" rot="0">
              <a:off x="0" y="0"/>
              <a:ext cx="1256919" cy="2279015"/>
            </a:xfrm>
            <a:custGeom>
              <a:avLst/>
              <a:gdLst/>
              <a:ahLst/>
              <a:cxnLst/>
              <a:rect r="r" b="b" t="t" l="l"/>
              <a:pathLst>
                <a:path h="2279015" w="1256919">
                  <a:moveTo>
                    <a:pt x="0" y="1397"/>
                  </a:moveTo>
                  <a:cubicBezTo>
                    <a:pt x="0" y="635"/>
                    <a:pt x="635" y="0"/>
                    <a:pt x="1397" y="0"/>
                  </a:cubicBezTo>
                  <a:lnTo>
                    <a:pt x="1255522" y="0"/>
                  </a:lnTo>
                  <a:cubicBezTo>
                    <a:pt x="1256284" y="0"/>
                    <a:pt x="1256919" y="635"/>
                    <a:pt x="1256919" y="1397"/>
                  </a:cubicBezTo>
                  <a:lnTo>
                    <a:pt x="1256919" y="2277618"/>
                  </a:lnTo>
                  <a:cubicBezTo>
                    <a:pt x="1256919" y="2278380"/>
                    <a:pt x="1256284" y="2279015"/>
                    <a:pt x="1255522" y="2279015"/>
                  </a:cubicBezTo>
                  <a:lnTo>
                    <a:pt x="1397" y="2279015"/>
                  </a:lnTo>
                  <a:cubicBezTo>
                    <a:pt x="635" y="2279015"/>
                    <a:pt x="0" y="2278380"/>
                    <a:pt x="0" y="2277618"/>
                  </a:cubicBezTo>
                  <a:close/>
                </a:path>
              </a:pathLst>
            </a:custGeom>
            <a:solidFill>
              <a:srgbClr val="F9F7F7"/>
            </a:solidFill>
          </p:spPr>
        </p:sp>
      </p:grpSp>
      <p:sp>
        <p:nvSpPr>
          <p:cNvPr name="Freeform 11" id="11" descr="preencoded.png"/>
          <p:cNvSpPr/>
          <p:nvPr/>
        </p:nvSpPr>
        <p:spPr>
          <a:xfrm flipH="false" flipV="false" rot="0">
            <a:off x="8173345" y="3638398"/>
            <a:ext cx="353463" cy="353463"/>
          </a:xfrm>
          <a:custGeom>
            <a:avLst/>
            <a:gdLst/>
            <a:ahLst/>
            <a:cxnLst/>
            <a:rect r="r" b="b" t="t" l="l"/>
            <a:pathLst>
              <a:path h="353463" w="353463">
                <a:moveTo>
                  <a:pt x="0" y="0"/>
                </a:moveTo>
                <a:lnTo>
                  <a:pt x="353464" y="0"/>
                </a:lnTo>
                <a:lnTo>
                  <a:pt x="353464" y="353463"/>
                </a:lnTo>
                <a:lnTo>
                  <a:pt x="0" y="353463"/>
                </a:lnTo>
                <a:lnTo>
                  <a:pt x="0" y="0"/>
                </a:lnTo>
                <a:close/>
              </a:path>
            </a:pathLst>
          </a:custGeom>
          <a:blipFill>
            <a:blip r:embed="rId3">
              <a:extLst>
                <a:ext uri="{96DAC541-7B7A-43D3-8B79-37D633B846F1}">
                  <asvg:svgBlip xmlns:asvg="http://schemas.microsoft.com/office/drawing/2016/SVG/main" r:embed="rId4"/>
                </a:ext>
              </a:extLst>
            </a:blip>
            <a:stretch>
              <a:fillRect l="-2632" t="0" r="-2630" b="0"/>
            </a:stretch>
          </a:blipFill>
        </p:spPr>
      </p:sp>
      <p:grpSp>
        <p:nvGrpSpPr>
          <p:cNvPr name="Group 12" id="12"/>
          <p:cNvGrpSpPr/>
          <p:nvPr/>
        </p:nvGrpSpPr>
        <p:grpSpPr>
          <a:xfrm rot="0">
            <a:off x="7835951" y="4907909"/>
            <a:ext cx="9474098" cy="2162766"/>
            <a:chOff x="0" y="0"/>
            <a:chExt cx="12632131" cy="2883687"/>
          </a:xfrm>
        </p:grpSpPr>
        <p:sp>
          <p:nvSpPr>
            <p:cNvPr name="Freeform 13" id="13"/>
            <p:cNvSpPr/>
            <p:nvPr/>
          </p:nvSpPr>
          <p:spPr>
            <a:xfrm flipH="false" flipV="false" rot="0">
              <a:off x="19050" y="19050"/>
              <a:ext cx="12594082" cy="2845562"/>
            </a:xfrm>
            <a:custGeom>
              <a:avLst/>
              <a:gdLst/>
              <a:ahLst/>
              <a:cxnLst/>
              <a:rect r="r" b="b" t="t" l="l"/>
              <a:pathLst>
                <a:path h="2845562" w="12594082">
                  <a:moveTo>
                    <a:pt x="0" y="47117"/>
                  </a:moveTo>
                  <a:cubicBezTo>
                    <a:pt x="0" y="21082"/>
                    <a:pt x="21336" y="0"/>
                    <a:pt x="47625" y="0"/>
                  </a:cubicBezTo>
                  <a:lnTo>
                    <a:pt x="12546457" y="0"/>
                  </a:lnTo>
                  <a:cubicBezTo>
                    <a:pt x="12572746" y="0"/>
                    <a:pt x="12594082" y="21082"/>
                    <a:pt x="12594082" y="47117"/>
                  </a:cubicBezTo>
                  <a:lnTo>
                    <a:pt x="12594082" y="2798445"/>
                  </a:lnTo>
                  <a:cubicBezTo>
                    <a:pt x="12594082" y="2824480"/>
                    <a:pt x="12572746" y="2845562"/>
                    <a:pt x="12546457" y="2845562"/>
                  </a:cubicBezTo>
                  <a:lnTo>
                    <a:pt x="47625" y="2845562"/>
                  </a:lnTo>
                  <a:cubicBezTo>
                    <a:pt x="21336" y="2845562"/>
                    <a:pt x="0" y="2824480"/>
                    <a:pt x="0" y="2798445"/>
                  </a:cubicBezTo>
                  <a:close/>
                </a:path>
              </a:pathLst>
            </a:custGeom>
            <a:solidFill>
              <a:srgbClr val="FFFFFF"/>
            </a:solidFill>
          </p:spPr>
        </p:sp>
        <p:sp>
          <p:nvSpPr>
            <p:cNvPr name="Freeform 14" id="14"/>
            <p:cNvSpPr/>
            <p:nvPr/>
          </p:nvSpPr>
          <p:spPr>
            <a:xfrm flipH="false" flipV="false" rot="0">
              <a:off x="0" y="0"/>
              <a:ext cx="12632182" cy="2883662"/>
            </a:xfrm>
            <a:custGeom>
              <a:avLst/>
              <a:gdLst/>
              <a:ahLst/>
              <a:cxnLst/>
              <a:rect r="r" b="b" t="t" l="l"/>
              <a:pathLst>
                <a:path h="2883662" w="12632182">
                  <a:moveTo>
                    <a:pt x="0" y="66167"/>
                  </a:moveTo>
                  <a:cubicBezTo>
                    <a:pt x="0" y="29464"/>
                    <a:pt x="30099" y="0"/>
                    <a:pt x="66675" y="0"/>
                  </a:cubicBezTo>
                  <a:lnTo>
                    <a:pt x="12565507" y="0"/>
                  </a:lnTo>
                  <a:lnTo>
                    <a:pt x="12565507" y="19050"/>
                  </a:lnTo>
                  <a:lnTo>
                    <a:pt x="12565507" y="0"/>
                  </a:lnTo>
                  <a:cubicBezTo>
                    <a:pt x="12602210" y="0"/>
                    <a:pt x="12632182" y="29464"/>
                    <a:pt x="12632182" y="66167"/>
                  </a:cubicBezTo>
                  <a:lnTo>
                    <a:pt x="12613132" y="66167"/>
                  </a:lnTo>
                  <a:lnTo>
                    <a:pt x="12632182" y="66167"/>
                  </a:lnTo>
                  <a:lnTo>
                    <a:pt x="12632182" y="2817495"/>
                  </a:lnTo>
                  <a:lnTo>
                    <a:pt x="12613132" y="2817495"/>
                  </a:lnTo>
                  <a:lnTo>
                    <a:pt x="12632182" y="2817495"/>
                  </a:lnTo>
                  <a:cubicBezTo>
                    <a:pt x="12632182" y="2854198"/>
                    <a:pt x="12602083" y="2883662"/>
                    <a:pt x="12565507" y="2883662"/>
                  </a:cubicBezTo>
                  <a:lnTo>
                    <a:pt x="12565507" y="2864612"/>
                  </a:lnTo>
                  <a:lnTo>
                    <a:pt x="12565507" y="2883662"/>
                  </a:lnTo>
                  <a:lnTo>
                    <a:pt x="66675" y="2883662"/>
                  </a:lnTo>
                  <a:lnTo>
                    <a:pt x="66675" y="2864612"/>
                  </a:lnTo>
                  <a:lnTo>
                    <a:pt x="66675" y="2883662"/>
                  </a:lnTo>
                  <a:cubicBezTo>
                    <a:pt x="29972" y="2883662"/>
                    <a:pt x="0" y="2854198"/>
                    <a:pt x="0" y="2817495"/>
                  </a:cubicBezTo>
                  <a:lnTo>
                    <a:pt x="0" y="66167"/>
                  </a:lnTo>
                  <a:lnTo>
                    <a:pt x="19050" y="66167"/>
                  </a:lnTo>
                  <a:lnTo>
                    <a:pt x="0" y="66167"/>
                  </a:lnTo>
                  <a:moveTo>
                    <a:pt x="38100" y="66167"/>
                  </a:moveTo>
                  <a:lnTo>
                    <a:pt x="38100" y="2817495"/>
                  </a:lnTo>
                  <a:lnTo>
                    <a:pt x="19050" y="2817495"/>
                  </a:lnTo>
                  <a:lnTo>
                    <a:pt x="38100" y="2817495"/>
                  </a:lnTo>
                  <a:cubicBezTo>
                    <a:pt x="38100" y="2832862"/>
                    <a:pt x="50673" y="2845562"/>
                    <a:pt x="66675" y="2845562"/>
                  </a:cubicBezTo>
                  <a:lnTo>
                    <a:pt x="12565507" y="2845562"/>
                  </a:lnTo>
                  <a:cubicBezTo>
                    <a:pt x="12581509" y="2845562"/>
                    <a:pt x="12594082" y="2832735"/>
                    <a:pt x="12594082" y="2817495"/>
                  </a:cubicBezTo>
                  <a:lnTo>
                    <a:pt x="12594082" y="66167"/>
                  </a:lnTo>
                  <a:cubicBezTo>
                    <a:pt x="12594082" y="50800"/>
                    <a:pt x="12581509" y="38100"/>
                    <a:pt x="12565507" y="38100"/>
                  </a:cubicBezTo>
                  <a:lnTo>
                    <a:pt x="66675" y="38100"/>
                  </a:lnTo>
                  <a:lnTo>
                    <a:pt x="66675" y="19050"/>
                  </a:lnTo>
                  <a:lnTo>
                    <a:pt x="66675" y="38100"/>
                  </a:lnTo>
                  <a:cubicBezTo>
                    <a:pt x="50673" y="38100"/>
                    <a:pt x="38100" y="50927"/>
                    <a:pt x="38100" y="66167"/>
                  </a:cubicBezTo>
                  <a:close/>
                </a:path>
              </a:pathLst>
            </a:custGeom>
            <a:solidFill>
              <a:srgbClr val="D8D4D4"/>
            </a:solidFill>
          </p:spPr>
        </p:sp>
      </p:grpSp>
      <p:grpSp>
        <p:nvGrpSpPr>
          <p:cNvPr name="Group 15" id="15"/>
          <p:cNvGrpSpPr/>
          <p:nvPr/>
        </p:nvGrpSpPr>
        <p:grpSpPr>
          <a:xfrm rot="0">
            <a:off x="7878813" y="4950771"/>
            <a:ext cx="942680" cy="2077041"/>
            <a:chOff x="0" y="0"/>
            <a:chExt cx="1256906" cy="2769387"/>
          </a:xfrm>
        </p:grpSpPr>
        <p:sp>
          <p:nvSpPr>
            <p:cNvPr name="Freeform 16" id="16"/>
            <p:cNvSpPr/>
            <p:nvPr/>
          </p:nvSpPr>
          <p:spPr>
            <a:xfrm flipH="false" flipV="false" rot="0">
              <a:off x="0" y="0"/>
              <a:ext cx="1256919" cy="2769362"/>
            </a:xfrm>
            <a:custGeom>
              <a:avLst/>
              <a:gdLst/>
              <a:ahLst/>
              <a:cxnLst/>
              <a:rect r="r" b="b" t="t" l="l"/>
              <a:pathLst>
                <a:path h="2769362" w="1256919">
                  <a:moveTo>
                    <a:pt x="0" y="1397"/>
                  </a:moveTo>
                  <a:cubicBezTo>
                    <a:pt x="0" y="635"/>
                    <a:pt x="635" y="0"/>
                    <a:pt x="1397" y="0"/>
                  </a:cubicBezTo>
                  <a:lnTo>
                    <a:pt x="1255522" y="0"/>
                  </a:lnTo>
                  <a:cubicBezTo>
                    <a:pt x="1256284" y="0"/>
                    <a:pt x="1256919" y="635"/>
                    <a:pt x="1256919" y="1397"/>
                  </a:cubicBezTo>
                  <a:lnTo>
                    <a:pt x="1256919" y="2767965"/>
                  </a:lnTo>
                  <a:cubicBezTo>
                    <a:pt x="1256919" y="2768727"/>
                    <a:pt x="1256284" y="2769362"/>
                    <a:pt x="1255522" y="2769362"/>
                  </a:cubicBezTo>
                  <a:lnTo>
                    <a:pt x="1397" y="2769362"/>
                  </a:lnTo>
                  <a:cubicBezTo>
                    <a:pt x="635" y="2769362"/>
                    <a:pt x="0" y="2768727"/>
                    <a:pt x="0" y="2767965"/>
                  </a:cubicBezTo>
                  <a:close/>
                </a:path>
              </a:pathLst>
            </a:custGeom>
            <a:solidFill>
              <a:srgbClr val="F9F7F7"/>
            </a:solidFill>
          </p:spPr>
        </p:sp>
      </p:grpSp>
      <p:sp>
        <p:nvSpPr>
          <p:cNvPr name="Freeform 17" id="17" descr="preencoded.png"/>
          <p:cNvSpPr/>
          <p:nvPr/>
        </p:nvSpPr>
        <p:spPr>
          <a:xfrm flipH="false" flipV="false" rot="0">
            <a:off x="8173345" y="5812479"/>
            <a:ext cx="353463" cy="353463"/>
          </a:xfrm>
          <a:custGeom>
            <a:avLst/>
            <a:gdLst/>
            <a:ahLst/>
            <a:cxnLst/>
            <a:rect r="r" b="b" t="t" l="l"/>
            <a:pathLst>
              <a:path h="353463" w="353463">
                <a:moveTo>
                  <a:pt x="0" y="0"/>
                </a:moveTo>
                <a:lnTo>
                  <a:pt x="353464" y="0"/>
                </a:lnTo>
                <a:lnTo>
                  <a:pt x="353464" y="353463"/>
                </a:lnTo>
                <a:lnTo>
                  <a:pt x="0" y="3534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7835951" y="7265937"/>
            <a:ext cx="9474098" cy="2162766"/>
            <a:chOff x="0" y="0"/>
            <a:chExt cx="12632131" cy="2883687"/>
          </a:xfrm>
        </p:grpSpPr>
        <p:sp>
          <p:nvSpPr>
            <p:cNvPr name="Freeform 19" id="19"/>
            <p:cNvSpPr/>
            <p:nvPr/>
          </p:nvSpPr>
          <p:spPr>
            <a:xfrm flipH="false" flipV="false" rot="0">
              <a:off x="19050" y="19050"/>
              <a:ext cx="12594082" cy="2845562"/>
            </a:xfrm>
            <a:custGeom>
              <a:avLst/>
              <a:gdLst/>
              <a:ahLst/>
              <a:cxnLst/>
              <a:rect r="r" b="b" t="t" l="l"/>
              <a:pathLst>
                <a:path h="2845562" w="12594082">
                  <a:moveTo>
                    <a:pt x="0" y="47117"/>
                  </a:moveTo>
                  <a:cubicBezTo>
                    <a:pt x="0" y="21082"/>
                    <a:pt x="21336" y="0"/>
                    <a:pt x="47625" y="0"/>
                  </a:cubicBezTo>
                  <a:lnTo>
                    <a:pt x="12546457" y="0"/>
                  </a:lnTo>
                  <a:cubicBezTo>
                    <a:pt x="12572746" y="0"/>
                    <a:pt x="12594082" y="21082"/>
                    <a:pt x="12594082" y="47117"/>
                  </a:cubicBezTo>
                  <a:lnTo>
                    <a:pt x="12594082" y="2798445"/>
                  </a:lnTo>
                  <a:cubicBezTo>
                    <a:pt x="12594082" y="2824480"/>
                    <a:pt x="12572746" y="2845562"/>
                    <a:pt x="12546457" y="2845562"/>
                  </a:cubicBezTo>
                  <a:lnTo>
                    <a:pt x="47625" y="2845562"/>
                  </a:lnTo>
                  <a:cubicBezTo>
                    <a:pt x="21336" y="2845562"/>
                    <a:pt x="0" y="2824480"/>
                    <a:pt x="0" y="2798445"/>
                  </a:cubicBezTo>
                  <a:close/>
                </a:path>
              </a:pathLst>
            </a:custGeom>
            <a:solidFill>
              <a:srgbClr val="FFFFFF"/>
            </a:solidFill>
          </p:spPr>
        </p:sp>
        <p:sp>
          <p:nvSpPr>
            <p:cNvPr name="Freeform 20" id="20"/>
            <p:cNvSpPr/>
            <p:nvPr/>
          </p:nvSpPr>
          <p:spPr>
            <a:xfrm flipH="false" flipV="false" rot="0">
              <a:off x="0" y="0"/>
              <a:ext cx="12632182" cy="2883662"/>
            </a:xfrm>
            <a:custGeom>
              <a:avLst/>
              <a:gdLst/>
              <a:ahLst/>
              <a:cxnLst/>
              <a:rect r="r" b="b" t="t" l="l"/>
              <a:pathLst>
                <a:path h="2883662" w="12632182">
                  <a:moveTo>
                    <a:pt x="0" y="66167"/>
                  </a:moveTo>
                  <a:cubicBezTo>
                    <a:pt x="0" y="29464"/>
                    <a:pt x="30099" y="0"/>
                    <a:pt x="66675" y="0"/>
                  </a:cubicBezTo>
                  <a:lnTo>
                    <a:pt x="12565507" y="0"/>
                  </a:lnTo>
                  <a:lnTo>
                    <a:pt x="12565507" y="19050"/>
                  </a:lnTo>
                  <a:lnTo>
                    <a:pt x="12565507" y="0"/>
                  </a:lnTo>
                  <a:cubicBezTo>
                    <a:pt x="12602210" y="0"/>
                    <a:pt x="12632182" y="29464"/>
                    <a:pt x="12632182" y="66167"/>
                  </a:cubicBezTo>
                  <a:lnTo>
                    <a:pt x="12613132" y="66167"/>
                  </a:lnTo>
                  <a:lnTo>
                    <a:pt x="12632182" y="66167"/>
                  </a:lnTo>
                  <a:lnTo>
                    <a:pt x="12632182" y="2817495"/>
                  </a:lnTo>
                  <a:lnTo>
                    <a:pt x="12613132" y="2817495"/>
                  </a:lnTo>
                  <a:lnTo>
                    <a:pt x="12632182" y="2817495"/>
                  </a:lnTo>
                  <a:cubicBezTo>
                    <a:pt x="12632182" y="2854198"/>
                    <a:pt x="12602083" y="2883662"/>
                    <a:pt x="12565507" y="2883662"/>
                  </a:cubicBezTo>
                  <a:lnTo>
                    <a:pt x="12565507" y="2864612"/>
                  </a:lnTo>
                  <a:lnTo>
                    <a:pt x="12565507" y="2883662"/>
                  </a:lnTo>
                  <a:lnTo>
                    <a:pt x="66675" y="2883662"/>
                  </a:lnTo>
                  <a:lnTo>
                    <a:pt x="66675" y="2864612"/>
                  </a:lnTo>
                  <a:lnTo>
                    <a:pt x="66675" y="2883662"/>
                  </a:lnTo>
                  <a:cubicBezTo>
                    <a:pt x="29972" y="2883662"/>
                    <a:pt x="0" y="2854198"/>
                    <a:pt x="0" y="2817495"/>
                  </a:cubicBezTo>
                  <a:lnTo>
                    <a:pt x="0" y="66167"/>
                  </a:lnTo>
                  <a:lnTo>
                    <a:pt x="19050" y="66167"/>
                  </a:lnTo>
                  <a:lnTo>
                    <a:pt x="0" y="66167"/>
                  </a:lnTo>
                  <a:moveTo>
                    <a:pt x="38100" y="66167"/>
                  </a:moveTo>
                  <a:lnTo>
                    <a:pt x="38100" y="2817495"/>
                  </a:lnTo>
                  <a:lnTo>
                    <a:pt x="19050" y="2817495"/>
                  </a:lnTo>
                  <a:lnTo>
                    <a:pt x="38100" y="2817495"/>
                  </a:lnTo>
                  <a:cubicBezTo>
                    <a:pt x="38100" y="2832862"/>
                    <a:pt x="50673" y="2845562"/>
                    <a:pt x="66675" y="2845562"/>
                  </a:cubicBezTo>
                  <a:lnTo>
                    <a:pt x="12565507" y="2845562"/>
                  </a:lnTo>
                  <a:cubicBezTo>
                    <a:pt x="12581509" y="2845562"/>
                    <a:pt x="12594082" y="2832735"/>
                    <a:pt x="12594082" y="2817495"/>
                  </a:cubicBezTo>
                  <a:lnTo>
                    <a:pt x="12594082" y="66167"/>
                  </a:lnTo>
                  <a:cubicBezTo>
                    <a:pt x="12594082" y="50800"/>
                    <a:pt x="12581509" y="38100"/>
                    <a:pt x="12565507" y="38100"/>
                  </a:cubicBezTo>
                  <a:lnTo>
                    <a:pt x="66675" y="38100"/>
                  </a:lnTo>
                  <a:lnTo>
                    <a:pt x="66675" y="19050"/>
                  </a:lnTo>
                  <a:lnTo>
                    <a:pt x="66675" y="38100"/>
                  </a:lnTo>
                  <a:cubicBezTo>
                    <a:pt x="50673" y="38100"/>
                    <a:pt x="38100" y="50927"/>
                    <a:pt x="38100" y="66167"/>
                  </a:cubicBezTo>
                  <a:close/>
                </a:path>
              </a:pathLst>
            </a:custGeom>
            <a:solidFill>
              <a:srgbClr val="D8D4D4"/>
            </a:solidFill>
          </p:spPr>
        </p:sp>
      </p:grpSp>
      <p:grpSp>
        <p:nvGrpSpPr>
          <p:cNvPr name="Group 21" id="21"/>
          <p:cNvGrpSpPr/>
          <p:nvPr/>
        </p:nvGrpSpPr>
        <p:grpSpPr>
          <a:xfrm rot="0">
            <a:off x="7878813" y="7308799"/>
            <a:ext cx="942680" cy="2077041"/>
            <a:chOff x="0" y="0"/>
            <a:chExt cx="1256906" cy="2769387"/>
          </a:xfrm>
        </p:grpSpPr>
        <p:sp>
          <p:nvSpPr>
            <p:cNvPr name="Freeform 22" id="22"/>
            <p:cNvSpPr/>
            <p:nvPr/>
          </p:nvSpPr>
          <p:spPr>
            <a:xfrm flipH="false" flipV="false" rot="0">
              <a:off x="0" y="0"/>
              <a:ext cx="1256919" cy="2769362"/>
            </a:xfrm>
            <a:custGeom>
              <a:avLst/>
              <a:gdLst/>
              <a:ahLst/>
              <a:cxnLst/>
              <a:rect r="r" b="b" t="t" l="l"/>
              <a:pathLst>
                <a:path h="2769362" w="1256919">
                  <a:moveTo>
                    <a:pt x="0" y="1397"/>
                  </a:moveTo>
                  <a:cubicBezTo>
                    <a:pt x="0" y="635"/>
                    <a:pt x="635" y="0"/>
                    <a:pt x="1397" y="0"/>
                  </a:cubicBezTo>
                  <a:lnTo>
                    <a:pt x="1255522" y="0"/>
                  </a:lnTo>
                  <a:cubicBezTo>
                    <a:pt x="1256284" y="0"/>
                    <a:pt x="1256919" y="635"/>
                    <a:pt x="1256919" y="1397"/>
                  </a:cubicBezTo>
                  <a:lnTo>
                    <a:pt x="1256919" y="2767965"/>
                  </a:lnTo>
                  <a:cubicBezTo>
                    <a:pt x="1256919" y="2768727"/>
                    <a:pt x="1256284" y="2769362"/>
                    <a:pt x="1255522" y="2769362"/>
                  </a:cubicBezTo>
                  <a:lnTo>
                    <a:pt x="1397" y="2769362"/>
                  </a:lnTo>
                  <a:cubicBezTo>
                    <a:pt x="635" y="2769362"/>
                    <a:pt x="0" y="2768727"/>
                    <a:pt x="0" y="2767965"/>
                  </a:cubicBezTo>
                  <a:close/>
                </a:path>
              </a:pathLst>
            </a:custGeom>
            <a:solidFill>
              <a:srgbClr val="F9F7F7"/>
            </a:solidFill>
          </p:spPr>
        </p:sp>
      </p:grpSp>
      <p:sp>
        <p:nvSpPr>
          <p:cNvPr name="Freeform 23" id="23" descr="preencoded.png"/>
          <p:cNvSpPr/>
          <p:nvPr/>
        </p:nvSpPr>
        <p:spPr>
          <a:xfrm flipH="false" flipV="false" rot="0">
            <a:off x="8173345" y="8170516"/>
            <a:ext cx="353463" cy="353463"/>
          </a:xfrm>
          <a:custGeom>
            <a:avLst/>
            <a:gdLst/>
            <a:ahLst/>
            <a:cxnLst/>
            <a:rect r="r" b="b" t="t" l="l"/>
            <a:pathLst>
              <a:path h="353463" w="353463">
                <a:moveTo>
                  <a:pt x="0" y="0"/>
                </a:moveTo>
                <a:lnTo>
                  <a:pt x="353464" y="0"/>
                </a:lnTo>
                <a:lnTo>
                  <a:pt x="353464" y="353464"/>
                </a:lnTo>
                <a:lnTo>
                  <a:pt x="0" y="353464"/>
                </a:lnTo>
                <a:lnTo>
                  <a:pt x="0" y="0"/>
                </a:lnTo>
                <a:close/>
              </a:path>
            </a:pathLst>
          </a:custGeom>
          <a:blipFill>
            <a:blip r:embed="rId7">
              <a:extLst>
                <a:ext uri="{96DAC541-7B7A-43D3-8B79-37D633B846F1}">
                  <asvg:svgBlip xmlns:asvg="http://schemas.microsoft.com/office/drawing/2016/SVG/main" r:embed="rId8"/>
                </a:ext>
              </a:extLst>
            </a:blip>
            <a:stretch>
              <a:fillRect l="0" t="-5262" r="0" b="-5265"/>
            </a:stretch>
          </a:blipFill>
        </p:spPr>
      </p:sp>
      <p:sp>
        <p:nvSpPr>
          <p:cNvPr name="Freeform 24" id="24"/>
          <p:cNvSpPr/>
          <p:nvPr/>
        </p:nvSpPr>
        <p:spPr>
          <a:xfrm flipH="false" flipV="false" rot="0">
            <a:off x="876300" y="843858"/>
            <a:ext cx="3108035" cy="3974392"/>
          </a:xfrm>
          <a:custGeom>
            <a:avLst/>
            <a:gdLst/>
            <a:ahLst/>
            <a:cxnLst/>
            <a:rect r="r" b="b" t="t" l="l"/>
            <a:pathLst>
              <a:path h="3974392" w="3108035">
                <a:moveTo>
                  <a:pt x="0" y="0"/>
                </a:moveTo>
                <a:lnTo>
                  <a:pt x="3108035" y="0"/>
                </a:lnTo>
                <a:lnTo>
                  <a:pt x="3108035" y="3974392"/>
                </a:lnTo>
                <a:lnTo>
                  <a:pt x="0" y="3974392"/>
                </a:lnTo>
                <a:lnTo>
                  <a:pt x="0" y="0"/>
                </a:lnTo>
                <a:close/>
              </a:path>
            </a:pathLst>
          </a:custGeom>
          <a:blipFill>
            <a:blip r:embed="rId9"/>
            <a:stretch>
              <a:fillRect l="0" t="0" r="-145127" b="0"/>
            </a:stretch>
          </a:blipFill>
        </p:spPr>
      </p:sp>
      <p:sp>
        <p:nvSpPr>
          <p:cNvPr name="Freeform 25" id="25"/>
          <p:cNvSpPr/>
          <p:nvPr/>
        </p:nvSpPr>
        <p:spPr>
          <a:xfrm flipH="false" flipV="false" rot="0">
            <a:off x="4203410" y="843858"/>
            <a:ext cx="2809061" cy="3993394"/>
          </a:xfrm>
          <a:custGeom>
            <a:avLst/>
            <a:gdLst/>
            <a:ahLst/>
            <a:cxnLst/>
            <a:rect r="r" b="b" t="t" l="l"/>
            <a:pathLst>
              <a:path h="3993394" w="2809061">
                <a:moveTo>
                  <a:pt x="0" y="0"/>
                </a:moveTo>
                <a:lnTo>
                  <a:pt x="2809061" y="0"/>
                </a:lnTo>
                <a:lnTo>
                  <a:pt x="2809061" y="3993394"/>
                </a:lnTo>
                <a:lnTo>
                  <a:pt x="0" y="3993394"/>
                </a:lnTo>
                <a:lnTo>
                  <a:pt x="0" y="0"/>
                </a:lnTo>
                <a:close/>
              </a:path>
            </a:pathLst>
          </a:custGeom>
          <a:blipFill>
            <a:blip r:embed="rId9"/>
            <a:stretch>
              <a:fillRect l="-172971" t="-168" r="0" b="0"/>
            </a:stretch>
          </a:blipFill>
        </p:spPr>
      </p:sp>
      <p:sp>
        <p:nvSpPr>
          <p:cNvPr name="Freeform 26" id="26"/>
          <p:cNvSpPr/>
          <p:nvPr/>
        </p:nvSpPr>
        <p:spPr>
          <a:xfrm flipH="false" flipV="false" rot="0">
            <a:off x="1256706" y="5143500"/>
            <a:ext cx="5234502" cy="4054373"/>
          </a:xfrm>
          <a:custGeom>
            <a:avLst/>
            <a:gdLst/>
            <a:ahLst/>
            <a:cxnLst/>
            <a:rect r="r" b="b" t="t" l="l"/>
            <a:pathLst>
              <a:path h="4054373" w="5234502">
                <a:moveTo>
                  <a:pt x="0" y="0"/>
                </a:moveTo>
                <a:lnTo>
                  <a:pt x="5234502" y="0"/>
                </a:lnTo>
                <a:lnTo>
                  <a:pt x="5234502" y="4054373"/>
                </a:lnTo>
                <a:lnTo>
                  <a:pt x="0" y="4054373"/>
                </a:lnTo>
                <a:lnTo>
                  <a:pt x="0" y="0"/>
                </a:lnTo>
                <a:close/>
              </a:path>
            </a:pathLst>
          </a:custGeom>
          <a:blipFill>
            <a:blip r:embed="rId10"/>
            <a:stretch>
              <a:fillRect l="0" t="0" r="0" b="-6867"/>
            </a:stretch>
          </a:blipFill>
        </p:spPr>
      </p:sp>
      <p:sp>
        <p:nvSpPr>
          <p:cNvPr name="TextBox 27" id="27"/>
          <p:cNvSpPr txBox="true"/>
          <p:nvPr/>
        </p:nvSpPr>
        <p:spPr>
          <a:xfrm rot="0">
            <a:off x="7850238" y="824808"/>
            <a:ext cx="4211955" cy="884057"/>
          </a:xfrm>
          <a:prstGeom prst="rect">
            <a:avLst/>
          </a:prstGeom>
        </p:spPr>
        <p:txBody>
          <a:bodyPr anchor="t" rtlCol="false" tIns="0" lIns="0" bIns="0" rIns="0">
            <a:spAutoFit/>
          </a:bodyPr>
          <a:lstStyle/>
          <a:p>
            <a:pPr algn="l">
              <a:lnSpc>
                <a:spcPts val="6868"/>
              </a:lnSpc>
            </a:pPr>
            <a:r>
              <a:rPr lang="en-US" sz="5524">
                <a:solidFill>
                  <a:srgbClr val="201B18"/>
                </a:solidFill>
                <a:latin typeface="Arimo"/>
                <a:ea typeface="Arimo"/>
                <a:cs typeface="Arimo"/>
                <a:sym typeface="Arimo"/>
              </a:rPr>
              <a:t>Color Spaces</a:t>
            </a:r>
          </a:p>
        </p:txBody>
      </p:sp>
      <p:sp>
        <p:nvSpPr>
          <p:cNvPr name="TextBox 28" id="28"/>
          <p:cNvSpPr txBox="true"/>
          <p:nvPr/>
        </p:nvSpPr>
        <p:spPr>
          <a:xfrm rot="0">
            <a:off x="7850238" y="1788859"/>
            <a:ext cx="9746817" cy="810786"/>
          </a:xfrm>
          <a:prstGeom prst="rect">
            <a:avLst/>
          </a:prstGeom>
        </p:spPr>
        <p:txBody>
          <a:bodyPr anchor="t" rtlCol="false" tIns="0" lIns="0" bIns="0" rIns="0">
            <a:spAutoFit/>
          </a:bodyPr>
          <a:lstStyle/>
          <a:p>
            <a:pPr algn="l">
              <a:lnSpc>
                <a:spcPts val="3350"/>
              </a:lnSpc>
            </a:pPr>
            <a:r>
              <a:rPr lang="en-US" sz="2112">
                <a:solidFill>
                  <a:srgbClr val="504C49"/>
                </a:solidFill>
                <a:latin typeface="Source Serif Pro"/>
                <a:ea typeface="Source Serif Pro"/>
                <a:cs typeface="Source Serif Pro"/>
                <a:sym typeface="Source Serif Pro"/>
              </a:rPr>
              <a:t>Understanding different color representations is critical for JPEG compression, as the algorithm relies on separating luminance from chrominance information.</a:t>
            </a:r>
          </a:p>
        </p:txBody>
      </p:sp>
      <p:sp>
        <p:nvSpPr>
          <p:cNvPr name="TextBox 29" id="29"/>
          <p:cNvSpPr txBox="true"/>
          <p:nvPr/>
        </p:nvSpPr>
        <p:spPr>
          <a:xfrm rot="0">
            <a:off x="9045331" y="3167510"/>
            <a:ext cx="3079552" cy="423802"/>
          </a:xfrm>
          <a:prstGeom prst="rect">
            <a:avLst/>
          </a:prstGeom>
        </p:spPr>
        <p:txBody>
          <a:bodyPr anchor="t" rtlCol="false" tIns="0" lIns="0" bIns="0" rIns="0">
            <a:spAutoFit/>
          </a:bodyPr>
          <a:lstStyle/>
          <a:p>
            <a:pPr algn="l">
              <a:lnSpc>
                <a:spcPts val="3247"/>
              </a:lnSpc>
            </a:pPr>
            <a:r>
              <a:rPr lang="en-US" sz="2612">
                <a:solidFill>
                  <a:srgbClr val="504C49"/>
                </a:solidFill>
                <a:latin typeface="Arimo"/>
                <a:ea typeface="Arimo"/>
                <a:cs typeface="Arimo"/>
                <a:sym typeface="Arimo"/>
              </a:rPr>
              <a:t>RGB: Additive Model</a:t>
            </a:r>
          </a:p>
        </p:txBody>
      </p:sp>
      <p:sp>
        <p:nvSpPr>
          <p:cNvPr name="TextBox 30" id="30"/>
          <p:cNvSpPr txBox="true"/>
          <p:nvPr/>
        </p:nvSpPr>
        <p:spPr>
          <a:xfrm rot="0">
            <a:off x="9045331" y="3622472"/>
            <a:ext cx="7986265" cy="777590"/>
          </a:xfrm>
          <a:prstGeom prst="rect">
            <a:avLst/>
          </a:prstGeom>
        </p:spPr>
        <p:txBody>
          <a:bodyPr anchor="t" rtlCol="false" tIns="0" lIns="0" bIns="0" rIns="0">
            <a:spAutoFit/>
          </a:bodyPr>
          <a:lstStyle/>
          <a:p>
            <a:pPr algn="l">
              <a:lnSpc>
                <a:spcPts val="3192"/>
              </a:lnSpc>
            </a:pPr>
            <a:r>
              <a:rPr lang="en-US" sz="2012">
                <a:solidFill>
                  <a:srgbClr val="504C49"/>
                </a:solidFill>
                <a:latin typeface="Source Serif Pro"/>
                <a:ea typeface="Source Serif Pro"/>
                <a:cs typeface="Source Serif Pro"/>
                <a:sym typeface="Source Serif Pro"/>
              </a:rPr>
              <a:t>Used by monitors and displays. Adding Red + Green + Blue = white light. Each channel ranges from 0-255 intensity values.</a:t>
            </a:r>
          </a:p>
        </p:txBody>
      </p:sp>
      <p:sp>
        <p:nvSpPr>
          <p:cNvPr name="TextBox 31" id="31"/>
          <p:cNvSpPr txBox="true"/>
          <p:nvPr/>
        </p:nvSpPr>
        <p:spPr>
          <a:xfrm rot="0">
            <a:off x="9045331" y="5157787"/>
            <a:ext cx="3798451" cy="423802"/>
          </a:xfrm>
          <a:prstGeom prst="rect">
            <a:avLst/>
          </a:prstGeom>
        </p:spPr>
        <p:txBody>
          <a:bodyPr anchor="t" rtlCol="false" tIns="0" lIns="0" bIns="0" rIns="0">
            <a:spAutoFit/>
          </a:bodyPr>
          <a:lstStyle/>
          <a:p>
            <a:pPr algn="l">
              <a:lnSpc>
                <a:spcPts val="3247"/>
              </a:lnSpc>
            </a:pPr>
            <a:r>
              <a:rPr lang="en-US" sz="2612">
                <a:solidFill>
                  <a:srgbClr val="504C49"/>
                </a:solidFill>
                <a:latin typeface="Arimo"/>
                <a:ea typeface="Arimo"/>
                <a:cs typeface="Arimo"/>
                <a:sym typeface="Arimo"/>
              </a:rPr>
              <a:t>CMYK: Subtractive Model</a:t>
            </a:r>
          </a:p>
        </p:txBody>
      </p:sp>
      <p:sp>
        <p:nvSpPr>
          <p:cNvPr name="TextBox 32" id="32"/>
          <p:cNvSpPr txBox="true"/>
          <p:nvPr/>
        </p:nvSpPr>
        <p:spPr>
          <a:xfrm rot="0">
            <a:off x="9045331" y="5612759"/>
            <a:ext cx="7986265" cy="1177640"/>
          </a:xfrm>
          <a:prstGeom prst="rect">
            <a:avLst/>
          </a:prstGeom>
        </p:spPr>
        <p:txBody>
          <a:bodyPr anchor="t" rtlCol="false" tIns="0" lIns="0" bIns="0" rIns="0">
            <a:spAutoFit/>
          </a:bodyPr>
          <a:lstStyle/>
          <a:p>
            <a:pPr algn="l">
              <a:lnSpc>
                <a:spcPts val="3192"/>
              </a:lnSpc>
            </a:pPr>
            <a:r>
              <a:rPr lang="en-US" sz="2012">
                <a:solidFill>
                  <a:srgbClr val="504C49"/>
                </a:solidFill>
                <a:latin typeface="Source Serif Pro"/>
                <a:ea typeface="Source Serif Pro"/>
                <a:cs typeface="Source Serif Pro"/>
                <a:sym typeface="Source Serif Pro"/>
              </a:rPr>
              <a:t>Used by printers. Adding inks makes the image darker. 'K' (black) exists because mixing Cyan + Magenta + Yellow produces muddy brown, not true black.</a:t>
            </a:r>
          </a:p>
        </p:txBody>
      </p:sp>
      <p:sp>
        <p:nvSpPr>
          <p:cNvPr name="TextBox 33" id="33"/>
          <p:cNvSpPr txBox="true"/>
          <p:nvPr/>
        </p:nvSpPr>
        <p:spPr>
          <a:xfrm rot="0">
            <a:off x="9045331" y="7515816"/>
            <a:ext cx="4886563" cy="423802"/>
          </a:xfrm>
          <a:prstGeom prst="rect">
            <a:avLst/>
          </a:prstGeom>
        </p:spPr>
        <p:txBody>
          <a:bodyPr anchor="t" rtlCol="false" tIns="0" lIns="0" bIns="0" rIns="0">
            <a:spAutoFit/>
          </a:bodyPr>
          <a:lstStyle/>
          <a:p>
            <a:pPr algn="l">
              <a:lnSpc>
                <a:spcPts val="3247"/>
              </a:lnSpc>
            </a:pPr>
            <a:r>
              <a:rPr lang="en-US" sz="2612">
                <a:solidFill>
                  <a:srgbClr val="504C49"/>
                </a:solidFill>
                <a:latin typeface="Arimo"/>
                <a:ea typeface="Arimo"/>
                <a:cs typeface="Arimo"/>
                <a:sym typeface="Arimo"/>
              </a:rPr>
              <a:t>YCbCr: Luminance-Chrominance</a:t>
            </a:r>
          </a:p>
        </p:txBody>
      </p:sp>
      <p:sp>
        <p:nvSpPr>
          <p:cNvPr name="TextBox 34" id="34"/>
          <p:cNvSpPr txBox="true"/>
          <p:nvPr/>
        </p:nvSpPr>
        <p:spPr>
          <a:xfrm rot="0">
            <a:off x="9045331" y="7970787"/>
            <a:ext cx="7986265" cy="1177640"/>
          </a:xfrm>
          <a:prstGeom prst="rect">
            <a:avLst/>
          </a:prstGeom>
        </p:spPr>
        <p:txBody>
          <a:bodyPr anchor="t" rtlCol="false" tIns="0" lIns="0" bIns="0" rIns="0">
            <a:spAutoFit/>
          </a:bodyPr>
          <a:lstStyle/>
          <a:p>
            <a:pPr algn="l">
              <a:lnSpc>
                <a:spcPts val="3192"/>
              </a:lnSpc>
            </a:pPr>
            <a:r>
              <a:rPr lang="en-US" sz="2012">
                <a:solidFill>
                  <a:srgbClr val="504C49"/>
                </a:solidFill>
                <a:latin typeface="Source Serif Pro"/>
                <a:ea typeface="Source Serif Pro"/>
                <a:cs typeface="Source Serif Pro"/>
                <a:sym typeface="Source Serif Pro"/>
              </a:rPr>
              <a:t>Used in TV broadcast and video. Separates luminance (Y = brightness/grayscale) from chrominance (Cb = blueness, Cr = redness). Critical for JPEG chroma downsampling.</a:t>
            </a:r>
          </a:p>
        </p:txBody>
      </p:sp>
      <p:sp>
        <p:nvSpPr>
          <p:cNvPr name="TextBox 35" id="35"/>
          <p:cNvSpPr txBox="true"/>
          <p:nvPr/>
        </p:nvSpPr>
        <p:spPr>
          <a:xfrm rot="0">
            <a:off x="2971236" y="9338215"/>
            <a:ext cx="1805441" cy="746125"/>
          </a:xfrm>
          <a:prstGeom prst="rect">
            <a:avLst/>
          </a:prstGeom>
        </p:spPr>
        <p:txBody>
          <a:bodyPr anchor="t" rtlCol="false" tIns="0" lIns="0" bIns="0" rIns="0">
            <a:spAutoFit/>
          </a:bodyPr>
          <a:lstStyle/>
          <a:p>
            <a:pPr algn="l">
              <a:lnSpc>
                <a:spcPts val="5750"/>
              </a:lnSpc>
            </a:pPr>
            <a:r>
              <a:rPr lang="en-US" sz="4625">
                <a:solidFill>
                  <a:srgbClr val="201B18"/>
                </a:solidFill>
                <a:latin typeface="Arimo"/>
                <a:ea typeface="Arimo"/>
                <a:cs typeface="Arimo"/>
                <a:sym typeface="Arimo"/>
              </a:rPr>
              <a:t>YCbCr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707527"/>
            <a:ext cx="6962061" cy="847589"/>
          </a:xfrm>
          <a:prstGeom prst="rect">
            <a:avLst/>
          </a:prstGeom>
        </p:spPr>
        <p:txBody>
          <a:bodyPr anchor="t" rtlCol="false" tIns="0" lIns="0" bIns="0" rIns="0">
            <a:spAutoFit/>
          </a:bodyPr>
          <a:lstStyle/>
          <a:p>
            <a:pPr algn="l">
              <a:lnSpc>
                <a:spcPts val="6556"/>
              </a:lnSpc>
            </a:pPr>
            <a:r>
              <a:rPr lang="en-US" sz="5274">
                <a:solidFill>
                  <a:srgbClr val="201B18"/>
                </a:solidFill>
                <a:latin typeface="Arimo"/>
                <a:ea typeface="Arimo"/>
                <a:cs typeface="Arimo"/>
                <a:sym typeface="Arimo"/>
              </a:rPr>
              <a:t>Chroma Downsampling</a:t>
            </a:r>
          </a:p>
        </p:txBody>
      </p:sp>
      <p:sp>
        <p:nvSpPr>
          <p:cNvPr name="TextBox 9" id="9"/>
          <p:cNvSpPr txBox="true"/>
          <p:nvPr/>
        </p:nvSpPr>
        <p:spPr>
          <a:xfrm rot="0">
            <a:off x="7850238" y="1578826"/>
            <a:ext cx="9445523" cy="1184910"/>
          </a:xfrm>
          <a:prstGeom prst="rect">
            <a:avLst/>
          </a:prstGeom>
        </p:spPr>
        <p:txBody>
          <a:bodyPr anchor="t" rtlCol="false" tIns="0" lIns="0" bIns="0" rIns="0">
            <a:spAutoFit/>
          </a:bodyPr>
          <a:lstStyle/>
          <a:p>
            <a:pPr algn="l">
              <a:lnSpc>
                <a:spcPts val="3224"/>
              </a:lnSpc>
            </a:pPr>
            <a:r>
              <a:rPr lang="en-US" sz="2149">
                <a:solidFill>
                  <a:srgbClr val="504C49"/>
                </a:solidFill>
                <a:latin typeface="Source Serif Pro"/>
                <a:ea typeface="Source Serif Pro"/>
                <a:cs typeface="Source Serif Pro"/>
                <a:sym typeface="Source Serif Pro"/>
              </a:rPr>
              <a:t>The first step in JPEG compression converts from RGB to YCbCr color space. This transformation is essential because the human eye resolves brightness (luminance) at far higher resolution than color (chrominance).</a:t>
            </a:r>
          </a:p>
        </p:txBody>
      </p:sp>
      <p:grpSp>
        <p:nvGrpSpPr>
          <p:cNvPr name="Group 10" id="10"/>
          <p:cNvGrpSpPr/>
          <p:nvPr/>
        </p:nvGrpSpPr>
        <p:grpSpPr>
          <a:xfrm rot="0">
            <a:off x="7850238" y="2998289"/>
            <a:ext cx="1116359" cy="1339606"/>
            <a:chOff x="0" y="0"/>
            <a:chExt cx="1488478" cy="1786141"/>
          </a:xfrm>
        </p:grpSpPr>
        <p:sp>
          <p:nvSpPr>
            <p:cNvPr name="Freeform 11" id="11" descr="preencoded.png"/>
            <p:cNvSpPr/>
            <p:nvPr/>
          </p:nvSpPr>
          <p:spPr>
            <a:xfrm flipH="false" flipV="false" rot="0">
              <a:off x="0" y="0"/>
              <a:ext cx="1488440" cy="1786128"/>
            </a:xfrm>
            <a:custGeom>
              <a:avLst/>
              <a:gdLst/>
              <a:ahLst/>
              <a:cxnLst/>
              <a:rect r="r" b="b" t="t" l="l"/>
              <a:pathLst>
                <a:path h="1786128" w="1488440">
                  <a:moveTo>
                    <a:pt x="0" y="0"/>
                  </a:moveTo>
                  <a:lnTo>
                    <a:pt x="1488440" y="0"/>
                  </a:lnTo>
                  <a:lnTo>
                    <a:pt x="1488440" y="1786128"/>
                  </a:lnTo>
                  <a:lnTo>
                    <a:pt x="0" y="1786128"/>
                  </a:lnTo>
                  <a:lnTo>
                    <a:pt x="0" y="0"/>
                  </a:lnTo>
                  <a:close/>
                </a:path>
              </a:pathLst>
            </a:custGeom>
            <a:blipFill>
              <a:blip r:embed="rId4"/>
              <a:stretch>
                <a:fillRect l="0" t="-214" r="-2" b="-215"/>
              </a:stretch>
            </a:blipFill>
          </p:spPr>
        </p:sp>
      </p:grpSp>
      <p:sp>
        <p:nvSpPr>
          <p:cNvPr name="TextBox 12" id="12"/>
          <p:cNvSpPr txBox="true"/>
          <p:nvPr/>
        </p:nvSpPr>
        <p:spPr>
          <a:xfrm rot="0">
            <a:off x="9167517" y="3202486"/>
            <a:ext cx="2088833" cy="381862"/>
          </a:xfrm>
          <a:prstGeom prst="rect">
            <a:avLst/>
          </a:prstGeom>
        </p:spPr>
        <p:txBody>
          <a:bodyPr anchor="t" rtlCol="false" tIns="0" lIns="0" bIns="0" rIns="0">
            <a:spAutoFit/>
          </a:bodyPr>
          <a:lstStyle/>
          <a:p>
            <a:pPr algn="l">
              <a:lnSpc>
                <a:spcPts val="2933"/>
              </a:lnSpc>
            </a:pPr>
            <a:r>
              <a:rPr lang="en-US" sz="2387" b="true">
                <a:solidFill>
                  <a:srgbClr val="504C49"/>
                </a:solidFill>
                <a:latin typeface="Arimo Bold"/>
                <a:ea typeface="Arimo Bold"/>
                <a:cs typeface="Arimo Bold"/>
                <a:sym typeface="Arimo Bold"/>
              </a:rPr>
              <a:t>RGB → YCbCr</a:t>
            </a:r>
          </a:p>
        </p:txBody>
      </p:sp>
      <p:sp>
        <p:nvSpPr>
          <p:cNvPr name="TextBox 13" id="13"/>
          <p:cNvSpPr txBox="true"/>
          <p:nvPr/>
        </p:nvSpPr>
        <p:spPr>
          <a:xfrm rot="0">
            <a:off x="9167517" y="3624110"/>
            <a:ext cx="8128244" cy="784860"/>
          </a:xfrm>
          <a:prstGeom prst="rect">
            <a:avLst/>
          </a:prstGeom>
        </p:spPr>
        <p:txBody>
          <a:bodyPr anchor="t" rtlCol="false" tIns="0" lIns="0" bIns="0" rIns="0">
            <a:spAutoFit/>
          </a:bodyPr>
          <a:lstStyle/>
          <a:p>
            <a:pPr algn="l">
              <a:lnSpc>
                <a:spcPts val="3224"/>
              </a:lnSpc>
            </a:pPr>
            <a:r>
              <a:rPr lang="en-US" sz="2149">
                <a:solidFill>
                  <a:srgbClr val="504C49"/>
                </a:solidFill>
                <a:latin typeface="Source Serif Pro"/>
                <a:ea typeface="Source Serif Pro"/>
                <a:cs typeface="Source Serif Pro"/>
                <a:sym typeface="Source Serif Pro"/>
              </a:rPr>
              <a:t>Color space conversion separates brightness from color information</a:t>
            </a:r>
          </a:p>
        </p:txBody>
      </p:sp>
      <p:grpSp>
        <p:nvGrpSpPr>
          <p:cNvPr name="Group 14" id="14"/>
          <p:cNvGrpSpPr/>
          <p:nvPr/>
        </p:nvGrpSpPr>
        <p:grpSpPr>
          <a:xfrm rot="0">
            <a:off x="7850238" y="4337895"/>
            <a:ext cx="1116359" cy="1339606"/>
            <a:chOff x="0" y="0"/>
            <a:chExt cx="1488478" cy="1786141"/>
          </a:xfrm>
        </p:grpSpPr>
        <p:sp>
          <p:nvSpPr>
            <p:cNvPr name="Freeform 15" id="15" descr="preencoded.png"/>
            <p:cNvSpPr/>
            <p:nvPr/>
          </p:nvSpPr>
          <p:spPr>
            <a:xfrm flipH="false" flipV="false" rot="0">
              <a:off x="0" y="0"/>
              <a:ext cx="1488440" cy="1786128"/>
            </a:xfrm>
            <a:custGeom>
              <a:avLst/>
              <a:gdLst/>
              <a:ahLst/>
              <a:cxnLst/>
              <a:rect r="r" b="b" t="t" l="l"/>
              <a:pathLst>
                <a:path h="1786128" w="1488440">
                  <a:moveTo>
                    <a:pt x="0" y="0"/>
                  </a:moveTo>
                  <a:lnTo>
                    <a:pt x="1488440" y="0"/>
                  </a:lnTo>
                  <a:lnTo>
                    <a:pt x="1488440" y="1786128"/>
                  </a:lnTo>
                  <a:lnTo>
                    <a:pt x="0" y="1786128"/>
                  </a:lnTo>
                  <a:lnTo>
                    <a:pt x="0" y="0"/>
                  </a:lnTo>
                  <a:close/>
                </a:path>
              </a:pathLst>
            </a:custGeom>
            <a:blipFill>
              <a:blip r:embed="rId5"/>
              <a:stretch>
                <a:fillRect l="0" t="-214" r="-2" b="-215"/>
              </a:stretch>
            </a:blipFill>
          </p:spPr>
        </p:sp>
      </p:grpSp>
      <p:sp>
        <p:nvSpPr>
          <p:cNvPr name="TextBox 16" id="16"/>
          <p:cNvSpPr txBox="true"/>
          <p:nvPr/>
        </p:nvSpPr>
        <p:spPr>
          <a:xfrm rot="0">
            <a:off x="9167517" y="4542082"/>
            <a:ext cx="2864048" cy="381862"/>
          </a:xfrm>
          <a:prstGeom prst="rect">
            <a:avLst/>
          </a:prstGeom>
        </p:spPr>
        <p:txBody>
          <a:bodyPr anchor="t" rtlCol="false" tIns="0" lIns="0" bIns="0" rIns="0">
            <a:spAutoFit/>
          </a:bodyPr>
          <a:lstStyle/>
          <a:p>
            <a:pPr algn="l">
              <a:lnSpc>
                <a:spcPts val="2933"/>
              </a:lnSpc>
            </a:pPr>
            <a:r>
              <a:rPr lang="en-US" sz="2387" b="true">
                <a:solidFill>
                  <a:srgbClr val="504C49"/>
                </a:solidFill>
                <a:latin typeface="Arimo Bold"/>
                <a:ea typeface="Arimo Bold"/>
                <a:cs typeface="Arimo Bold"/>
                <a:sym typeface="Arimo Bold"/>
              </a:rPr>
              <a:t>Downsample Cb, Cr</a:t>
            </a:r>
          </a:p>
        </p:txBody>
      </p:sp>
      <p:sp>
        <p:nvSpPr>
          <p:cNvPr name="TextBox 17" id="17"/>
          <p:cNvSpPr txBox="true"/>
          <p:nvPr/>
        </p:nvSpPr>
        <p:spPr>
          <a:xfrm rot="0">
            <a:off x="9167517" y="4963716"/>
            <a:ext cx="8128244" cy="384810"/>
          </a:xfrm>
          <a:prstGeom prst="rect">
            <a:avLst/>
          </a:prstGeom>
        </p:spPr>
        <p:txBody>
          <a:bodyPr anchor="t" rtlCol="false" tIns="0" lIns="0" bIns="0" rIns="0">
            <a:spAutoFit/>
          </a:bodyPr>
          <a:lstStyle/>
          <a:p>
            <a:pPr algn="l">
              <a:lnSpc>
                <a:spcPts val="3224"/>
              </a:lnSpc>
            </a:pPr>
            <a:r>
              <a:rPr lang="en-US" sz="2149">
                <a:solidFill>
                  <a:srgbClr val="504C49"/>
                </a:solidFill>
                <a:latin typeface="Source Serif Pro"/>
                <a:ea typeface="Source Serif Pro"/>
                <a:cs typeface="Source Serif Pro"/>
                <a:sym typeface="Source Serif Pro"/>
              </a:rPr>
              <a:t>Chroma channels downsampled by factor of 2 in both dimensions</a:t>
            </a:r>
          </a:p>
        </p:txBody>
      </p:sp>
      <p:grpSp>
        <p:nvGrpSpPr>
          <p:cNvPr name="Group 18" id="18"/>
          <p:cNvGrpSpPr/>
          <p:nvPr/>
        </p:nvGrpSpPr>
        <p:grpSpPr>
          <a:xfrm rot="0">
            <a:off x="7850238" y="5677491"/>
            <a:ext cx="1116359" cy="1339606"/>
            <a:chOff x="0" y="0"/>
            <a:chExt cx="1488478" cy="1786141"/>
          </a:xfrm>
        </p:grpSpPr>
        <p:sp>
          <p:nvSpPr>
            <p:cNvPr name="Freeform 19" id="19" descr="preencoded.png"/>
            <p:cNvSpPr/>
            <p:nvPr/>
          </p:nvSpPr>
          <p:spPr>
            <a:xfrm flipH="false" flipV="false" rot="0">
              <a:off x="0" y="0"/>
              <a:ext cx="1488440" cy="1786128"/>
            </a:xfrm>
            <a:custGeom>
              <a:avLst/>
              <a:gdLst/>
              <a:ahLst/>
              <a:cxnLst/>
              <a:rect r="r" b="b" t="t" l="l"/>
              <a:pathLst>
                <a:path h="1786128" w="1488440">
                  <a:moveTo>
                    <a:pt x="0" y="0"/>
                  </a:moveTo>
                  <a:lnTo>
                    <a:pt x="1488440" y="0"/>
                  </a:lnTo>
                  <a:lnTo>
                    <a:pt x="1488440" y="1786128"/>
                  </a:lnTo>
                  <a:lnTo>
                    <a:pt x="0" y="1786128"/>
                  </a:lnTo>
                  <a:lnTo>
                    <a:pt x="0" y="0"/>
                  </a:lnTo>
                  <a:close/>
                </a:path>
              </a:pathLst>
            </a:custGeom>
            <a:blipFill>
              <a:blip r:embed="rId6"/>
              <a:stretch>
                <a:fillRect l="0" t="-214" r="-2" b="-215"/>
              </a:stretch>
            </a:blipFill>
          </p:spPr>
        </p:sp>
      </p:grpSp>
      <p:sp>
        <p:nvSpPr>
          <p:cNvPr name="TextBox 20" id="20"/>
          <p:cNvSpPr txBox="true"/>
          <p:nvPr/>
        </p:nvSpPr>
        <p:spPr>
          <a:xfrm rot="0">
            <a:off x="9167517" y="5881687"/>
            <a:ext cx="2476143" cy="381862"/>
          </a:xfrm>
          <a:prstGeom prst="rect">
            <a:avLst/>
          </a:prstGeom>
        </p:spPr>
        <p:txBody>
          <a:bodyPr anchor="t" rtlCol="false" tIns="0" lIns="0" bIns="0" rIns="0">
            <a:spAutoFit/>
          </a:bodyPr>
          <a:lstStyle/>
          <a:p>
            <a:pPr algn="l">
              <a:lnSpc>
                <a:spcPts val="2933"/>
              </a:lnSpc>
            </a:pPr>
            <a:r>
              <a:rPr lang="en-US" sz="2387" b="true">
                <a:solidFill>
                  <a:srgbClr val="504C49"/>
                </a:solidFill>
                <a:latin typeface="Arimo Bold"/>
                <a:ea typeface="Arimo Bold"/>
                <a:cs typeface="Arimo Bold"/>
                <a:sym typeface="Arimo Bold"/>
              </a:rPr>
              <a:t>Full Y Resolution</a:t>
            </a:r>
          </a:p>
        </p:txBody>
      </p:sp>
      <p:sp>
        <p:nvSpPr>
          <p:cNvPr name="TextBox 21" id="21"/>
          <p:cNvSpPr txBox="true"/>
          <p:nvPr/>
        </p:nvSpPr>
        <p:spPr>
          <a:xfrm rot="0">
            <a:off x="9167517" y="6303321"/>
            <a:ext cx="8128244" cy="384810"/>
          </a:xfrm>
          <a:prstGeom prst="rect">
            <a:avLst/>
          </a:prstGeom>
        </p:spPr>
        <p:txBody>
          <a:bodyPr anchor="t" rtlCol="false" tIns="0" lIns="0" bIns="0" rIns="0">
            <a:spAutoFit/>
          </a:bodyPr>
          <a:lstStyle/>
          <a:p>
            <a:pPr algn="l">
              <a:lnSpc>
                <a:spcPts val="3224"/>
              </a:lnSpc>
            </a:pPr>
            <a:r>
              <a:rPr lang="en-US" sz="2149">
                <a:solidFill>
                  <a:srgbClr val="504C49"/>
                </a:solidFill>
                <a:latin typeface="Source Serif Pro"/>
                <a:ea typeface="Source Serif Pro"/>
                <a:cs typeface="Source Serif Pro"/>
                <a:sym typeface="Source Serif Pro"/>
              </a:rPr>
              <a:t>Luminance kept at full resolution for visual quality</a:t>
            </a:r>
          </a:p>
        </p:txBody>
      </p:sp>
      <p:sp>
        <p:nvSpPr>
          <p:cNvPr name="TextBox 22" id="22"/>
          <p:cNvSpPr txBox="true"/>
          <p:nvPr/>
        </p:nvSpPr>
        <p:spPr>
          <a:xfrm rot="0">
            <a:off x="7850238" y="7357320"/>
            <a:ext cx="5449338" cy="2495550"/>
          </a:xfrm>
          <a:prstGeom prst="rect">
            <a:avLst/>
          </a:prstGeom>
        </p:spPr>
        <p:txBody>
          <a:bodyPr anchor="t" rtlCol="false" tIns="0" lIns="0" bIns="0" rIns="0">
            <a:spAutoFit/>
          </a:bodyPr>
          <a:lstStyle/>
          <a:p>
            <a:pPr algn="l">
              <a:lnSpc>
                <a:spcPts val="3374"/>
              </a:lnSpc>
            </a:pPr>
            <a:r>
              <a:rPr lang="en-US" sz="2249">
                <a:solidFill>
                  <a:srgbClr val="504C49"/>
                </a:solidFill>
                <a:latin typeface="Source Serif Pro"/>
                <a:ea typeface="Source Serif Pro"/>
                <a:cs typeface="Source Serif Pro"/>
                <a:sym typeface="Source Serif Pro"/>
              </a:rPr>
              <a:t>This step alone reduces color data by </a:t>
            </a:r>
            <a:r>
              <a:rPr lang="en-US" sz="2249" b="true">
                <a:solidFill>
                  <a:srgbClr val="3E2513"/>
                </a:solidFill>
                <a:latin typeface="Source Serif Pro Bold"/>
                <a:ea typeface="Source Serif Pro Bold"/>
                <a:cs typeface="Source Serif Pro Bold"/>
                <a:sym typeface="Source Serif Pro Bold"/>
              </a:rPr>
              <a:t>4×</a:t>
            </a:r>
            <a:r>
              <a:rPr lang="en-US" sz="2249">
                <a:solidFill>
                  <a:srgbClr val="504C49"/>
                </a:solidFill>
                <a:latin typeface="Source Serif Pro"/>
                <a:ea typeface="Source Serif Pro"/>
                <a:cs typeface="Source Serif Pro"/>
                <a:sym typeface="Source Serif Pro"/>
              </a:rPr>
              <a:t> before any DCT is applied, dramatically shrinking file size with minimal perceptual quality loss. Higher quality settings reduce the amount of downsampling applied.</a:t>
            </a:r>
          </a:p>
        </p:txBody>
      </p:sp>
      <p:grpSp>
        <p:nvGrpSpPr>
          <p:cNvPr name="Group 23" id="23"/>
          <p:cNvGrpSpPr/>
          <p:nvPr/>
        </p:nvGrpSpPr>
        <p:grpSpPr>
          <a:xfrm rot="0">
            <a:off x="13693083" y="7243172"/>
            <a:ext cx="4130615" cy="2374760"/>
            <a:chOff x="0" y="0"/>
            <a:chExt cx="5507487" cy="3166347"/>
          </a:xfrm>
        </p:grpSpPr>
        <p:sp>
          <p:nvSpPr>
            <p:cNvPr name="Freeform 24" id="24"/>
            <p:cNvSpPr/>
            <p:nvPr/>
          </p:nvSpPr>
          <p:spPr>
            <a:xfrm flipH="false" flipV="false" rot="0">
              <a:off x="0" y="0"/>
              <a:ext cx="5507563" cy="3166462"/>
            </a:xfrm>
            <a:custGeom>
              <a:avLst/>
              <a:gdLst/>
              <a:ahLst/>
              <a:cxnLst/>
              <a:rect r="r" b="b" t="t" l="l"/>
              <a:pathLst>
                <a:path h="3166462" w="5507563">
                  <a:moveTo>
                    <a:pt x="0" y="46385"/>
                  </a:moveTo>
                  <a:cubicBezTo>
                    <a:pt x="0" y="20689"/>
                    <a:pt x="21830" y="0"/>
                    <a:pt x="48944" y="0"/>
                  </a:cubicBezTo>
                  <a:lnTo>
                    <a:pt x="5458626" y="0"/>
                  </a:lnTo>
                  <a:cubicBezTo>
                    <a:pt x="5485601" y="0"/>
                    <a:pt x="5507563" y="20689"/>
                    <a:pt x="5507563" y="46385"/>
                  </a:cubicBezTo>
                  <a:lnTo>
                    <a:pt x="5507563" y="3120080"/>
                  </a:lnTo>
                  <a:cubicBezTo>
                    <a:pt x="5507563" y="3145645"/>
                    <a:pt x="5485740" y="3166462"/>
                    <a:pt x="5458626" y="3166462"/>
                  </a:cubicBezTo>
                  <a:lnTo>
                    <a:pt x="48944" y="3166462"/>
                  </a:lnTo>
                  <a:cubicBezTo>
                    <a:pt x="21969" y="3166462"/>
                    <a:pt x="0" y="3145777"/>
                    <a:pt x="0" y="3120080"/>
                  </a:cubicBezTo>
                  <a:close/>
                </a:path>
              </a:pathLst>
            </a:custGeom>
            <a:solidFill>
              <a:srgbClr val="3E2513"/>
            </a:solidFill>
          </p:spPr>
        </p:sp>
      </p:grpSp>
      <p:sp>
        <p:nvSpPr>
          <p:cNvPr name="TextBox 25" id="25"/>
          <p:cNvSpPr txBox="true"/>
          <p:nvPr/>
        </p:nvSpPr>
        <p:spPr>
          <a:xfrm rot="0">
            <a:off x="13916320" y="7425033"/>
            <a:ext cx="2790977" cy="367751"/>
          </a:xfrm>
          <a:prstGeom prst="rect">
            <a:avLst/>
          </a:prstGeom>
        </p:spPr>
        <p:txBody>
          <a:bodyPr anchor="t" rtlCol="false" tIns="0" lIns="0" bIns="0" rIns="0">
            <a:spAutoFit/>
          </a:bodyPr>
          <a:lstStyle/>
          <a:p>
            <a:pPr algn="l">
              <a:lnSpc>
                <a:spcPts val="2687"/>
              </a:lnSpc>
            </a:pPr>
            <a:r>
              <a:rPr lang="en-US" sz="2187">
                <a:solidFill>
                  <a:srgbClr val="FFFFFF"/>
                </a:solidFill>
                <a:latin typeface="Arimo"/>
                <a:ea typeface="Arimo"/>
                <a:cs typeface="Arimo"/>
                <a:sym typeface="Arimo"/>
              </a:rPr>
              <a:t>Key Insight</a:t>
            </a:r>
          </a:p>
        </p:txBody>
      </p:sp>
      <p:sp>
        <p:nvSpPr>
          <p:cNvPr name="TextBox 26" id="26"/>
          <p:cNvSpPr txBox="true"/>
          <p:nvPr/>
        </p:nvSpPr>
        <p:spPr>
          <a:xfrm rot="0">
            <a:off x="13916320" y="7916609"/>
            <a:ext cx="3756731" cy="1512570"/>
          </a:xfrm>
          <a:prstGeom prst="rect">
            <a:avLst/>
          </a:prstGeom>
        </p:spPr>
        <p:txBody>
          <a:bodyPr anchor="t" rtlCol="false" tIns="0" lIns="0" bIns="0" rIns="0">
            <a:spAutoFit/>
          </a:bodyPr>
          <a:lstStyle/>
          <a:p>
            <a:pPr algn="l">
              <a:lnSpc>
                <a:spcPts val="3074"/>
              </a:lnSpc>
            </a:pPr>
            <a:r>
              <a:rPr lang="en-US" sz="2049">
                <a:solidFill>
                  <a:srgbClr val="FFFFFF"/>
                </a:solidFill>
                <a:latin typeface="Source Serif Pro"/>
                <a:ea typeface="Source Serif Pro"/>
                <a:cs typeface="Source Serif Pro"/>
                <a:sym typeface="Source Serif Pro"/>
              </a:rPr>
              <a:t>Human vision prioritizes brightness over color detail, making chroma downsampling highly effective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092541" y="2759135"/>
            <a:ext cx="235591" cy="1060399"/>
            <a:chOff x="0" y="0"/>
            <a:chExt cx="314122" cy="1413866"/>
          </a:xfrm>
        </p:grpSpPr>
        <p:sp>
          <p:nvSpPr>
            <p:cNvPr name="Freeform 7" id="7"/>
            <p:cNvSpPr/>
            <p:nvPr/>
          </p:nvSpPr>
          <p:spPr>
            <a:xfrm flipH="false" flipV="false" rot="0">
              <a:off x="0" y="0"/>
              <a:ext cx="314071" cy="1413764"/>
            </a:xfrm>
            <a:custGeom>
              <a:avLst/>
              <a:gdLst/>
              <a:ahLst/>
              <a:cxnLst/>
              <a:rect r="r" b="b" t="t" l="l"/>
              <a:pathLst>
                <a:path h="1413764" w="314071">
                  <a:moveTo>
                    <a:pt x="0" y="47117"/>
                  </a:moveTo>
                  <a:cubicBezTo>
                    <a:pt x="0" y="21082"/>
                    <a:pt x="21082" y="0"/>
                    <a:pt x="47117" y="0"/>
                  </a:cubicBezTo>
                  <a:lnTo>
                    <a:pt x="266954" y="0"/>
                  </a:lnTo>
                  <a:cubicBezTo>
                    <a:pt x="292989" y="0"/>
                    <a:pt x="314071" y="21082"/>
                    <a:pt x="314071" y="47117"/>
                  </a:cubicBezTo>
                  <a:lnTo>
                    <a:pt x="314071" y="1366647"/>
                  </a:lnTo>
                  <a:cubicBezTo>
                    <a:pt x="314071" y="1392682"/>
                    <a:pt x="292989" y="1413764"/>
                    <a:pt x="266954" y="1413764"/>
                  </a:cubicBezTo>
                  <a:lnTo>
                    <a:pt x="47117" y="1413764"/>
                  </a:lnTo>
                  <a:cubicBezTo>
                    <a:pt x="21082" y="1413764"/>
                    <a:pt x="0" y="1392682"/>
                    <a:pt x="0" y="1366647"/>
                  </a:cubicBezTo>
                  <a:close/>
                </a:path>
              </a:pathLst>
            </a:custGeom>
            <a:solidFill>
              <a:srgbClr val="F9F7F7"/>
            </a:solidFill>
          </p:spPr>
        </p:sp>
      </p:grpSp>
      <p:grpSp>
        <p:nvGrpSpPr>
          <p:cNvPr name="Group 8" id="8"/>
          <p:cNvGrpSpPr/>
          <p:nvPr/>
        </p:nvGrpSpPr>
        <p:grpSpPr>
          <a:xfrm rot="0">
            <a:off x="856950" y="2604506"/>
            <a:ext cx="706936" cy="706936"/>
            <a:chOff x="0" y="0"/>
            <a:chExt cx="942581" cy="942581"/>
          </a:xfrm>
        </p:grpSpPr>
        <p:sp>
          <p:nvSpPr>
            <p:cNvPr name="Freeform 9" id="9"/>
            <p:cNvSpPr/>
            <p:nvPr/>
          </p:nvSpPr>
          <p:spPr>
            <a:xfrm flipH="false" flipV="false" rot="0">
              <a:off x="0" y="0"/>
              <a:ext cx="942594" cy="942594"/>
            </a:xfrm>
            <a:custGeom>
              <a:avLst/>
              <a:gdLst/>
              <a:ahLst/>
              <a:cxnLst/>
              <a:rect r="r" b="b" t="t" l="l"/>
              <a:pathLst>
                <a:path h="942594" w="942594">
                  <a:moveTo>
                    <a:pt x="0" y="471297"/>
                  </a:moveTo>
                  <a:cubicBezTo>
                    <a:pt x="0" y="210947"/>
                    <a:pt x="210947" y="0"/>
                    <a:pt x="471297" y="0"/>
                  </a:cubicBezTo>
                  <a:cubicBezTo>
                    <a:pt x="731647" y="0"/>
                    <a:pt x="942594" y="210947"/>
                    <a:pt x="942594" y="471297"/>
                  </a:cubicBezTo>
                  <a:cubicBezTo>
                    <a:pt x="942594" y="731647"/>
                    <a:pt x="731520" y="942594"/>
                    <a:pt x="471297" y="942594"/>
                  </a:cubicBezTo>
                  <a:cubicBezTo>
                    <a:pt x="211074" y="942594"/>
                    <a:pt x="0" y="731520"/>
                    <a:pt x="0" y="471297"/>
                  </a:cubicBezTo>
                  <a:close/>
                </a:path>
              </a:pathLst>
            </a:custGeom>
            <a:solidFill>
              <a:srgbClr val="F9F7F7"/>
            </a:solidFill>
          </p:spPr>
        </p:sp>
      </p:grpSp>
      <p:sp>
        <p:nvSpPr>
          <p:cNvPr name="Freeform 10" id="10" descr="preencoded.png"/>
          <p:cNvSpPr/>
          <p:nvPr/>
        </p:nvSpPr>
        <p:spPr>
          <a:xfrm flipH="false" flipV="false" rot="0">
            <a:off x="1033610" y="2781309"/>
            <a:ext cx="353463" cy="353463"/>
          </a:xfrm>
          <a:custGeom>
            <a:avLst/>
            <a:gdLst/>
            <a:ahLst/>
            <a:cxnLst/>
            <a:rect r="r" b="b" t="t" l="l"/>
            <a:pathLst>
              <a:path h="353463" w="353463">
                <a:moveTo>
                  <a:pt x="0" y="0"/>
                </a:moveTo>
                <a:lnTo>
                  <a:pt x="353463" y="0"/>
                </a:lnTo>
                <a:lnTo>
                  <a:pt x="353463" y="353464"/>
                </a:lnTo>
                <a:lnTo>
                  <a:pt x="0" y="3534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1254859" y="6451280"/>
            <a:ext cx="235591" cy="1060399"/>
            <a:chOff x="0" y="0"/>
            <a:chExt cx="314122" cy="1413866"/>
          </a:xfrm>
        </p:grpSpPr>
        <p:sp>
          <p:nvSpPr>
            <p:cNvPr name="Freeform 12" id="12"/>
            <p:cNvSpPr/>
            <p:nvPr/>
          </p:nvSpPr>
          <p:spPr>
            <a:xfrm flipH="false" flipV="false" rot="0">
              <a:off x="0" y="0"/>
              <a:ext cx="314071" cy="1413764"/>
            </a:xfrm>
            <a:custGeom>
              <a:avLst/>
              <a:gdLst/>
              <a:ahLst/>
              <a:cxnLst/>
              <a:rect r="r" b="b" t="t" l="l"/>
              <a:pathLst>
                <a:path h="1413764" w="314071">
                  <a:moveTo>
                    <a:pt x="0" y="47117"/>
                  </a:moveTo>
                  <a:cubicBezTo>
                    <a:pt x="0" y="21082"/>
                    <a:pt x="21082" y="0"/>
                    <a:pt x="47117" y="0"/>
                  </a:cubicBezTo>
                  <a:lnTo>
                    <a:pt x="266954" y="0"/>
                  </a:lnTo>
                  <a:cubicBezTo>
                    <a:pt x="292989" y="0"/>
                    <a:pt x="314071" y="21082"/>
                    <a:pt x="314071" y="47117"/>
                  </a:cubicBezTo>
                  <a:lnTo>
                    <a:pt x="314071" y="1366647"/>
                  </a:lnTo>
                  <a:cubicBezTo>
                    <a:pt x="314071" y="1392682"/>
                    <a:pt x="292989" y="1413764"/>
                    <a:pt x="266954" y="1413764"/>
                  </a:cubicBezTo>
                  <a:lnTo>
                    <a:pt x="47117" y="1413764"/>
                  </a:lnTo>
                  <a:cubicBezTo>
                    <a:pt x="21082" y="1413764"/>
                    <a:pt x="0" y="1392682"/>
                    <a:pt x="0" y="1366647"/>
                  </a:cubicBezTo>
                  <a:close/>
                </a:path>
              </a:pathLst>
            </a:custGeom>
            <a:solidFill>
              <a:srgbClr val="F9F7F7"/>
            </a:solidFill>
          </p:spPr>
        </p:sp>
      </p:grpSp>
      <p:grpSp>
        <p:nvGrpSpPr>
          <p:cNvPr name="Group 13" id="13"/>
          <p:cNvGrpSpPr/>
          <p:nvPr/>
        </p:nvGrpSpPr>
        <p:grpSpPr>
          <a:xfrm rot="0">
            <a:off x="1019258" y="6296651"/>
            <a:ext cx="706936" cy="706936"/>
            <a:chOff x="0" y="0"/>
            <a:chExt cx="942581" cy="942581"/>
          </a:xfrm>
        </p:grpSpPr>
        <p:sp>
          <p:nvSpPr>
            <p:cNvPr name="Freeform 14" id="14"/>
            <p:cNvSpPr/>
            <p:nvPr/>
          </p:nvSpPr>
          <p:spPr>
            <a:xfrm flipH="false" flipV="false" rot="0">
              <a:off x="0" y="0"/>
              <a:ext cx="942594" cy="942594"/>
            </a:xfrm>
            <a:custGeom>
              <a:avLst/>
              <a:gdLst/>
              <a:ahLst/>
              <a:cxnLst/>
              <a:rect r="r" b="b" t="t" l="l"/>
              <a:pathLst>
                <a:path h="942594" w="942594">
                  <a:moveTo>
                    <a:pt x="0" y="471297"/>
                  </a:moveTo>
                  <a:cubicBezTo>
                    <a:pt x="0" y="210947"/>
                    <a:pt x="210947" y="0"/>
                    <a:pt x="471297" y="0"/>
                  </a:cubicBezTo>
                  <a:cubicBezTo>
                    <a:pt x="731647" y="0"/>
                    <a:pt x="942594" y="210947"/>
                    <a:pt x="942594" y="471297"/>
                  </a:cubicBezTo>
                  <a:cubicBezTo>
                    <a:pt x="942594" y="731647"/>
                    <a:pt x="731520" y="942594"/>
                    <a:pt x="471297" y="942594"/>
                  </a:cubicBezTo>
                  <a:cubicBezTo>
                    <a:pt x="211074" y="942594"/>
                    <a:pt x="0" y="731520"/>
                    <a:pt x="0" y="471297"/>
                  </a:cubicBezTo>
                  <a:close/>
                </a:path>
              </a:pathLst>
            </a:custGeom>
            <a:solidFill>
              <a:srgbClr val="F9F7F7"/>
            </a:solidFill>
          </p:spPr>
        </p:sp>
      </p:grpSp>
      <p:sp>
        <p:nvSpPr>
          <p:cNvPr name="Freeform 15" id="15" descr="preencoded.png"/>
          <p:cNvSpPr/>
          <p:nvPr/>
        </p:nvSpPr>
        <p:spPr>
          <a:xfrm flipH="false" flipV="false" rot="0">
            <a:off x="1195918" y="6473454"/>
            <a:ext cx="353463" cy="353463"/>
          </a:xfrm>
          <a:custGeom>
            <a:avLst/>
            <a:gdLst/>
            <a:ahLst/>
            <a:cxnLst/>
            <a:rect r="r" b="b" t="t" l="l"/>
            <a:pathLst>
              <a:path h="353463" w="353463">
                <a:moveTo>
                  <a:pt x="0" y="0"/>
                </a:moveTo>
                <a:lnTo>
                  <a:pt x="353463" y="0"/>
                </a:lnTo>
                <a:lnTo>
                  <a:pt x="353463" y="353464"/>
                </a:lnTo>
                <a:lnTo>
                  <a:pt x="0" y="353464"/>
                </a:lnTo>
                <a:lnTo>
                  <a:pt x="0" y="0"/>
                </a:lnTo>
                <a:close/>
              </a:path>
            </a:pathLst>
          </a:custGeom>
          <a:blipFill>
            <a:blip r:embed="rId5">
              <a:extLst>
                <a:ext uri="{96DAC541-7B7A-43D3-8B79-37D633B846F1}">
                  <asvg:svgBlip xmlns:asvg="http://schemas.microsoft.com/office/drawing/2016/SVG/main" r:embed="rId6"/>
                </a:ext>
              </a:extLst>
            </a:blip>
            <a:stretch>
              <a:fillRect l="-17106" t="0" r="-17106" b="0"/>
            </a:stretch>
          </a:blipFill>
        </p:spPr>
      </p:sp>
      <p:grpSp>
        <p:nvGrpSpPr>
          <p:cNvPr name="Group 16" id="16"/>
          <p:cNvGrpSpPr/>
          <p:nvPr/>
        </p:nvGrpSpPr>
        <p:grpSpPr>
          <a:xfrm rot="0">
            <a:off x="10486423" y="754104"/>
            <a:ext cx="235591" cy="1355674"/>
            <a:chOff x="0" y="0"/>
            <a:chExt cx="314122" cy="1807566"/>
          </a:xfrm>
        </p:grpSpPr>
        <p:sp>
          <p:nvSpPr>
            <p:cNvPr name="Freeform 17" id="17"/>
            <p:cNvSpPr/>
            <p:nvPr/>
          </p:nvSpPr>
          <p:spPr>
            <a:xfrm flipH="false" flipV="false" rot="0">
              <a:off x="0" y="0"/>
              <a:ext cx="314071" cy="1807464"/>
            </a:xfrm>
            <a:custGeom>
              <a:avLst/>
              <a:gdLst/>
              <a:ahLst/>
              <a:cxnLst/>
              <a:rect r="r" b="b" t="t" l="l"/>
              <a:pathLst>
                <a:path h="1807464" w="314071">
                  <a:moveTo>
                    <a:pt x="0" y="47117"/>
                  </a:moveTo>
                  <a:cubicBezTo>
                    <a:pt x="0" y="21082"/>
                    <a:pt x="21082" y="0"/>
                    <a:pt x="47117" y="0"/>
                  </a:cubicBezTo>
                  <a:lnTo>
                    <a:pt x="266954" y="0"/>
                  </a:lnTo>
                  <a:cubicBezTo>
                    <a:pt x="292989" y="0"/>
                    <a:pt x="314071" y="21082"/>
                    <a:pt x="314071" y="47117"/>
                  </a:cubicBezTo>
                  <a:lnTo>
                    <a:pt x="314071" y="1760347"/>
                  </a:lnTo>
                  <a:cubicBezTo>
                    <a:pt x="314071" y="1786382"/>
                    <a:pt x="292989" y="1807464"/>
                    <a:pt x="266954" y="1807464"/>
                  </a:cubicBezTo>
                  <a:lnTo>
                    <a:pt x="47117" y="1807464"/>
                  </a:lnTo>
                  <a:cubicBezTo>
                    <a:pt x="21082" y="1807464"/>
                    <a:pt x="0" y="1786382"/>
                    <a:pt x="0" y="1760347"/>
                  </a:cubicBezTo>
                  <a:close/>
                </a:path>
              </a:pathLst>
            </a:custGeom>
            <a:solidFill>
              <a:srgbClr val="F9F7F7"/>
            </a:solidFill>
          </p:spPr>
        </p:sp>
      </p:grpSp>
      <p:grpSp>
        <p:nvGrpSpPr>
          <p:cNvPr name="Group 18" id="18"/>
          <p:cNvGrpSpPr/>
          <p:nvPr/>
        </p:nvGrpSpPr>
        <p:grpSpPr>
          <a:xfrm rot="0">
            <a:off x="10250832" y="599475"/>
            <a:ext cx="706936" cy="706936"/>
            <a:chOff x="0" y="0"/>
            <a:chExt cx="942581" cy="942581"/>
          </a:xfrm>
        </p:grpSpPr>
        <p:sp>
          <p:nvSpPr>
            <p:cNvPr name="Freeform 19" id="19"/>
            <p:cNvSpPr/>
            <p:nvPr/>
          </p:nvSpPr>
          <p:spPr>
            <a:xfrm flipH="false" flipV="false" rot="0">
              <a:off x="0" y="0"/>
              <a:ext cx="942594" cy="942594"/>
            </a:xfrm>
            <a:custGeom>
              <a:avLst/>
              <a:gdLst/>
              <a:ahLst/>
              <a:cxnLst/>
              <a:rect r="r" b="b" t="t" l="l"/>
              <a:pathLst>
                <a:path h="942594" w="942594">
                  <a:moveTo>
                    <a:pt x="0" y="471297"/>
                  </a:moveTo>
                  <a:cubicBezTo>
                    <a:pt x="0" y="210947"/>
                    <a:pt x="210947" y="0"/>
                    <a:pt x="471297" y="0"/>
                  </a:cubicBezTo>
                  <a:cubicBezTo>
                    <a:pt x="731647" y="0"/>
                    <a:pt x="942594" y="210947"/>
                    <a:pt x="942594" y="471297"/>
                  </a:cubicBezTo>
                  <a:cubicBezTo>
                    <a:pt x="942594" y="731647"/>
                    <a:pt x="731520" y="942594"/>
                    <a:pt x="471297" y="942594"/>
                  </a:cubicBezTo>
                  <a:cubicBezTo>
                    <a:pt x="211074" y="942594"/>
                    <a:pt x="0" y="731520"/>
                    <a:pt x="0" y="471297"/>
                  </a:cubicBezTo>
                  <a:close/>
                </a:path>
              </a:pathLst>
            </a:custGeom>
            <a:solidFill>
              <a:srgbClr val="F9F7F7"/>
            </a:solidFill>
          </p:spPr>
        </p:sp>
      </p:grpSp>
      <p:sp>
        <p:nvSpPr>
          <p:cNvPr name="Freeform 20" id="20" descr="preencoded.png"/>
          <p:cNvSpPr/>
          <p:nvPr/>
        </p:nvSpPr>
        <p:spPr>
          <a:xfrm flipH="false" flipV="false" rot="0">
            <a:off x="10427568" y="785365"/>
            <a:ext cx="353463" cy="353463"/>
          </a:xfrm>
          <a:custGeom>
            <a:avLst/>
            <a:gdLst/>
            <a:ahLst/>
            <a:cxnLst/>
            <a:rect r="r" b="b" t="t" l="l"/>
            <a:pathLst>
              <a:path h="353463" w="353463">
                <a:moveTo>
                  <a:pt x="0" y="0"/>
                </a:moveTo>
                <a:lnTo>
                  <a:pt x="353464" y="0"/>
                </a:lnTo>
                <a:lnTo>
                  <a:pt x="353464" y="353463"/>
                </a:lnTo>
                <a:lnTo>
                  <a:pt x="0" y="353463"/>
                </a:lnTo>
                <a:lnTo>
                  <a:pt x="0" y="0"/>
                </a:lnTo>
                <a:close/>
              </a:path>
            </a:pathLst>
          </a:custGeom>
          <a:blipFill>
            <a:blip r:embed="rId7">
              <a:extLst>
                <a:ext uri="{96DAC541-7B7A-43D3-8B79-37D633B846F1}">
                  <asvg:svgBlip xmlns:asvg="http://schemas.microsoft.com/office/drawing/2016/SVG/main" r:embed="rId8"/>
                </a:ext>
              </a:extLst>
            </a:blip>
            <a:stretch>
              <a:fillRect l="-1315" t="0" r="-1317" b="0"/>
            </a:stretch>
          </a:blipFill>
        </p:spPr>
      </p:sp>
      <p:sp>
        <p:nvSpPr>
          <p:cNvPr name="Freeform 21" id="21"/>
          <p:cNvSpPr/>
          <p:nvPr/>
        </p:nvSpPr>
        <p:spPr>
          <a:xfrm flipH="false" flipV="false" rot="0">
            <a:off x="3118506" y="3236421"/>
            <a:ext cx="4174801" cy="3220815"/>
          </a:xfrm>
          <a:custGeom>
            <a:avLst/>
            <a:gdLst/>
            <a:ahLst/>
            <a:cxnLst/>
            <a:rect r="r" b="b" t="t" l="l"/>
            <a:pathLst>
              <a:path h="3220815" w="4174801">
                <a:moveTo>
                  <a:pt x="0" y="0"/>
                </a:moveTo>
                <a:lnTo>
                  <a:pt x="4174801" y="0"/>
                </a:lnTo>
                <a:lnTo>
                  <a:pt x="4174801" y="3220815"/>
                </a:lnTo>
                <a:lnTo>
                  <a:pt x="0" y="3220815"/>
                </a:lnTo>
                <a:lnTo>
                  <a:pt x="0" y="0"/>
                </a:lnTo>
                <a:close/>
              </a:path>
            </a:pathLst>
          </a:custGeom>
          <a:blipFill>
            <a:blip r:embed="rId9"/>
            <a:stretch>
              <a:fillRect l="0" t="-1766" r="0" b="-1766"/>
            </a:stretch>
          </a:blipFill>
        </p:spPr>
      </p:sp>
      <p:sp>
        <p:nvSpPr>
          <p:cNvPr name="Freeform 22" id="22"/>
          <p:cNvSpPr/>
          <p:nvPr/>
        </p:nvSpPr>
        <p:spPr>
          <a:xfrm flipH="false" flipV="false" rot="0">
            <a:off x="3118506" y="6904165"/>
            <a:ext cx="4252008" cy="3269300"/>
          </a:xfrm>
          <a:custGeom>
            <a:avLst/>
            <a:gdLst/>
            <a:ahLst/>
            <a:cxnLst/>
            <a:rect r="r" b="b" t="t" l="l"/>
            <a:pathLst>
              <a:path h="3269300" w="4252008">
                <a:moveTo>
                  <a:pt x="0" y="0"/>
                </a:moveTo>
                <a:lnTo>
                  <a:pt x="4252009" y="0"/>
                </a:lnTo>
                <a:lnTo>
                  <a:pt x="4252009" y="3269300"/>
                </a:lnTo>
                <a:lnTo>
                  <a:pt x="0" y="3269300"/>
                </a:lnTo>
                <a:lnTo>
                  <a:pt x="0" y="0"/>
                </a:lnTo>
                <a:close/>
              </a:path>
            </a:pathLst>
          </a:custGeom>
          <a:blipFill>
            <a:blip r:embed="rId10"/>
            <a:stretch>
              <a:fillRect l="0" t="-8111" r="0" b="0"/>
            </a:stretch>
          </a:blipFill>
        </p:spPr>
      </p:sp>
      <p:sp>
        <p:nvSpPr>
          <p:cNvPr name="Freeform 23" id="23"/>
          <p:cNvSpPr/>
          <p:nvPr/>
        </p:nvSpPr>
        <p:spPr>
          <a:xfrm flipH="false" flipV="false" rot="0">
            <a:off x="10957768" y="3708135"/>
            <a:ext cx="6120332" cy="4342995"/>
          </a:xfrm>
          <a:custGeom>
            <a:avLst/>
            <a:gdLst/>
            <a:ahLst/>
            <a:cxnLst/>
            <a:rect r="r" b="b" t="t" l="l"/>
            <a:pathLst>
              <a:path h="4342995" w="6120332">
                <a:moveTo>
                  <a:pt x="0" y="0"/>
                </a:moveTo>
                <a:lnTo>
                  <a:pt x="6120332" y="0"/>
                </a:lnTo>
                <a:lnTo>
                  <a:pt x="6120332" y="4342994"/>
                </a:lnTo>
                <a:lnTo>
                  <a:pt x="0" y="4342994"/>
                </a:lnTo>
                <a:lnTo>
                  <a:pt x="0" y="0"/>
                </a:lnTo>
                <a:close/>
              </a:path>
            </a:pathLst>
          </a:custGeom>
          <a:blipFill>
            <a:blip r:embed="rId11"/>
            <a:stretch>
              <a:fillRect l="0" t="0" r="-296" b="0"/>
            </a:stretch>
          </a:blipFill>
        </p:spPr>
      </p:sp>
      <p:sp>
        <p:nvSpPr>
          <p:cNvPr name="TextBox 24" id="24"/>
          <p:cNvSpPr txBox="true"/>
          <p:nvPr/>
        </p:nvSpPr>
        <p:spPr>
          <a:xfrm rot="0">
            <a:off x="951190" y="489070"/>
            <a:ext cx="8192810" cy="865557"/>
          </a:xfrm>
          <a:prstGeom prst="rect">
            <a:avLst/>
          </a:prstGeom>
        </p:spPr>
        <p:txBody>
          <a:bodyPr anchor="t" rtlCol="false" tIns="0" lIns="0" bIns="0" rIns="0">
            <a:spAutoFit/>
          </a:bodyPr>
          <a:lstStyle/>
          <a:p>
            <a:pPr algn="l">
              <a:lnSpc>
                <a:spcPts val="6744"/>
              </a:lnSpc>
            </a:pPr>
            <a:r>
              <a:rPr lang="en-US" sz="5424">
                <a:solidFill>
                  <a:srgbClr val="201B18"/>
                </a:solidFill>
                <a:latin typeface="Arimo"/>
                <a:ea typeface="Arimo"/>
                <a:cs typeface="Arimo"/>
                <a:sym typeface="Arimo"/>
              </a:rPr>
              <a:t>Discrete Cosine Transform</a:t>
            </a:r>
          </a:p>
        </p:txBody>
      </p:sp>
      <p:sp>
        <p:nvSpPr>
          <p:cNvPr name="TextBox 25" id="25"/>
          <p:cNvSpPr txBox="true"/>
          <p:nvPr/>
        </p:nvSpPr>
        <p:spPr>
          <a:xfrm rot="0">
            <a:off x="974827" y="1400032"/>
            <a:ext cx="8192810" cy="1067353"/>
          </a:xfrm>
          <a:prstGeom prst="rect">
            <a:avLst/>
          </a:prstGeom>
        </p:spPr>
        <p:txBody>
          <a:bodyPr anchor="t" rtlCol="false" tIns="0" lIns="0" bIns="0" rIns="0">
            <a:spAutoFit/>
          </a:bodyPr>
          <a:lstStyle/>
          <a:p>
            <a:pPr algn="l">
              <a:lnSpc>
                <a:spcPts val="2906"/>
              </a:lnSpc>
            </a:pPr>
            <a:r>
              <a:rPr lang="en-US" sz="1832">
                <a:solidFill>
                  <a:srgbClr val="504C49"/>
                </a:solidFill>
                <a:latin typeface="Source Serif Pro"/>
                <a:ea typeface="Source Serif Pro"/>
                <a:cs typeface="Source Serif Pro"/>
                <a:sym typeface="Source Serif Pro"/>
              </a:rPr>
              <a:t>The DCT transforms image data from the spatial domain into the frequency domain, enabling efficient compression by separating important low-frequency information from discardable high-frequency details.</a:t>
            </a:r>
          </a:p>
        </p:txBody>
      </p:sp>
      <p:sp>
        <p:nvSpPr>
          <p:cNvPr name="TextBox 26" id="26"/>
          <p:cNvSpPr txBox="true"/>
          <p:nvPr/>
        </p:nvSpPr>
        <p:spPr>
          <a:xfrm rot="0">
            <a:off x="1726194" y="2716820"/>
            <a:ext cx="6002893" cy="405302"/>
          </a:xfrm>
          <a:prstGeom prst="rect">
            <a:avLst/>
          </a:prstGeom>
        </p:spPr>
        <p:txBody>
          <a:bodyPr anchor="t" rtlCol="false" tIns="0" lIns="0" bIns="0" rIns="0">
            <a:spAutoFit/>
          </a:bodyPr>
          <a:lstStyle/>
          <a:p>
            <a:pPr algn="l">
              <a:lnSpc>
                <a:spcPts val="3123"/>
              </a:lnSpc>
            </a:pPr>
            <a:r>
              <a:rPr lang="en-US" sz="2512">
                <a:solidFill>
                  <a:srgbClr val="504C49"/>
                </a:solidFill>
                <a:latin typeface="Arimo"/>
                <a:ea typeface="Arimo"/>
                <a:cs typeface="Arimo"/>
                <a:sym typeface="Arimo"/>
              </a:rPr>
              <a:t>Step 1: Pick an 8×8 block from your image</a:t>
            </a:r>
          </a:p>
        </p:txBody>
      </p:sp>
      <p:sp>
        <p:nvSpPr>
          <p:cNvPr name="TextBox 27" id="27"/>
          <p:cNvSpPr txBox="true"/>
          <p:nvPr/>
        </p:nvSpPr>
        <p:spPr>
          <a:xfrm rot="0">
            <a:off x="1840971" y="6421616"/>
            <a:ext cx="5888117" cy="405302"/>
          </a:xfrm>
          <a:prstGeom prst="rect">
            <a:avLst/>
          </a:prstGeom>
        </p:spPr>
        <p:txBody>
          <a:bodyPr anchor="t" rtlCol="false" tIns="0" lIns="0" bIns="0" rIns="0">
            <a:spAutoFit/>
          </a:bodyPr>
          <a:lstStyle/>
          <a:p>
            <a:pPr algn="l">
              <a:lnSpc>
                <a:spcPts val="3123"/>
              </a:lnSpc>
            </a:pPr>
            <a:r>
              <a:rPr lang="en-US" sz="2512">
                <a:solidFill>
                  <a:srgbClr val="504C49"/>
                </a:solidFill>
                <a:latin typeface="Arimo"/>
                <a:ea typeface="Arimo"/>
                <a:cs typeface="Arimo"/>
                <a:sym typeface="Arimo"/>
              </a:rPr>
              <a:t>Step 2: Subtract 128 (center around zero)</a:t>
            </a:r>
          </a:p>
        </p:txBody>
      </p:sp>
      <p:sp>
        <p:nvSpPr>
          <p:cNvPr name="TextBox 28" id="28"/>
          <p:cNvSpPr txBox="true"/>
          <p:nvPr/>
        </p:nvSpPr>
        <p:spPr>
          <a:xfrm rot="0">
            <a:off x="11181596" y="767953"/>
            <a:ext cx="4274344" cy="405302"/>
          </a:xfrm>
          <a:prstGeom prst="rect">
            <a:avLst/>
          </a:prstGeom>
        </p:spPr>
        <p:txBody>
          <a:bodyPr anchor="t" rtlCol="false" tIns="0" lIns="0" bIns="0" rIns="0">
            <a:spAutoFit/>
          </a:bodyPr>
          <a:lstStyle/>
          <a:p>
            <a:pPr algn="l">
              <a:lnSpc>
                <a:spcPts val="3123"/>
              </a:lnSpc>
            </a:pPr>
            <a:r>
              <a:rPr lang="en-US" sz="2512">
                <a:solidFill>
                  <a:srgbClr val="504C49"/>
                </a:solidFill>
                <a:latin typeface="Arimo"/>
                <a:ea typeface="Arimo"/>
                <a:cs typeface="Arimo"/>
                <a:sym typeface="Arimo"/>
              </a:rPr>
              <a:t>Step 3: </a:t>
            </a:r>
            <a:r>
              <a:rPr lang="en-US" sz="2512">
                <a:solidFill>
                  <a:srgbClr val="504C49"/>
                </a:solidFill>
                <a:latin typeface="Arimo"/>
                <a:ea typeface="Arimo"/>
                <a:cs typeface="Arimo"/>
                <a:sym typeface="Arimo"/>
              </a:rPr>
              <a:t>Coefficient Calculation</a:t>
            </a:r>
          </a:p>
        </p:txBody>
      </p:sp>
      <p:sp>
        <p:nvSpPr>
          <p:cNvPr name="TextBox 29" id="29"/>
          <p:cNvSpPr txBox="true"/>
          <p:nvPr/>
        </p:nvSpPr>
        <p:spPr>
          <a:xfrm rot="0">
            <a:off x="11181596" y="1297477"/>
            <a:ext cx="6452001" cy="2167985"/>
          </a:xfrm>
          <a:prstGeom prst="rect">
            <a:avLst/>
          </a:prstGeom>
        </p:spPr>
        <p:txBody>
          <a:bodyPr anchor="t" rtlCol="false" tIns="0" lIns="0" bIns="0" rIns="0">
            <a:spAutoFit/>
          </a:bodyPr>
          <a:lstStyle/>
          <a:p>
            <a:pPr algn="l">
              <a:lnSpc>
                <a:spcPts val="3509"/>
              </a:lnSpc>
            </a:pPr>
            <a:r>
              <a:rPr lang="en-US" sz="2212">
                <a:solidFill>
                  <a:srgbClr val="504C49"/>
                </a:solidFill>
                <a:latin typeface="Source Serif Pro"/>
                <a:ea typeface="Source Serif Pro"/>
                <a:cs typeface="Source Serif Pro"/>
                <a:sym typeface="Source Serif Pro"/>
              </a:rPr>
              <a:t>DCT computes coefficients representing frequency component magnitudes.</a:t>
            </a:r>
          </a:p>
          <a:p>
            <a:pPr algn="l">
              <a:lnSpc>
                <a:spcPts val="3509"/>
              </a:lnSpc>
            </a:pPr>
            <a:r>
              <a:rPr lang="en-US" sz="2212">
                <a:solidFill>
                  <a:srgbClr val="504C49"/>
                </a:solidFill>
                <a:latin typeface="Source Serif Pro"/>
                <a:ea typeface="Source Serif Pro"/>
                <a:cs typeface="Source Serif Pro"/>
                <a:sym typeface="Source Serif Pro"/>
              </a:rPr>
              <a:t>The 8×8 block of pixels becomes an 8×8 block of coefficients. Top-left = DC (average brightness). As you move right/down, frequency increases.</a:t>
            </a:r>
          </a:p>
        </p:txBody>
      </p:sp>
      <p:sp>
        <p:nvSpPr>
          <p:cNvPr name="TextBox 30" id="30"/>
          <p:cNvSpPr txBox="true"/>
          <p:nvPr/>
        </p:nvSpPr>
        <p:spPr>
          <a:xfrm rot="0">
            <a:off x="8842477" y="8336879"/>
            <a:ext cx="9445523" cy="1648986"/>
          </a:xfrm>
          <a:prstGeom prst="rect">
            <a:avLst/>
          </a:prstGeom>
        </p:spPr>
        <p:txBody>
          <a:bodyPr anchor="t" rtlCol="false" tIns="0" lIns="0" bIns="0" rIns="0">
            <a:spAutoFit/>
          </a:bodyPr>
          <a:lstStyle/>
          <a:p>
            <a:pPr algn="l">
              <a:lnSpc>
                <a:spcPts val="3350"/>
              </a:lnSpc>
            </a:pPr>
            <a:r>
              <a:rPr lang="en-US" sz="2112">
                <a:solidFill>
                  <a:srgbClr val="504C49"/>
                </a:solidFill>
                <a:latin typeface="Source Serif Pro"/>
                <a:ea typeface="Source Serif Pro"/>
                <a:cs typeface="Source Serif Pro"/>
                <a:sym typeface="Source Serif Pro"/>
              </a:rPr>
              <a:t>Low-frequency coefficients (top-left) carry most visual energy and remain intact. High-frequency coefficients (bottom-right) are usually small and often discarded during quantization, representing fine details imperceptible to human vision.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5253" y="1028700"/>
            <a:ext cx="7791453" cy="8321979"/>
          </a:xfrm>
          <a:custGeom>
            <a:avLst/>
            <a:gdLst/>
            <a:ahLst/>
            <a:cxnLst/>
            <a:rect r="r" b="b" t="t" l="l"/>
            <a:pathLst>
              <a:path h="8321979" w="7791453">
                <a:moveTo>
                  <a:pt x="0" y="0"/>
                </a:moveTo>
                <a:lnTo>
                  <a:pt x="7791453" y="0"/>
                </a:lnTo>
                <a:lnTo>
                  <a:pt x="7791453" y="8321979"/>
                </a:lnTo>
                <a:lnTo>
                  <a:pt x="0" y="8321979"/>
                </a:lnTo>
                <a:lnTo>
                  <a:pt x="0" y="0"/>
                </a:lnTo>
                <a:close/>
              </a:path>
            </a:pathLst>
          </a:custGeom>
          <a:blipFill>
            <a:blip r:embed="rId2"/>
            <a:stretch>
              <a:fillRect l="0" t="0" r="0" b="0"/>
            </a:stretch>
          </a:blipFill>
        </p:spPr>
      </p:sp>
      <p:sp>
        <p:nvSpPr>
          <p:cNvPr name="TextBox 3" id="3"/>
          <p:cNvSpPr txBox="true"/>
          <p:nvPr/>
        </p:nvSpPr>
        <p:spPr>
          <a:xfrm rot="0">
            <a:off x="1028700" y="2958729"/>
            <a:ext cx="6367926" cy="4509546"/>
          </a:xfrm>
          <a:prstGeom prst="rect">
            <a:avLst/>
          </a:prstGeom>
        </p:spPr>
        <p:txBody>
          <a:bodyPr anchor="t" rtlCol="false" tIns="0" lIns="0" bIns="0" rIns="0">
            <a:spAutoFit/>
          </a:bodyPr>
          <a:lstStyle/>
          <a:p>
            <a:pPr algn="l">
              <a:lnSpc>
                <a:spcPts val="3916"/>
              </a:lnSpc>
            </a:pPr>
            <a:r>
              <a:rPr lang="en-US" sz="3916">
                <a:solidFill>
                  <a:srgbClr val="3E2513"/>
                </a:solidFill>
                <a:latin typeface="Arimo"/>
                <a:ea typeface="Arimo"/>
                <a:cs typeface="Arimo"/>
                <a:sym typeface="Arimo"/>
              </a:rPr>
              <a:t>What this shows :</a:t>
            </a:r>
          </a:p>
          <a:p>
            <a:pPr algn="l">
              <a:lnSpc>
                <a:spcPts val="3916"/>
              </a:lnSpc>
            </a:pPr>
          </a:p>
          <a:p>
            <a:pPr algn="l" marL="845499" indent="-422750" lvl="1">
              <a:lnSpc>
                <a:spcPts val="3916"/>
              </a:lnSpc>
              <a:buFont typeface="Arial"/>
              <a:buChar char="•"/>
            </a:pPr>
            <a:r>
              <a:rPr lang="en-US" sz="3916">
                <a:solidFill>
                  <a:srgbClr val="3E2513"/>
                </a:solidFill>
                <a:latin typeface="Arimo"/>
                <a:ea typeface="Arimo"/>
                <a:cs typeface="Arimo"/>
                <a:sym typeface="Arimo"/>
              </a:rPr>
              <a:t>Each small block is a </a:t>
            </a:r>
            <a:r>
              <a:rPr lang="en-US" b="true" sz="3916">
                <a:solidFill>
                  <a:srgbClr val="3E2513"/>
                </a:solidFill>
                <a:latin typeface="Arimo Bold"/>
                <a:ea typeface="Arimo Bold"/>
                <a:cs typeface="Arimo Bold"/>
                <a:sym typeface="Arimo Bold"/>
              </a:rPr>
              <a:t>DCT basis function</a:t>
            </a:r>
            <a:r>
              <a:rPr lang="en-US" sz="3916">
                <a:solidFill>
                  <a:srgbClr val="3E2513"/>
                </a:solidFill>
                <a:latin typeface="Arimo"/>
                <a:ea typeface="Arimo"/>
                <a:cs typeface="Arimo"/>
                <a:sym typeface="Arimo"/>
              </a:rPr>
              <a:t> (filter)</a:t>
            </a:r>
          </a:p>
          <a:p>
            <a:pPr algn="l" marL="845499" indent="-422750" lvl="1">
              <a:lnSpc>
                <a:spcPts val="3916"/>
              </a:lnSpc>
              <a:buFont typeface="Arial"/>
              <a:buChar char="•"/>
            </a:pPr>
            <a:r>
              <a:rPr lang="en-US" sz="3916">
                <a:solidFill>
                  <a:srgbClr val="3E2513"/>
                </a:solidFill>
                <a:latin typeface="Arimo"/>
                <a:ea typeface="Arimo"/>
                <a:cs typeface="Arimo"/>
                <a:sym typeface="Arimo"/>
              </a:rPr>
              <a:t>Used to transform image data from spatial domain → frequency domain</a:t>
            </a:r>
          </a:p>
          <a:p>
            <a:pPr algn="l">
              <a:lnSpc>
                <a:spcPts val="391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91532" y="1866243"/>
            <a:ext cx="669722" cy="28575"/>
            <a:chOff x="0" y="0"/>
            <a:chExt cx="892962" cy="38100"/>
          </a:xfrm>
        </p:grpSpPr>
        <p:sp>
          <p:nvSpPr>
            <p:cNvPr name="Freeform 3" id="3"/>
            <p:cNvSpPr/>
            <p:nvPr/>
          </p:nvSpPr>
          <p:spPr>
            <a:xfrm flipH="false" flipV="false" rot="0">
              <a:off x="0" y="0"/>
              <a:ext cx="892937" cy="38100"/>
            </a:xfrm>
            <a:custGeom>
              <a:avLst/>
              <a:gdLst/>
              <a:ahLst/>
              <a:cxnLst/>
              <a:rect r="r" b="b" t="t" l="l"/>
              <a:pathLst>
                <a:path h="38100" w="892937">
                  <a:moveTo>
                    <a:pt x="0" y="19050"/>
                  </a:moveTo>
                  <a:cubicBezTo>
                    <a:pt x="0" y="8509"/>
                    <a:pt x="8509" y="0"/>
                    <a:pt x="19050" y="0"/>
                  </a:cubicBezTo>
                  <a:lnTo>
                    <a:pt x="873887" y="0"/>
                  </a:lnTo>
                  <a:cubicBezTo>
                    <a:pt x="884428" y="0"/>
                    <a:pt x="892937" y="8509"/>
                    <a:pt x="892937" y="19050"/>
                  </a:cubicBezTo>
                  <a:cubicBezTo>
                    <a:pt x="892937" y="29591"/>
                    <a:pt x="884428" y="38100"/>
                    <a:pt x="873887" y="38100"/>
                  </a:cubicBezTo>
                  <a:lnTo>
                    <a:pt x="19050" y="38100"/>
                  </a:lnTo>
                  <a:cubicBezTo>
                    <a:pt x="8509" y="38100"/>
                    <a:pt x="0" y="29591"/>
                    <a:pt x="0" y="19050"/>
                  </a:cubicBezTo>
                  <a:close/>
                </a:path>
              </a:pathLst>
            </a:custGeom>
            <a:solidFill>
              <a:srgbClr val="D8D4D4"/>
            </a:solidFill>
          </p:spPr>
        </p:sp>
      </p:grpSp>
      <p:grpSp>
        <p:nvGrpSpPr>
          <p:cNvPr name="Group 4" id="4"/>
          <p:cNvGrpSpPr/>
          <p:nvPr/>
        </p:nvGrpSpPr>
        <p:grpSpPr>
          <a:xfrm rot="0">
            <a:off x="317816" y="1629461"/>
            <a:ext cx="502291" cy="502291"/>
            <a:chOff x="0" y="0"/>
            <a:chExt cx="669722" cy="669722"/>
          </a:xfrm>
        </p:grpSpPr>
        <p:sp>
          <p:nvSpPr>
            <p:cNvPr name="Freeform 5" id="5"/>
            <p:cNvSpPr/>
            <p:nvPr/>
          </p:nvSpPr>
          <p:spPr>
            <a:xfrm flipH="false" flipV="false" rot="0">
              <a:off x="0" y="0"/>
              <a:ext cx="669798" cy="669798"/>
            </a:xfrm>
            <a:custGeom>
              <a:avLst/>
              <a:gdLst/>
              <a:ahLst/>
              <a:cxnLst/>
              <a:rect r="r" b="b" t="t" l="l"/>
              <a:pathLst>
                <a:path h="669798" w="669798">
                  <a:moveTo>
                    <a:pt x="0" y="44704"/>
                  </a:moveTo>
                  <a:cubicBezTo>
                    <a:pt x="0" y="19939"/>
                    <a:pt x="19939" y="0"/>
                    <a:pt x="44704" y="0"/>
                  </a:cubicBezTo>
                  <a:lnTo>
                    <a:pt x="625094" y="0"/>
                  </a:lnTo>
                  <a:cubicBezTo>
                    <a:pt x="649732" y="0"/>
                    <a:pt x="669798" y="19939"/>
                    <a:pt x="669798" y="44704"/>
                  </a:cubicBezTo>
                  <a:lnTo>
                    <a:pt x="669798" y="625094"/>
                  </a:lnTo>
                  <a:cubicBezTo>
                    <a:pt x="669798" y="649732"/>
                    <a:pt x="649859" y="669798"/>
                    <a:pt x="625094" y="669798"/>
                  </a:cubicBezTo>
                  <a:lnTo>
                    <a:pt x="44704" y="669798"/>
                  </a:lnTo>
                  <a:cubicBezTo>
                    <a:pt x="19939" y="669671"/>
                    <a:pt x="0" y="649732"/>
                    <a:pt x="0" y="625094"/>
                  </a:cubicBezTo>
                  <a:close/>
                </a:path>
              </a:pathLst>
            </a:custGeom>
            <a:solidFill>
              <a:srgbClr val="F9F7F7"/>
            </a:solidFill>
          </p:spPr>
        </p:sp>
      </p:grpSp>
      <p:grpSp>
        <p:nvGrpSpPr>
          <p:cNvPr name="Group 6" id="6"/>
          <p:cNvGrpSpPr/>
          <p:nvPr/>
        </p:nvGrpSpPr>
        <p:grpSpPr>
          <a:xfrm rot="0">
            <a:off x="401455" y="1671199"/>
            <a:ext cx="334861" cy="418652"/>
            <a:chOff x="0" y="0"/>
            <a:chExt cx="446481" cy="558203"/>
          </a:xfrm>
        </p:grpSpPr>
        <p:sp>
          <p:nvSpPr>
            <p:cNvPr name="Freeform 7" id="7"/>
            <p:cNvSpPr/>
            <p:nvPr/>
          </p:nvSpPr>
          <p:spPr>
            <a:xfrm flipH="false" flipV="false" rot="0">
              <a:off x="0" y="0"/>
              <a:ext cx="446485" cy="558205"/>
            </a:xfrm>
            <a:custGeom>
              <a:avLst/>
              <a:gdLst/>
              <a:ahLst/>
              <a:cxnLst/>
              <a:rect r="r" b="b" t="t" l="l"/>
              <a:pathLst>
                <a:path h="558205" w="446485">
                  <a:moveTo>
                    <a:pt x="0" y="0"/>
                  </a:moveTo>
                  <a:lnTo>
                    <a:pt x="446485" y="0"/>
                  </a:lnTo>
                  <a:lnTo>
                    <a:pt x="446485" y="558205"/>
                  </a:lnTo>
                  <a:lnTo>
                    <a:pt x="0" y="558205"/>
                  </a:lnTo>
                  <a:close/>
                </a:path>
              </a:pathLst>
            </a:custGeom>
            <a:blipFill>
              <a:blip r:embed="rId3">
                <a:alphaModFix amt="0"/>
              </a:blip>
              <a:stretch>
                <a:fillRect l="-110407" t="0" r="-110406" b="0"/>
              </a:stretch>
            </a:blipFill>
          </p:spPr>
        </p:sp>
        <p:sp>
          <p:nvSpPr>
            <p:cNvPr name="TextBox 8" id="8"/>
            <p:cNvSpPr txBox="true"/>
            <p:nvPr/>
          </p:nvSpPr>
          <p:spPr>
            <a:xfrm>
              <a:off x="0" y="28575"/>
              <a:ext cx="446481" cy="529628"/>
            </a:xfrm>
            <a:prstGeom prst="rect">
              <a:avLst/>
            </a:prstGeom>
          </p:spPr>
          <p:txBody>
            <a:bodyPr anchor="ctr" rtlCol="false" tIns="0" lIns="0" bIns="0" rIns="0"/>
            <a:lstStyle/>
            <a:p>
              <a:pPr algn="ctr">
                <a:lnSpc>
                  <a:spcPts val="2625"/>
                </a:lnSpc>
              </a:pPr>
              <a:r>
                <a:rPr lang="en-US" sz="2625">
                  <a:solidFill>
                    <a:srgbClr val="504C49"/>
                  </a:solidFill>
                  <a:latin typeface="Arimo"/>
                  <a:ea typeface="Arimo"/>
                  <a:cs typeface="Arimo"/>
                  <a:sym typeface="Arimo"/>
                </a:rPr>
                <a:t>1</a:t>
              </a:r>
            </a:p>
          </p:txBody>
        </p:sp>
      </p:grpSp>
      <p:grpSp>
        <p:nvGrpSpPr>
          <p:cNvPr name="Group 9" id="9"/>
          <p:cNvGrpSpPr/>
          <p:nvPr/>
        </p:nvGrpSpPr>
        <p:grpSpPr>
          <a:xfrm rot="0">
            <a:off x="8871509" y="1866243"/>
            <a:ext cx="669722" cy="28575"/>
            <a:chOff x="0" y="0"/>
            <a:chExt cx="892962" cy="38100"/>
          </a:xfrm>
        </p:grpSpPr>
        <p:sp>
          <p:nvSpPr>
            <p:cNvPr name="Freeform 10" id="10"/>
            <p:cNvSpPr/>
            <p:nvPr/>
          </p:nvSpPr>
          <p:spPr>
            <a:xfrm flipH="false" flipV="false" rot="0">
              <a:off x="0" y="0"/>
              <a:ext cx="892937" cy="38100"/>
            </a:xfrm>
            <a:custGeom>
              <a:avLst/>
              <a:gdLst/>
              <a:ahLst/>
              <a:cxnLst/>
              <a:rect r="r" b="b" t="t" l="l"/>
              <a:pathLst>
                <a:path h="38100" w="892937">
                  <a:moveTo>
                    <a:pt x="0" y="19050"/>
                  </a:moveTo>
                  <a:cubicBezTo>
                    <a:pt x="0" y="8509"/>
                    <a:pt x="8509" y="0"/>
                    <a:pt x="19050" y="0"/>
                  </a:cubicBezTo>
                  <a:lnTo>
                    <a:pt x="873887" y="0"/>
                  </a:lnTo>
                  <a:cubicBezTo>
                    <a:pt x="884428" y="0"/>
                    <a:pt x="892937" y="8509"/>
                    <a:pt x="892937" y="19050"/>
                  </a:cubicBezTo>
                  <a:cubicBezTo>
                    <a:pt x="892937" y="29591"/>
                    <a:pt x="884428" y="38100"/>
                    <a:pt x="873887" y="38100"/>
                  </a:cubicBezTo>
                  <a:lnTo>
                    <a:pt x="19050" y="38100"/>
                  </a:lnTo>
                  <a:cubicBezTo>
                    <a:pt x="8509" y="38100"/>
                    <a:pt x="0" y="29591"/>
                    <a:pt x="0" y="19050"/>
                  </a:cubicBezTo>
                  <a:close/>
                </a:path>
              </a:pathLst>
            </a:custGeom>
            <a:solidFill>
              <a:srgbClr val="D8D4D4"/>
            </a:solidFill>
          </p:spPr>
        </p:sp>
      </p:grpSp>
      <p:grpSp>
        <p:nvGrpSpPr>
          <p:cNvPr name="Group 11" id="11"/>
          <p:cNvGrpSpPr/>
          <p:nvPr/>
        </p:nvGrpSpPr>
        <p:grpSpPr>
          <a:xfrm rot="0">
            <a:off x="8397792" y="1629461"/>
            <a:ext cx="502291" cy="502291"/>
            <a:chOff x="0" y="0"/>
            <a:chExt cx="669722" cy="669722"/>
          </a:xfrm>
        </p:grpSpPr>
        <p:sp>
          <p:nvSpPr>
            <p:cNvPr name="Freeform 12" id="12"/>
            <p:cNvSpPr/>
            <p:nvPr/>
          </p:nvSpPr>
          <p:spPr>
            <a:xfrm flipH="false" flipV="false" rot="0">
              <a:off x="0" y="0"/>
              <a:ext cx="669798" cy="669798"/>
            </a:xfrm>
            <a:custGeom>
              <a:avLst/>
              <a:gdLst/>
              <a:ahLst/>
              <a:cxnLst/>
              <a:rect r="r" b="b" t="t" l="l"/>
              <a:pathLst>
                <a:path h="669798" w="669798">
                  <a:moveTo>
                    <a:pt x="0" y="44704"/>
                  </a:moveTo>
                  <a:cubicBezTo>
                    <a:pt x="0" y="19939"/>
                    <a:pt x="19939" y="0"/>
                    <a:pt x="44704" y="0"/>
                  </a:cubicBezTo>
                  <a:lnTo>
                    <a:pt x="625094" y="0"/>
                  </a:lnTo>
                  <a:cubicBezTo>
                    <a:pt x="649732" y="0"/>
                    <a:pt x="669798" y="19939"/>
                    <a:pt x="669798" y="44704"/>
                  </a:cubicBezTo>
                  <a:lnTo>
                    <a:pt x="669798" y="625094"/>
                  </a:lnTo>
                  <a:cubicBezTo>
                    <a:pt x="669798" y="649732"/>
                    <a:pt x="649859" y="669798"/>
                    <a:pt x="625094" y="669798"/>
                  </a:cubicBezTo>
                  <a:lnTo>
                    <a:pt x="44704" y="669798"/>
                  </a:lnTo>
                  <a:cubicBezTo>
                    <a:pt x="19939" y="669671"/>
                    <a:pt x="0" y="649732"/>
                    <a:pt x="0" y="625094"/>
                  </a:cubicBezTo>
                  <a:close/>
                </a:path>
              </a:pathLst>
            </a:custGeom>
            <a:solidFill>
              <a:srgbClr val="F9F7F7"/>
            </a:solidFill>
          </p:spPr>
        </p:sp>
      </p:grpSp>
      <p:grpSp>
        <p:nvGrpSpPr>
          <p:cNvPr name="Group 13" id="13"/>
          <p:cNvGrpSpPr/>
          <p:nvPr/>
        </p:nvGrpSpPr>
        <p:grpSpPr>
          <a:xfrm rot="0">
            <a:off x="8481431" y="1671199"/>
            <a:ext cx="334861" cy="418652"/>
            <a:chOff x="0" y="0"/>
            <a:chExt cx="446481" cy="558203"/>
          </a:xfrm>
        </p:grpSpPr>
        <p:sp>
          <p:nvSpPr>
            <p:cNvPr name="Freeform 14" id="14"/>
            <p:cNvSpPr/>
            <p:nvPr/>
          </p:nvSpPr>
          <p:spPr>
            <a:xfrm flipH="false" flipV="false" rot="0">
              <a:off x="0" y="0"/>
              <a:ext cx="446485" cy="558205"/>
            </a:xfrm>
            <a:custGeom>
              <a:avLst/>
              <a:gdLst/>
              <a:ahLst/>
              <a:cxnLst/>
              <a:rect r="r" b="b" t="t" l="l"/>
              <a:pathLst>
                <a:path h="558205" w="446485">
                  <a:moveTo>
                    <a:pt x="0" y="0"/>
                  </a:moveTo>
                  <a:lnTo>
                    <a:pt x="446485" y="0"/>
                  </a:lnTo>
                  <a:lnTo>
                    <a:pt x="446485" y="558205"/>
                  </a:lnTo>
                  <a:lnTo>
                    <a:pt x="0" y="558205"/>
                  </a:lnTo>
                  <a:close/>
                </a:path>
              </a:pathLst>
            </a:custGeom>
            <a:blipFill>
              <a:blip r:embed="rId3">
                <a:alphaModFix amt="0"/>
              </a:blip>
              <a:stretch>
                <a:fillRect l="-110407" t="0" r="-110406" b="0"/>
              </a:stretch>
            </a:blipFill>
          </p:spPr>
        </p:sp>
        <p:sp>
          <p:nvSpPr>
            <p:cNvPr name="TextBox 15" id="15"/>
            <p:cNvSpPr txBox="true"/>
            <p:nvPr/>
          </p:nvSpPr>
          <p:spPr>
            <a:xfrm>
              <a:off x="0" y="28575"/>
              <a:ext cx="446481" cy="529628"/>
            </a:xfrm>
            <a:prstGeom prst="rect">
              <a:avLst/>
            </a:prstGeom>
          </p:spPr>
          <p:txBody>
            <a:bodyPr anchor="ctr" rtlCol="false" tIns="0" lIns="0" bIns="0" rIns="0"/>
            <a:lstStyle/>
            <a:p>
              <a:pPr algn="ctr">
                <a:lnSpc>
                  <a:spcPts val="2625"/>
                </a:lnSpc>
              </a:pPr>
              <a:r>
                <a:rPr lang="en-US" sz="2625">
                  <a:solidFill>
                    <a:srgbClr val="504C49"/>
                  </a:solidFill>
                  <a:latin typeface="Arimo"/>
                  <a:ea typeface="Arimo"/>
                  <a:cs typeface="Arimo"/>
                  <a:sym typeface="Arimo"/>
                </a:rPr>
                <a:t>2</a:t>
              </a:r>
            </a:p>
          </p:txBody>
        </p:sp>
      </p:grpSp>
      <p:grpSp>
        <p:nvGrpSpPr>
          <p:cNvPr name="Group 16" id="16"/>
          <p:cNvGrpSpPr/>
          <p:nvPr/>
        </p:nvGrpSpPr>
        <p:grpSpPr>
          <a:xfrm rot="0">
            <a:off x="8704155" y="6969819"/>
            <a:ext cx="669722" cy="28575"/>
            <a:chOff x="0" y="0"/>
            <a:chExt cx="892962" cy="38100"/>
          </a:xfrm>
        </p:grpSpPr>
        <p:sp>
          <p:nvSpPr>
            <p:cNvPr name="Freeform 17" id="17"/>
            <p:cNvSpPr/>
            <p:nvPr/>
          </p:nvSpPr>
          <p:spPr>
            <a:xfrm flipH="false" flipV="false" rot="0">
              <a:off x="0" y="0"/>
              <a:ext cx="892937" cy="38100"/>
            </a:xfrm>
            <a:custGeom>
              <a:avLst/>
              <a:gdLst/>
              <a:ahLst/>
              <a:cxnLst/>
              <a:rect r="r" b="b" t="t" l="l"/>
              <a:pathLst>
                <a:path h="38100" w="892937">
                  <a:moveTo>
                    <a:pt x="0" y="19050"/>
                  </a:moveTo>
                  <a:cubicBezTo>
                    <a:pt x="0" y="8509"/>
                    <a:pt x="8509" y="0"/>
                    <a:pt x="19050" y="0"/>
                  </a:cubicBezTo>
                  <a:lnTo>
                    <a:pt x="873887" y="0"/>
                  </a:lnTo>
                  <a:cubicBezTo>
                    <a:pt x="884428" y="0"/>
                    <a:pt x="892937" y="8509"/>
                    <a:pt x="892937" y="19050"/>
                  </a:cubicBezTo>
                  <a:cubicBezTo>
                    <a:pt x="892937" y="29591"/>
                    <a:pt x="884428" y="38100"/>
                    <a:pt x="873887" y="38100"/>
                  </a:cubicBezTo>
                  <a:lnTo>
                    <a:pt x="19050" y="38100"/>
                  </a:lnTo>
                  <a:cubicBezTo>
                    <a:pt x="8509" y="38100"/>
                    <a:pt x="0" y="29591"/>
                    <a:pt x="0" y="19050"/>
                  </a:cubicBezTo>
                  <a:close/>
                </a:path>
              </a:pathLst>
            </a:custGeom>
            <a:solidFill>
              <a:srgbClr val="D8D4D4"/>
            </a:solidFill>
          </p:spPr>
        </p:sp>
      </p:grpSp>
      <p:grpSp>
        <p:nvGrpSpPr>
          <p:cNvPr name="Group 18" id="18"/>
          <p:cNvGrpSpPr/>
          <p:nvPr/>
        </p:nvGrpSpPr>
        <p:grpSpPr>
          <a:xfrm rot="0">
            <a:off x="8648938" y="6669241"/>
            <a:ext cx="502291" cy="502291"/>
            <a:chOff x="0" y="0"/>
            <a:chExt cx="669722" cy="669722"/>
          </a:xfrm>
        </p:grpSpPr>
        <p:sp>
          <p:nvSpPr>
            <p:cNvPr name="Freeform 19" id="19"/>
            <p:cNvSpPr/>
            <p:nvPr/>
          </p:nvSpPr>
          <p:spPr>
            <a:xfrm flipH="false" flipV="false" rot="0">
              <a:off x="0" y="0"/>
              <a:ext cx="669798" cy="669798"/>
            </a:xfrm>
            <a:custGeom>
              <a:avLst/>
              <a:gdLst/>
              <a:ahLst/>
              <a:cxnLst/>
              <a:rect r="r" b="b" t="t" l="l"/>
              <a:pathLst>
                <a:path h="669798" w="669798">
                  <a:moveTo>
                    <a:pt x="0" y="44704"/>
                  </a:moveTo>
                  <a:cubicBezTo>
                    <a:pt x="0" y="19939"/>
                    <a:pt x="19939" y="0"/>
                    <a:pt x="44704" y="0"/>
                  </a:cubicBezTo>
                  <a:lnTo>
                    <a:pt x="625094" y="0"/>
                  </a:lnTo>
                  <a:cubicBezTo>
                    <a:pt x="649732" y="0"/>
                    <a:pt x="669798" y="19939"/>
                    <a:pt x="669798" y="44704"/>
                  </a:cubicBezTo>
                  <a:lnTo>
                    <a:pt x="669798" y="625094"/>
                  </a:lnTo>
                  <a:cubicBezTo>
                    <a:pt x="669798" y="649732"/>
                    <a:pt x="649859" y="669798"/>
                    <a:pt x="625094" y="669798"/>
                  </a:cubicBezTo>
                  <a:lnTo>
                    <a:pt x="44704" y="669798"/>
                  </a:lnTo>
                  <a:cubicBezTo>
                    <a:pt x="19939" y="669671"/>
                    <a:pt x="0" y="649732"/>
                    <a:pt x="0" y="625094"/>
                  </a:cubicBezTo>
                  <a:close/>
                </a:path>
              </a:pathLst>
            </a:custGeom>
            <a:solidFill>
              <a:srgbClr val="F9F7F7"/>
            </a:solidFill>
          </p:spPr>
        </p:sp>
      </p:grpSp>
      <p:grpSp>
        <p:nvGrpSpPr>
          <p:cNvPr name="Group 20" id="20"/>
          <p:cNvGrpSpPr/>
          <p:nvPr/>
        </p:nvGrpSpPr>
        <p:grpSpPr>
          <a:xfrm rot="0">
            <a:off x="8732577" y="6710980"/>
            <a:ext cx="334861" cy="418652"/>
            <a:chOff x="0" y="0"/>
            <a:chExt cx="446481" cy="558203"/>
          </a:xfrm>
        </p:grpSpPr>
        <p:sp>
          <p:nvSpPr>
            <p:cNvPr name="Freeform 21" id="21"/>
            <p:cNvSpPr/>
            <p:nvPr/>
          </p:nvSpPr>
          <p:spPr>
            <a:xfrm flipH="false" flipV="false" rot="0">
              <a:off x="0" y="0"/>
              <a:ext cx="446485" cy="558205"/>
            </a:xfrm>
            <a:custGeom>
              <a:avLst/>
              <a:gdLst/>
              <a:ahLst/>
              <a:cxnLst/>
              <a:rect r="r" b="b" t="t" l="l"/>
              <a:pathLst>
                <a:path h="558205" w="446485">
                  <a:moveTo>
                    <a:pt x="0" y="0"/>
                  </a:moveTo>
                  <a:lnTo>
                    <a:pt x="446485" y="0"/>
                  </a:lnTo>
                  <a:lnTo>
                    <a:pt x="446485" y="558205"/>
                  </a:lnTo>
                  <a:lnTo>
                    <a:pt x="0" y="558205"/>
                  </a:lnTo>
                  <a:close/>
                </a:path>
              </a:pathLst>
            </a:custGeom>
            <a:blipFill>
              <a:blip r:embed="rId3">
                <a:alphaModFix amt="0"/>
              </a:blip>
              <a:stretch>
                <a:fillRect l="-110407" t="0" r="-110406" b="0"/>
              </a:stretch>
            </a:blipFill>
          </p:spPr>
        </p:sp>
        <p:sp>
          <p:nvSpPr>
            <p:cNvPr name="TextBox 22" id="22"/>
            <p:cNvSpPr txBox="true"/>
            <p:nvPr/>
          </p:nvSpPr>
          <p:spPr>
            <a:xfrm>
              <a:off x="0" y="28575"/>
              <a:ext cx="446481" cy="529628"/>
            </a:xfrm>
            <a:prstGeom prst="rect">
              <a:avLst/>
            </a:prstGeom>
          </p:spPr>
          <p:txBody>
            <a:bodyPr anchor="ctr" rtlCol="false" tIns="0" lIns="0" bIns="0" rIns="0"/>
            <a:lstStyle/>
            <a:p>
              <a:pPr algn="ctr">
                <a:lnSpc>
                  <a:spcPts val="2625"/>
                </a:lnSpc>
              </a:pPr>
              <a:r>
                <a:rPr lang="en-US" sz="2625">
                  <a:solidFill>
                    <a:srgbClr val="504C49"/>
                  </a:solidFill>
                  <a:latin typeface="Arimo"/>
                  <a:ea typeface="Arimo"/>
                  <a:cs typeface="Arimo"/>
                  <a:sym typeface="Arimo"/>
                </a:rPr>
                <a:t>3</a:t>
              </a:r>
            </a:p>
          </p:txBody>
        </p:sp>
      </p:grpSp>
      <p:grpSp>
        <p:nvGrpSpPr>
          <p:cNvPr name="Group 23" id="23"/>
          <p:cNvGrpSpPr/>
          <p:nvPr/>
        </p:nvGrpSpPr>
        <p:grpSpPr>
          <a:xfrm rot="0">
            <a:off x="9122654" y="8193089"/>
            <a:ext cx="669722" cy="28575"/>
            <a:chOff x="0" y="0"/>
            <a:chExt cx="892962" cy="38100"/>
          </a:xfrm>
        </p:grpSpPr>
        <p:sp>
          <p:nvSpPr>
            <p:cNvPr name="Freeform 24" id="24"/>
            <p:cNvSpPr/>
            <p:nvPr/>
          </p:nvSpPr>
          <p:spPr>
            <a:xfrm flipH="false" flipV="false" rot="0">
              <a:off x="0" y="0"/>
              <a:ext cx="892937" cy="38100"/>
            </a:xfrm>
            <a:custGeom>
              <a:avLst/>
              <a:gdLst/>
              <a:ahLst/>
              <a:cxnLst/>
              <a:rect r="r" b="b" t="t" l="l"/>
              <a:pathLst>
                <a:path h="38100" w="892937">
                  <a:moveTo>
                    <a:pt x="0" y="19050"/>
                  </a:moveTo>
                  <a:cubicBezTo>
                    <a:pt x="0" y="8509"/>
                    <a:pt x="8509" y="0"/>
                    <a:pt x="19050" y="0"/>
                  </a:cubicBezTo>
                  <a:lnTo>
                    <a:pt x="873887" y="0"/>
                  </a:lnTo>
                  <a:cubicBezTo>
                    <a:pt x="884428" y="0"/>
                    <a:pt x="892937" y="8509"/>
                    <a:pt x="892937" y="19050"/>
                  </a:cubicBezTo>
                  <a:cubicBezTo>
                    <a:pt x="892937" y="29591"/>
                    <a:pt x="884428" y="38100"/>
                    <a:pt x="873887" y="38100"/>
                  </a:cubicBezTo>
                  <a:lnTo>
                    <a:pt x="19050" y="38100"/>
                  </a:lnTo>
                  <a:cubicBezTo>
                    <a:pt x="8509" y="38100"/>
                    <a:pt x="0" y="29591"/>
                    <a:pt x="0" y="19050"/>
                  </a:cubicBezTo>
                  <a:close/>
                </a:path>
              </a:pathLst>
            </a:custGeom>
            <a:solidFill>
              <a:srgbClr val="D8D4D4"/>
            </a:solidFill>
          </p:spPr>
        </p:sp>
      </p:grpSp>
      <p:grpSp>
        <p:nvGrpSpPr>
          <p:cNvPr name="Group 25" id="25"/>
          <p:cNvGrpSpPr/>
          <p:nvPr/>
        </p:nvGrpSpPr>
        <p:grpSpPr>
          <a:xfrm rot="0">
            <a:off x="8648938" y="7956307"/>
            <a:ext cx="502291" cy="502291"/>
            <a:chOff x="0" y="0"/>
            <a:chExt cx="669722" cy="669722"/>
          </a:xfrm>
        </p:grpSpPr>
        <p:sp>
          <p:nvSpPr>
            <p:cNvPr name="Freeform 26" id="26"/>
            <p:cNvSpPr/>
            <p:nvPr/>
          </p:nvSpPr>
          <p:spPr>
            <a:xfrm flipH="false" flipV="false" rot="0">
              <a:off x="0" y="0"/>
              <a:ext cx="669798" cy="669798"/>
            </a:xfrm>
            <a:custGeom>
              <a:avLst/>
              <a:gdLst/>
              <a:ahLst/>
              <a:cxnLst/>
              <a:rect r="r" b="b" t="t" l="l"/>
              <a:pathLst>
                <a:path h="669798" w="669798">
                  <a:moveTo>
                    <a:pt x="0" y="44704"/>
                  </a:moveTo>
                  <a:cubicBezTo>
                    <a:pt x="0" y="19939"/>
                    <a:pt x="19939" y="0"/>
                    <a:pt x="44704" y="0"/>
                  </a:cubicBezTo>
                  <a:lnTo>
                    <a:pt x="625094" y="0"/>
                  </a:lnTo>
                  <a:cubicBezTo>
                    <a:pt x="649732" y="0"/>
                    <a:pt x="669798" y="19939"/>
                    <a:pt x="669798" y="44704"/>
                  </a:cubicBezTo>
                  <a:lnTo>
                    <a:pt x="669798" y="625094"/>
                  </a:lnTo>
                  <a:cubicBezTo>
                    <a:pt x="669798" y="649732"/>
                    <a:pt x="649859" y="669798"/>
                    <a:pt x="625094" y="669798"/>
                  </a:cubicBezTo>
                  <a:lnTo>
                    <a:pt x="44704" y="669798"/>
                  </a:lnTo>
                  <a:cubicBezTo>
                    <a:pt x="19939" y="669671"/>
                    <a:pt x="0" y="649732"/>
                    <a:pt x="0" y="625094"/>
                  </a:cubicBezTo>
                  <a:close/>
                </a:path>
              </a:pathLst>
            </a:custGeom>
            <a:solidFill>
              <a:srgbClr val="F9F7F7"/>
            </a:solidFill>
          </p:spPr>
        </p:sp>
      </p:grpSp>
      <p:grpSp>
        <p:nvGrpSpPr>
          <p:cNvPr name="Group 27" id="27"/>
          <p:cNvGrpSpPr/>
          <p:nvPr/>
        </p:nvGrpSpPr>
        <p:grpSpPr>
          <a:xfrm rot="0">
            <a:off x="8732577" y="7998045"/>
            <a:ext cx="334861" cy="418652"/>
            <a:chOff x="0" y="0"/>
            <a:chExt cx="446481" cy="558203"/>
          </a:xfrm>
        </p:grpSpPr>
        <p:sp>
          <p:nvSpPr>
            <p:cNvPr name="Freeform 28" id="28"/>
            <p:cNvSpPr/>
            <p:nvPr/>
          </p:nvSpPr>
          <p:spPr>
            <a:xfrm flipH="false" flipV="false" rot="0">
              <a:off x="0" y="0"/>
              <a:ext cx="446485" cy="558205"/>
            </a:xfrm>
            <a:custGeom>
              <a:avLst/>
              <a:gdLst/>
              <a:ahLst/>
              <a:cxnLst/>
              <a:rect r="r" b="b" t="t" l="l"/>
              <a:pathLst>
                <a:path h="558205" w="446485">
                  <a:moveTo>
                    <a:pt x="0" y="0"/>
                  </a:moveTo>
                  <a:lnTo>
                    <a:pt x="446485" y="0"/>
                  </a:lnTo>
                  <a:lnTo>
                    <a:pt x="446485" y="558205"/>
                  </a:lnTo>
                  <a:lnTo>
                    <a:pt x="0" y="558205"/>
                  </a:lnTo>
                  <a:close/>
                </a:path>
              </a:pathLst>
            </a:custGeom>
            <a:blipFill>
              <a:blip r:embed="rId3">
                <a:alphaModFix amt="0"/>
              </a:blip>
              <a:stretch>
                <a:fillRect l="-110407" t="0" r="-110406" b="0"/>
              </a:stretch>
            </a:blipFill>
          </p:spPr>
        </p:sp>
        <p:sp>
          <p:nvSpPr>
            <p:cNvPr name="TextBox 29" id="29"/>
            <p:cNvSpPr txBox="true"/>
            <p:nvPr/>
          </p:nvSpPr>
          <p:spPr>
            <a:xfrm>
              <a:off x="0" y="28575"/>
              <a:ext cx="446481" cy="529628"/>
            </a:xfrm>
            <a:prstGeom prst="rect">
              <a:avLst/>
            </a:prstGeom>
          </p:spPr>
          <p:txBody>
            <a:bodyPr anchor="ctr" rtlCol="false" tIns="0" lIns="0" bIns="0" rIns="0"/>
            <a:lstStyle/>
            <a:p>
              <a:pPr algn="ctr">
                <a:lnSpc>
                  <a:spcPts val="2625"/>
                </a:lnSpc>
              </a:pPr>
              <a:r>
                <a:rPr lang="en-US" sz="2625">
                  <a:solidFill>
                    <a:srgbClr val="504C49"/>
                  </a:solidFill>
                  <a:latin typeface="Arimo"/>
                  <a:ea typeface="Arimo"/>
                  <a:cs typeface="Arimo"/>
                  <a:sym typeface="Arimo"/>
                </a:rPr>
                <a:t>4</a:t>
              </a:r>
            </a:p>
          </p:txBody>
        </p:sp>
      </p:grpSp>
      <p:sp>
        <p:nvSpPr>
          <p:cNvPr name="Freeform 30" id="30"/>
          <p:cNvSpPr/>
          <p:nvPr/>
        </p:nvSpPr>
        <p:spPr>
          <a:xfrm flipH="false" flipV="false" rot="0">
            <a:off x="10745665" y="2677743"/>
            <a:ext cx="6117512" cy="4068146"/>
          </a:xfrm>
          <a:custGeom>
            <a:avLst/>
            <a:gdLst/>
            <a:ahLst/>
            <a:cxnLst/>
            <a:rect r="r" b="b" t="t" l="l"/>
            <a:pathLst>
              <a:path h="4068146" w="6117512">
                <a:moveTo>
                  <a:pt x="0" y="0"/>
                </a:moveTo>
                <a:lnTo>
                  <a:pt x="6117512" y="0"/>
                </a:lnTo>
                <a:lnTo>
                  <a:pt x="6117512" y="4068146"/>
                </a:lnTo>
                <a:lnTo>
                  <a:pt x="0" y="4068146"/>
                </a:lnTo>
                <a:lnTo>
                  <a:pt x="0" y="0"/>
                </a:lnTo>
                <a:close/>
              </a:path>
            </a:pathLst>
          </a:custGeom>
          <a:blipFill>
            <a:blip r:embed="rId4"/>
            <a:stretch>
              <a:fillRect l="0" t="0" r="0" b="0"/>
            </a:stretch>
          </a:blipFill>
        </p:spPr>
      </p:sp>
      <p:sp>
        <p:nvSpPr>
          <p:cNvPr name="Freeform 31" id="31"/>
          <p:cNvSpPr/>
          <p:nvPr/>
        </p:nvSpPr>
        <p:spPr>
          <a:xfrm flipH="false" flipV="false" rot="0">
            <a:off x="1881997" y="3013782"/>
            <a:ext cx="4263190" cy="4870608"/>
          </a:xfrm>
          <a:custGeom>
            <a:avLst/>
            <a:gdLst/>
            <a:ahLst/>
            <a:cxnLst/>
            <a:rect r="r" b="b" t="t" l="l"/>
            <a:pathLst>
              <a:path h="4870608" w="4263190">
                <a:moveTo>
                  <a:pt x="0" y="0"/>
                </a:moveTo>
                <a:lnTo>
                  <a:pt x="4263190" y="0"/>
                </a:lnTo>
                <a:lnTo>
                  <a:pt x="4263190" y="4870608"/>
                </a:lnTo>
                <a:lnTo>
                  <a:pt x="0" y="4870608"/>
                </a:lnTo>
                <a:lnTo>
                  <a:pt x="0" y="0"/>
                </a:lnTo>
                <a:close/>
              </a:path>
            </a:pathLst>
          </a:custGeom>
          <a:blipFill>
            <a:blip r:embed="rId5"/>
            <a:stretch>
              <a:fillRect l="-100918" t="-8072" r="0" b="-9095"/>
            </a:stretch>
          </a:blipFill>
        </p:spPr>
      </p:sp>
      <p:sp>
        <p:nvSpPr>
          <p:cNvPr name="TextBox 32" id="32"/>
          <p:cNvSpPr txBox="true"/>
          <p:nvPr/>
        </p:nvSpPr>
        <p:spPr>
          <a:xfrm rot="0">
            <a:off x="4283690" y="384794"/>
            <a:ext cx="9868257" cy="847589"/>
          </a:xfrm>
          <a:prstGeom prst="rect">
            <a:avLst/>
          </a:prstGeom>
        </p:spPr>
        <p:txBody>
          <a:bodyPr anchor="t" rtlCol="false" tIns="0" lIns="0" bIns="0" rIns="0">
            <a:spAutoFit/>
          </a:bodyPr>
          <a:lstStyle/>
          <a:p>
            <a:pPr algn="l">
              <a:lnSpc>
                <a:spcPts val="6556"/>
              </a:lnSpc>
            </a:pPr>
            <a:r>
              <a:rPr lang="en-US" sz="5274">
                <a:solidFill>
                  <a:srgbClr val="201B18"/>
                </a:solidFill>
                <a:latin typeface="Arimo"/>
                <a:ea typeface="Arimo"/>
                <a:cs typeface="Arimo"/>
                <a:sym typeface="Arimo"/>
              </a:rPr>
              <a:t>Quantization &amp; Entropy Encoding</a:t>
            </a:r>
          </a:p>
        </p:txBody>
      </p:sp>
      <p:sp>
        <p:nvSpPr>
          <p:cNvPr name="TextBox 33" id="33"/>
          <p:cNvSpPr txBox="true"/>
          <p:nvPr/>
        </p:nvSpPr>
        <p:spPr>
          <a:xfrm rot="0">
            <a:off x="1685472" y="1687059"/>
            <a:ext cx="1773436" cy="391024"/>
          </a:xfrm>
          <a:prstGeom prst="rect">
            <a:avLst/>
          </a:prstGeom>
        </p:spPr>
        <p:txBody>
          <a:bodyPr anchor="t" rtlCol="false" tIns="0" lIns="0" bIns="0" rIns="0">
            <a:spAutoFit/>
          </a:bodyPr>
          <a:lstStyle/>
          <a:p>
            <a:pPr algn="l">
              <a:lnSpc>
                <a:spcPts val="3056"/>
              </a:lnSpc>
            </a:pPr>
            <a:r>
              <a:rPr lang="en-US" sz="2487">
                <a:solidFill>
                  <a:srgbClr val="504C49"/>
                </a:solidFill>
                <a:latin typeface="Arimo"/>
                <a:ea typeface="Arimo"/>
                <a:cs typeface="Arimo"/>
                <a:sym typeface="Arimo"/>
              </a:rPr>
              <a:t>Quantization</a:t>
            </a:r>
          </a:p>
        </p:txBody>
      </p:sp>
      <p:sp>
        <p:nvSpPr>
          <p:cNvPr name="TextBox 34" id="34"/>
          <p:cNvSpPr txBox="true"/>
          <p:nvPr/>
        </p:nvSpPr>
        <p:spPr>
          <a:xfrm rot="0">
            <a:off x="1685472" y="2108683"/>
            <a:ext cx="6293220" cy="750570"/>
          </a:xfrm>
          <a:prstGeom prst="rect">
            <a:avLst/>
          </a:prstGeom>
        </p:spPr>
        <p:txBody>
          <a:bodyPr anchor="t" rtlCol="false" tIns="0" lIns="0" bIns="0" rIns="0">
            <a:spAutoFit/>
          </a:bodyPr>
          <a:lstStyle/>
          <a:p>
            <a:pPr algn="l">
              <a:lnSpc>
                <a:spcPts val="3074"/>
              </a:lnSpc>
            </a:pPr>
            <a:r>
              <a:rPr lang="en-US" sz="2049">
                <a:solidFill>
                  <a:srgbClr val="504C49"/>
                </a:solidFill>
                <a:latin typeface="Source Serif Pro"/>
                <a:ea typeface="Source Serif Pro"/>
                <a:cs typeface="Source Serif Pro"/>
                <a:sym typeface="Source Serif Pro"/>
              </a:rPr>
              <a:t>Each DCT coefficient divided by quantization table value and rounded to nearest integer</a:t>
            </a:r>
          </a:p>
        </p:txBody>
      </p:sp>
      <p:sp>
        <p:nvSpPr>
          <p:cNvPr name="TextBox 35" id="35"/>
          <p:cNvSpPr txBox="true"/>
          <p:nvPr/>
        </p:nvSpPr>
        <p:spPr>
          <a:xfrm rot="0">
            <a:off x="9765449" y="1687059"/>
            <a:ext cx="1422202" cy="391024"/>
          </a:xfrm>
          <a:prstGeom prst="rect">
            <a:avLst/>
          </a:prstGeom>
        </p:spPr>
        <p:txBody>
          <a:bodyPr anchor="t" rtlCol="false" tIns="0" lIns="0" bIns="0" rIns="0">
            <a:spAutoFit/>
          </a:bodyPr>
          <a:lstStyle/>
          <a:p>
            <a:pPr algn="l">
              <a:lnSpc>
                <a:spcPts val="3056"/>
              </a:lnSpc>
            </a:pPr>
            <a:r>
              <a:rPr lang="en-US" sz="2487">
                <a:solidFill>
                  <a:srgbClr val="504C49"/>
                </a:solidFill>
                <a:latin typeface="Arimo"/>
                <a:ea typeface="Arimo"/>
                <a:cs typeface="Arimo"/>
                <a:sym typeface="Arimo"/>
              </a:rPr>
              <a:t>Data Loss</a:t>
            </a:r>
          </a:p>
        </p:txBody>
      </p:sp>
      <p:sp>
        <p:nvSpPr>
          <p:cNvPr name="TextBox 36" id="36"/>
          <p:cNvSpPr txBox="true"/>
          <p:nvPr/>
        </p:nvSpPr>
        <p:spPr>
          <a:xfrm rot="0">
            <a:off x="9765449" y="2108683"/>
            <a:ext cx="8077943" cy="750570"/>
          </a:xfrm>
          <a:prstGeom prst="rect">
            <a:avLst/>
          </a:prstGeom>
        </p:spPr>
        <p:txBody>
          <a:bodyPr anchor="t" rtlCol="false" tIns="0" lIns="0" bIns="0" rIns="0">
            <a:spAutoFit/>
          </a:bodyPr>
          <a:lstStyle/>
          <a:p>
            <a:pPr algn="l">
              <a:lnSpc>
                <a:spcPts val="3074"/>
              </a:lnSpc>
            </a:pPr>
            <a:r>
              <a:rPr lang="en-US" sz="2049">
                <a:solidFill>
                  <a:srgbClr val="504C49"/>
                </a:solidFill>
                <a:latin typeface="Source Serif Pro"/>
                <a:ea typeface="Source Serif Pro"/>
                <a:cs typeface="Source Serif Pro"/>
                <a:sym typeface="Source Serif Pro"/>
              </a:rPr>
              <a:t>High-frequency coefficients rounded to zero—this is where actual data loss occurs</a:t>
            </a:r>
          </a:p>
        </p:txBody>
      </p:sp>
      <p:sp>
        <p:nvSpPr>
          <p:cNvPr name="TextBox 37" id="37"/>
          <p:cNvSpPr txBox="true"/>
          <p:nvPr/>
        </p:nvSpPr>
        <p:spPr>
          <a:xfrm rot="0">
            <a:off x="10016595" y="6726839"/>
            <a:ext cx="1895951" cy="391024"/>
          </a:xfrm>
          <a:prstGeom prst="rect">
            <a:avLst/>
          </a:prstGeom>
        </p:spPr>
        <p:txBody>
          <a:bodyPr anchor="t" rtlCol="false" tIns="0" lIns="0" bIns="0" rIns="0">
            <a:spAutoFit/>
          </a:bodyPr>
          <a:lstStyle/>
          <a:p>
            <a:pPr algn="l">
              <a:lnSpc>
                <a:spcPts val="3056"/>
              </a:lnSpc>
            </a:pPr>
            <a:r>
              <a:rPr lang="en-US" sz="2487">
                <a:solidFill>
                  <a:srgbClr val="504C49"/>
                </a:solidFill>
                <a:latin typeface="Arimo"/>
                <a:ea typeface="Arimo"/>
                <a:cs typeface="Arimo"/>
                <a:sym typeface="Arimo"/>
              </a:rPr>
              <a:t>Zig-Zag Scan</a:t>
            </a:r>
          </a:p>
        </p:txBody>
      </p:sp>
      <p:sp>
        <p:nvSpPr>
          <p:cNvPr name="TextBox 38" id="38"/>
          <p:cNvSpPr txBox="true"/>
          <p:nvPr/>
        </p:nvSpPr>
        <p:spPr>
          <a:xfrm rot="0">
            <a:off x="10016595" y="7148463"/>
            <a:ext cx="8077943" cy="750570"/>
          </a:xfrm>
          <a:prstGeom prst="rect">
            <a:avLst/>
          </a:prstGeom>
        </p:spPr>
        <p:txBody>
          <a:bodyPr anchor="t" rtlCol="false" tIns="0" lIns="0" bIns="0" rIns="0">
            <a:spAutoFit/>
          </a:bodyPr>
          <a:lstStyle/>
          <a:p>
            <a:pPr algn="l">
              <a:lnSpc>
                <a:spcPts val="3074"/>
              </a:lnSpc>
            </a:pPr>
            <a:r>
              <a:rPr lang="en-US" sz="2049">
                <a:solidFill>
                  <a:srgbClr val="504C49"/>
                </a:solidFill>
                <a:latin typeface="Source Serif Pro"/>
                <a:ea typeface="Source Serif Pro"/>
                <a:cs typeface="Source Serif Pro"/>
                <a:sym typeface="Source Serif Pro"/>
              </a:rPr>
              <a:t>Remaining coefficients serialized in zig-zag pattern to cluster zeros together</a:t>
            </a:r>
          </a:p>
        </p:txBody>
      </p:sp>
      <p:sp>
        <p:nvSpPr>
          <p:cNvPr name="TextBox 39" id="39"/>
          <p:cNvSpPr txBox="true"/>
          <p:nvPr/>
        </p:nvSpPr>
        <p:spPr>
          <a:xfrm rot="0">
            <a:off x="10016595" y="8013895"/>
            <a:ext cx="2494479" cy="381862"/>
          </a:xfrm>
          <a:prstGeom prst="rect">
            <a:avLst/>
          </a:prstGeom>
        </p:spPr>
        <p:txBody>
          <a:bodyPr anchor="t" rtlCol="false" tIns="0" lIns="0" bIns="0" rIns="0">
            <a:spAutoFit/>
          </a:bodyPr>
          <a:lstStyle/>
          <a:p>
            <a:pPr algn="l">
              <a:lnSpc>
                <a:spcPts val="2933"/>
              </a:lnSpc>
            </a:pPr>
            <a:r>
              <a:rPr lang="en-US" sz="2387">
                <a:solidFill>
                  <a:srgbClr val="504C49"/>
                </a:solidFill>
                <a:latin typeface="Arimo"/>
                <a:ea typeface="Arimo"/>
                <a:cs typeface="Arimo"/>
                <a:sym typeface="Arimo"/>
              </a:rPr>
              <a:t>Huffman Encoding</a:t>
            </a:r>
          </a:p>
        </p:txBody>
      </p:sp>
      <p:sp>
        <p:nvSpPr>
          <p:cNvPr name="TextBox 40" id="40"/>
          <p:cNvSpPr txBox="true"/>
          <p:nvPr/>
        </p:nvSpPr>
        <p:spPr>
          <a:xfrm rot="0">
            <a:off x="10016595" y="8435529"/>
            <a:ext cx="8077943" cy="750570"/>
          </a:xfrm>
          <a:prstGeom prst="rect">
            <a:avLst/>
          </a:prstGeom>
        </p:spPr>
        <p:txBody>
          <a:bodyPr anchor="t" rtlCol="false" tIns="0" lIns="0" bIns="0" rIns="0">
            <a:spAutoFit/>
          </a:bodyPr>
          <a:lstStyle/>
          <a:p>
            <a:pPr algn="l">
              <a:lnSpc>
                <a:spcPts val="3074"/>
              </a:lnSpc>
            </a:pPr>
            <a:r>
              <a:rPr lang="en-US" sz="2049">
                <a:solidFill>
                  <a:srgbClr val="504C49"/>
                </a:solidFill>
                <a:latin typeface="Source Serif Pro"/>
                <a:ea typeface="Source Serif Pro"/>
                <a:cs typeface="Source Serif Pro"/>
                <a:sym typeface="Source Serif Pro"/>
              </a:rPr>
              <a:t>Lossless compression applied to coefficient stream for final bit reduction</a:t>
            </a:r>
          </a:p>
        </p:txBody>
      </p:sp>
      <p:sp>
        <p:nvSpPr>
          <p:cNvPr name="TextBox 41" id="41"/>
          <p:cNvSpPr txBox="true"/>
          <p:nvPr/>
        </p:nvSpPr>
        <p:spPr>
          <a:xfrm rot="0">
            <a:off x="401455" y="8271448"/>
            <a:ext cx="3504499" cy="407930"/>
          </a:xfrm>
          <a:prstGeom prst="rect">
            <a:avLst/>
          </a:prstGeom>
        </p:spPr>
        <p:txBody>
          <a:bodyPr anchor="t" rtlCol="false" tIns="0" lIns="0" bIns="0" rIns="0">
            <a:spAutoFit/>
          </a:bodyPr>
          <a:lstStyle/>
          <a:p>
            <a:pPr algn="l">
              <a:lnSpc>
                <a:spcPts val="3143"/>
              </a:lnSpc>
            </a:pPr>
            <a:r>
              <a:rPr lang="en-US" sz="2559">
                <a:solidFill>
                  <a:srgbClr val="201B18"/>
                </a:solidFill>
                <a:latin typeface="Arimo"/>
                <a:ea typeface="Arimo"/>
                <a:cs typeface="Arimo"/>
                <a:sym typeface="Arimo"/>
              </a:rPr>
              <a:t>Decompression Pipeline</a:t>
            </a:r>
          </a:p>
        </p:txBody>
      </p:sp>
      <p:sp>
        <p:nvSpPr>
          <p:cNvPr name="TextBox 42" id="42"/>
          <p:cNvSpPr txBox="true"/>
          <p:nvPr/>
        </p:nvSpPr>
        <p:spPr>
          <a:xfrm rot="0">
            <a:off x="317816" y="8774628"/>
            <a:ext cx="4770171" cy="1198559"/>
          </a:xfrm>
          <a:prstGeom prst="rect">
            <a:avLst/>
          </a:prstGeom>
        </p:spPr>
        <p:txBody>
          <a:bodyPr anchor="t" rtlCol="false" tIns="0" lIns="0" bIns="0" rIns="0">
            <a:spAutoFit/>
          </a:bodyPr>
          <a:lstStyle/>
          <a:p>
            <a:pPr algn="l" marL="331379" indent="-165690" lvl="1">
              <a:lnSpc>
                <a:spcPts val="3295"/>
              </a:lnSpc>
              <a:buAutoNum type="arabicPeriod" startAt="1"/>
            </a:pPr>
            <a:r>
              <a:rPr lang="en-US" sz="2197">
                <a:solidFill>
                  <a:srgbClr val="504C49"/>
                </a:solidFill>
                <a:latin typeface="Source Serif Pro"/>
                <a:ea typeface="Source Serif Pro"/>
                <a:cs typeface="Source Serif Pro"/>
                <a:sym typeface="Source Serif Pro"/>
              </a:rPr>
              <a:t>Multiply by quantization table</a:t>
            </a:r>
          </a:p>
          <a:p>
            <a:pPr algn="l" marL="331379" indent="-165690" lvl="1">
              <a:lnSpc>
                <a:spcPts val="3295"/>
              </a:lnSpc>
              <a:buAutoNum type="arabicPeriod" startAt="1"/>
            </a:pPr>
            <a:r>
              <a:rPr lang="en-US" sz="2197">
                <a:solidFill>
                  <a:srgbClr val="504C49"/>
                </a:solidFill>
                <a:latin typeface="Source Serif Pro"/>
                <a:ea typeface="Source Serif Pro"/>
                <a:cs typeface="Source Serif Pro"/>
                <a:sym typeface="Source Serif Pro"/>
              </a:rPr>
              <a:t>Apply Inverse DCT</a:t>
            </a:r>
          </a:p>
          <a:p>
            <a:pPr algn="l" marL="331379" indent="-165690" lvl="1">
              <a:lnSpc>
                <a:spcPts val="3295"/>
              </a:lnSpc>
              <a:buAutoNum type="arabicPeriod" startAt="1"/>
            </a:pPr>
            <a:r>
              <a:rPr lang="en-US" sz="2197">
                <a:solidFill>
                  <a:srgbClr val="504C49"/>
                </a:solidFill>
                <a:latin typeface="Source Serif Pro"/>
                <a:ea typeface="Source Serif Pro"/>
                <a:cs typeface="Source Serif Pro"/>
                <a:sym typeface="Source Serif Pro"/>
              </a:rPr>
              <a:t>Reconstruct pixels</a:t>
            </a:r>
          </a:p>
        </p:txBody>
      </p:sp>
      <p:sp>
        <p:nvSpPr>
          <p:cNvPr name="TextBox 43" id="43"/>
          <p:cNvSpPr txBox="true"/>
          <p:nvPr/>
        </p:nvSpPr>
        <p:spPr>
          <a:xfrm rot="0">
            <a:off x="4570091" y="8265390"/>
            <a:ext cx="2182942" cy="413988"/>
          </a:xfrm>
          <a:prstGeom prst="rect">
            <a:avLst/>
          </a:prstGeom>
        </p:spPr>
        <p:txBody>
          <a:bodyPr anchor="t" rtlCol="false" tIns="0" lIns="0" bIns="0" rIns="0">
            <a:spAutoFit/>
          </a:bodyPr>
          <a:lstStyle/>
          <a:p>
            <a:pPr algn="l">
              <a:lnSpc>
                <a:spcPts val="3192"/>
              </a:lnSpc>
            </a:pPr>
            <a:r>
              <a:rPr lang="en-US" sz="2598">
                <a:solidFill>
                  <a:srgbClr val="201B18"/>
                </a:solidFill>
                <a:latin typeface="Arimo"/>
                <a:ea typeface="Arimo"/>
                <a:cs typeface="Arimo"/>
                <a:sym typeface="Arimo"/>
              </a:rPr>
              <a:t>Quality Control</a:t>
            </a:r>
          </a:p>
        </p:txBody>
      </p:sp>
      <p:sp>
        <p:nvSpPr>
          <p:cNvPr name="TextBox 44" id="44"/>
          <p:cNvSpPr txBox="true"/>
          <p:nvPr/>
        </p:nvSpPr>
        <p:spPr>
          <a:xfrm rot="0">
            <a:off x="4570091" y="8825579"/>
            <a:ext cx="4844481" cy="1189382"/>
          </a:xfrm>
          <a:prstGeom prst="rect">
            <a:avLst/>
          </a:prstGeom>
        </p:spPr>
        <p:txBody>
          <a:bodyPr anchor="t" rtlCol="false" tIns="0" lIns="0" bIns="0" rIns="0">
            <a:spAutoFit/>
          </a:bodyPr>
          <a:lstStyle/>
          <a:p>
            <a:pPr algn="l">
              <a:lnSpc>
                <a:spcPts val="3184"/>
              </a:lnSpc>
            </a:pPr>
            <a:r>
              <a:rPr lang="en-US" sz="2122">
                <a:solidFill>
                  <a:srgbClr val="504C49"/>
                </a:solidFill>
                <a:latin typeface="Source Serif Pro"/>
                <a:ea typeface="Source Serif Pro"/>
                <a:cs typeface="Source Serif Pro"/>
                <a:sym typeface="Source Serif Pro"/>
              </a:rPr>
              <a:t>Quality setting controls quantization table values: higher quality = smaller divisors = more coefficients survive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992238" y="3358325"/>
            <a:ext cx="4889513" cy="1747216"/>
            <a:chOff x="0" y="0"/>
            <a:chExt cx="6191250" cy="2212378"/>
          </a:xfrm>
        </p:grpSpPr>
        <p:sp>
          <p:nvSpPr>
            <p:cNvPr name="Freeform 11" id="11"/>
            <p:cNvSpPr/>
            <p:nvPr/>
          </p:nvSpPr>
          <p:spPr>
            <a:xfrm flipH="false" flipV="false" rot="0">
              <a:off x="0" y="0"/>
              <a:ext cx="6191250" cy="2212467"/>
            </a:xfrm>
            <a:custGeom>
              <a:avLst/>
              <a:gdLst/>
              <a:ahLst/>
              <a:cxnLst/>
              <a:rect r="r" b="b" t="t" l="l"/>
              <a:pathLst>
                <a:path h="2212467" w="6191250">
                  <a:moveTo>
                    <a:pt x="0" y="39751"/>
                  </a:moveTo>
                  <a:cubicBezTo>
                    <a:pt x="0" y="17780"/>
                    <a:pt x="17780" y="0"/>
                    <a:pt x="39751" y="0"/>
                  </a:cubicBezTo>
                  <a:lnTo>
                    <a:pt x="6151499" y="0"/>
                  </a:lnTo>
                  <a:cubicBezTo>
                    <a:pt x="6173470" y="0"/>
                    <a:pt x="6191250" y="17780"/>
                    <a:pt x="6191250" y="39751"/>
                  </a:cubicBezTo>
                  <a:lnTo>
                    <a:pt x="6191250" y="2172716"/>
                  </a:lnTo>
                  <a:cubicBezTo>
                    <a:pt x="6191250" y="2194687"/>
                    <a:pt x="6173470" y="2212467"/>
                    <a:pt x="6151499" y="2212467"/>
                  </a:cubicBezTo>
                  <a:lnTo>
                    <a:pt x="39751" y="2212467"/>
                  </a:lnTo>
                  <a:cubicBezTo>
                    <a:pt x="17780" y="2212340"/>
                    <a:pt x="0" y="2194560"/>
                    <a:pt x="0" y="2172716"/>
                  </a:cubicBezTo>
                  <a:close/>
                </a:path>
              </a:pathLst>
            </a:custGeom>
            <a:solidFill>
              <a:srgbClr val="F9F7F7"/>
            </a:solidFill>
          </p:spPr>
        </p:sp>
      </p:grpSp>
      <p:grpSp>
        <p:nvGrpSpPr>
          <p:cNvPr name="Group 12" id="12"/>
          <p:cNvGrpSpPr/>
          <p:nvPr/>
        </p:nvGrpSpPr>
        <p:grpSpPr>
          <a:xfrm rot="0">
            <a:off x="6048807" y="3358325"/>
            <a:ext cx="4889513" cy="1747216"/>
            <a:chOff x="0" y="0"/>
            <a:chExt cx="6191250" cy="2212378"/>
          </a:xfrm>
        </p:grpSpPr>
        <p:sp>
          <p:nvSpPr>
            <p:cNvPr name="Freeform 13" id="13"/>
            <p:cNvSpPr/>
            <p:nvPr/>
          </p:nvSpPr>
          <p:spPr>
            <a:xfrm flipH="false" flipV="false" rot="0">
              <a:off x="0" y="0"/>
              <a:ext cx="6191250" cy="2212467"/>
            </a:xfrm>
            <a:custGeom>
              <a:avLst/>
              <a:gdLst/>
              <a:ahLst/>
              <a:cxnLst/>
              <a:rect r="r" b="b" t="t" l="l"/>
              <a:pathLst>
                <a:path h="2212467" w="6191250">
                  <a:moveTo>
                    <a:pt x="0" y="39751"/>
                  </a:moveTo>
                  <a:cubicBezTo>
                    <a:pt x="0" y="17780"/>
                    <a:pt x="17780" y="0"/>
                    <a:pt x="39751" y="0"/>
                  </a:cubicBezTo>
                  <a:lnTo>
                    <a:pt x="6151499" y="0"/>
                  </a:lnTo>
                  <a:cubicBezTo>
                    <a:pt x="6173470" y="0"/>
                    <a:pt x="6191250" y="17780"/>
                    <a:pt x="6191250" y="39751"/>
                  </a:cubicBezTo>
                  <a:lnTo>
                    <a:pt x="6191250" y="2172716"/>
                  </a:lnTo>
                  <a:cubicBezTo>
                    <a:pt x="6191250" y="2194687"/>
                    <a:pt x="6173470" y="2212467"/>
                    <a:pt x="6151499" y="2212467"/>
                  </a:cubicBezTo>
                  <a:lnTo>
                    <a:pt x="39751" y="2212467"/>
                  </a:lnTo>
                  <a:cubicBezTo>
                    <a:pt x="17780" y="2212340"/>
                    <a:pt x="0" y="2194560"/>
                    <a:pt x="0" y="2172716"/>
                  </a:cubicBezTo>
                  <a:close/>
                </a:path>
              </a:pathLst>
            </a:custGeom>
            <a:solidFill>
              <a:srgbClr val="F9F7F7"/>
            </a:solidFill>
          </p:spPr>
        </p:sp>
      </p:grpSp>
      <p:grpSp>
        <p:nvGrpSpPr>
          <p:cNvPr name="Group 14" id="14"/>
          <p:cNvGrpSpPr/>
          <p:nvPr/>
        </p:nvGrpSpPr>
        <p:grpSpPr>
          <a:xfrm rot="0">
            <a:off x="992238" y="5272597"/>
            <a:ext cx="9946082" cy="1145430"/>
            <a:chOff x="0" y="0"/>
            <a:chExt cx="12594031" cy="1450378"/>
          </a:xfrm>
        </p:grpSpPr>
        <p:sp>
          <p:nvSpPr>
            <p:cNvPr name="Freeform 15" id="15"/>
            <p:cNvSpPr/>
            <p:nvPr/>
          </p:nvSpPr>
          <p:spPr>
            <a:xfrm flipH="false" flipV="false" rot="0">
              <a:off x="0" y="0"/>
              <a:ext cx="12594082" cy="1450467"/>
            </a:xfrm>
            <a:custGeom>
              <a:avLst/>
              <a:gdLst/>
              <a:ahLst/>
              <a:cxnLst/>
              <a:rect r="r" b="b" t="t" l="l"/>
              <a:pathLst>
                <a:path h="1450467" w="12594082">
                  <a:moveTo>
                    <a:pt x="0" y="39751"/>
                  </a:moveTo>
                  <a:cubicBezTo>
                    <a:pt x="0" y="17780"/>
                    <a:pt x="17780" y="0"/>
                    <a:pt x="39751" y="0"/>
                  </a:cubicBezTo>
                  <a:lnTo>
                    <a:pt x="12554331" y="0"/>
                  </a:lnTo>
                  <a:cubicBezTo>
                    <a:pt x="12576302" y="0"/>
                    <a:pt x="12594082" y="17780"/>
                    <a:pt x="12594082" y="39751"/>
                  </a:cubicBezTo>
                  <a:lnTo>
                    <a:pt x="12594082" y="1410716"/>
                  </a:lnTo>
                  <a:cubicBezTo>
                    <a:pt x="12594082" y="1432687"/>
                    <a:pt x="12576302" y="1450467"/>
                    <a:pt x="12554331" y="1450467"/>
                  </a:cubicBezTo>
                  <a:lnTo>
                    <a:pt x="39751" y="1450467"/>
                  </a:lnTo>
                  <a:cubicBezTo>
                    <a:pt x="17780" y="1450340"/>
                    <a:pt x="0" y="1432560"/>
                    <a:pt x="0" y="1410716"/>
                  </a:cubicBezTo>
                  <a:close/>
                </a:path>
              </a:pathLst>
            </a:custGeom>
            <a:solidFill>
              <a:srgbClr val="F9F7F7"/>
            </a:solidFill>
          </p:spPr>
        </p:sp>
      </p:grpSp>
      <p:sp>
        <p:nvSpPr>
          <p:cNvPr name="TextBox 16" id="16"/>
          <p:cNvSpPr txBox="true"/>
          <p:nvPr/>
        </p:nvSpPr>
        <p:spPr>
          <a:xfrm rot="0">
            <a:off x="588173" y="604223"/>
            <a:ext cx="10587157" cy="801329"/>
          </a:xfrm>
          <a:prstGeom prst="rect">
            <a:avLst/>
          </a:prstGeom>
        </p:spPr>
        <p:txBody>
          <a:bodyPr anchor="t" rtlCol="false" tIns="0" lIns="0" bIns="0" rIns="0">
            <a:spAutoFit/>
          </a:bodyPr>
          <a:lstStyle/>
          <a:p>
            <a:pPr algn="l">
              <a:lnSpc>
                <a:spcPts val="6290"/>
              </a:lnSpc>
            </a:pPr>
            <a:r>
              <a:rPr lang="en-US" sz="5000">
                <a:solidFill>
                  <a:srgbClr val="201B18"/>
                </a:solidFill>
                <a:latin typeface="Arimo"/>
                <a:ea typeface="Arimo"/>
                <a:cs typeface="Arimo"/>
                <a:sym typeface="Arimo"/>
              </a:rPr>
              <a:t>Why Parallelize Image Compression?</a:t>
            </a:r>
          </a:p>
        </p:txBody>
      </p:sp>
      <p:sp>
        <p:nvSpPr>
          <p:cNvPr name="TextBox 17" id="17"/>
          <p:cNvSpPr txBox="true"/>
          <p:nvPr/>
        </p:nvSpPr>
        <p:spPr>
          <a:xfrm rot="0">
            <a:off x="992238" y="1633537"/>
            <a:ext cx="9445523" cy="1553337"/>
          </a:xfrm>
          <a:prstGeom prst="rect">
            <a:avLst/>
          </a:prstGeom>
        </p:spPr>
        <p:txBody>
          <a:bodyPr anchor="t" rtlCol="false" tIns="0" lIns="0" bIns="0" rIns="0">
            <a:spAutoFit/>
          </a:bodyPr>
          <a:lstStyle/>
          <a:p>
            <a:pPr algn="l">
              <a:lnSpc>
                <a:spcPts val="3113"/>
              </a:lnSpc>
            </a:pPr>
            <a:r>
              <a:rPr lang="en-US" sz="2162">
                <a:solidFill>
                  <a:srgbClr val="504C49"/>
                </a:solidFill>
                <a:latin typeface="Source Serif Pro"/>
                <a:ea typeface="Source Serif Pro"/>
                <a:cs typeface="Source Serif Pro"/>
                <a:sym typeface="Source Serif Pro"/>
              </a:rPr>
              <a:t>JPEG compression represents a classic </a:t>
            </a:r>
            <a:r>
              <a:rPr lang="en-US" sz="2162" b="true">
                <a:solidFill>
                  <a:srgbClr val="3E2513"/>
                </a:solidFill>
                <a:latin typeface="Source Serif Pro Bold"/>
                <a:ea typeface="Source Serif Pro Bold"/>
                <a:cs typeface="Source Serif Pro Bold"/>
                <a:sym typeface="Source Serif Pro Bold"/>
              </a:rPr>
              <a:t>data-parallel</a:t>
            </a:r>
            <a:r>
              <a:rPr lang="en-US" sz="2162">
                <a:solidFill>
                  <a:srgbClr val="504C49"/>
                </a:solidFill>
                <a:latin typeface="Source Serif Pro"/>
                <a:ea typeface="Source Serif Pro"/>
                <a:cs typeface="Source Serif Pro"/>
                <a:sym typeface="Source Serif Pro"/>
              </a:rPr>
              <a:t> workload perfectly suited for GPU acceleration. Each 8×8 block in JPEG is completely independent—no block depends on another for DCT or quantization operations.</a:t>
            </a:r>
          </a:p>
        </p:txBody>
      </p:sp>
      <p:sp>
        <p:nvSpPr>
          <p:cNvPr name="TextBox 18" id="18"/>
          <p:cNvSpPr txBox="true"/>
          <p:nvPr/>
        </p:nvSpPr>
        <p:spPr>
          <a:xfrm rot="0">
            <a:off x="1201138" y="3538650"/>
            <a:ext cx="2849999" cy="409893"/>
          </a:xfrm>
          <a:prstGeom prst="rect">
            <a:avLst/>
          </a:prstGeom>
        </p:spPr>
        <p:txBody>
          <a:bodyPr anchor="t" rtlCol="false" tIns="0" lIns="0" bIns="0" rIns="0">
            <a:spAutoFit/>
          </a:bodyPr>
          <a:lstStyle/>
          <a:p>
            <a:pPr algn="l">
              <a:lnSpc>
                <a:spcPts val="3195"/>
              </a:lnSpc>
            </a:pPr>
            <a:r>
              <a:rPr lang="en-US" sz="2540">
                <a:solidFill>
                  <a:srgbClr val="504C49"/>
                </a:solidFill>
                <a:latin typeface="Arimo"/>
                <a:ea typeface="Arimo"/>
                <a:cs typeface="Arimo"/>
                <a:sym typeface="Arimo"/>
              </a:rPr>
              <a:t>Massive Parallelism</a:t>
            </a:r>
          </a:p>
        </p:txBody>
      </p:sp>
      <p:sp>
        <p:nvSpPr>
          <p:cNvPr name="TextBox 19" id="19"/>
          <p:cNvSpPr txBox="true"/>
          <p:nvPr/>
        </p:nvSpPr>
        <p:spPr>
          <a:xfrm rot="0">
            <a:off x="1201138" y="3936811"/>
            <a:ext cx="4471713" cy="1055132"/>
          </a:xfrm>
          <a:prstGeom prst="rect">
            <a:avLst/>
          </a:prstGeom>
        </p:spPr>
        <p:txBody>
          <a:bodyPr anchor="t" rtlCol="false" tIns="0" lIns="0" bIns="0" rIns="0">
            <a:spAutoFit/>
          </a:bodyPr>
          <a:lstStyle/>
          <a:p>
            <a:pPr algn="l">
              <a:lnSpc>
                <a:spcPts val="2801"/>
              </a:lnSpc>
            </a:pPr>
            <a:r>
              <a:rPr lang="en-US" sz="1945">
                <a:solidFill>
                  <a:srgbClr val="504C49"/>
                </a:solidFill>
                <a:latin typeface="Source Serif Pro"/>
                <a:ea typeface="Source Serif Pro"/>
                <a:cs typeface="Source Serif Pro"/>
                <a:sym typeface="Source Serif Pro"/>
              </a:rPr>
              <a:t>A 4K image contains approximately 1,40,000 8×8 blocks, ideal for simultaneous processing</a:t>
            </a:r>
          </a:p>
        </p:txBody>
      </p:sp>
      <p:sp>
        <p:nvSpPr>
          <p:cNvPr name="TextBox 20" id="20"/>
          <p:cNvSpPr txBox="true"/>
          <p:nvPr/>
        </p:nvSpPr>
        <p:spPr>
          <a:xfrm rot="0">
            <a:off x="6257707" y="3538650"/>
            <a:ext cx="2331006" cy="409893"/>
          </a:xfrm>
          <a:prstGeom prst="rect">
            <a:avLst/>
          </a:prstGeom>
        </p:spPr>
        <p:txBody>
          <a:bodyPr anchor="t" rtlCol="false" tIns="0" lIns="0" bIns="0" rIns="0">
            <a:spAutoFit/>
          </a:bodyPr>
          <a:lstStyle/>
          <a:p>
            <a:pPr algn="l">
              <a:lnSpc>
                <a:spcPts val="3195"/>
              </a:lnSpc>
            </a:pPr>
            <a:r>
              <a:rPr lang="en-US" sz="2540">
                <a:solidFill>
                  <a:srgbClr val="504C49"/>
                </a:solidFill>
                <a:latin typeface="Arimo"/>
                <a:ea typeface="Arimo"/>
                <a:cs typeface="Arimo"/>
                <a:sym typeface="Arimo"/>
              </a:rPr>
              <a:t>GPU Advantage</a:t>
            </a:r>
          </a:p>
        </p:txBody>
      </p:sp>
      <p:sp>
        <p:nvSpPr>
          <p:cNvPr name="TextBox 21" id="21"/>
          <p:cNvSpPr txBox="true"/>
          <p:nvPr/>
        </p:nvSpPr>
        <p:spPr>
          <a:xfrm rot="0">
            <a:off x="6257707" y="3936811"/>
            <a:ext cx="4471713" cy="1055132"/>
          </a:xfrm>
          <a:prstGeom prst="rect">
            <a:avLst/>
          </a:prstGeom>
        </p:spPr>
        <p:txBody>
          <a:bodyPr anchor="t" rtlCol="false" tIns="0" lIns="0" bIns="0" rIns="0">
            <a:spAutoFit/>
          </a:bodyPr>
          <a:lstStyle/>
          <a:p>
            <a:pPr algn="l">
              <a:lnSpc>
                <a:spcPts val="2801"/>
              </a:lnSpc>
            </a:pPr>
            <a:r>
              <a:rPr lang="en-US" sz="1945">
                <a:solidFill>
                  <a:srgbClr val="504C49"/>
                </a:solidFill>
                <a:latin typeface="Source Serif Pro"/>
                <a:ea typeface="Source Serif Pro"/>
                <a:cs typeface="Source Serif Pro"/>
                <a:sym typeface="Source Serif Pro"/>
              </a:rPr>
              <a:t>Thousands of GPU cores process all blocks simultaneously rather than sequentially</a:t>
            </a:r>
          </a:p>
        </p:txBody>
      </p:sp>
      <p:sp>
        <p:nvSpPr>
          <p:cNvPr name="TextBox 22" id="22"/>
          <p:cNvSpPr txBox="true"/>
          <p:nvPr/>
        </p:nvSpPr>
        <p:spPr>
          <a:xfrm rot="0">
            <a:off x="1201138" y="5452932"/>
            <a:ext cx="2151102" cy="409893"/>
          </a:xfrm>
          <a:prstGeom prst="rect">
            <a:avLst/>
          </a:prstGeom>
        </p:spPr>
        <p:txBody>
          <a:bodyPr anchor="t" rtlCol="false" tIns="0" lIns="0" bIns="0" rIns="0">
            <a:spAutoFit/>
          </a:bodyPr>
          <a:lstStyle/>
          <a:p>
            <a:pPr algn="l">
              <a:lnSpc>
                <a:spcPts val="3195"/>
              </a:lnSpc>
            </a:pPr>
            <a:r>
              <a:rPr lang="en-US" sz="2540">
                <a:solidFill>
                  <a:srgbClr val="504C49"/>
                </a:solidFill>
                <a:latin typeface="Arimo"/>
                <a:ea typeface="Arimo"/>
                <a:cs typeface="Arimo"/>
                <a:sym typeface="Arimo"/>
              </a:rPr>
              <a:t>CPU Limitation</a:t>
            </a:r>
          </a:p>
        </p:txBody>
      </p:sp>
      <p:sp>
        <p:nvSpPr>
          <p:cNvPr name="TextBox 23" id="23"/>
          <p:cNvSpPr txBox="true"/>
          <p:nvPr/>
        </p:nvSpPr>
        <p:spPr>
          <a:xfrm rot="0">
            <a:off x="1201138" y="5851083"/>
            <a:ext cx="9528282" cy="350282"/>
          </a:xfrm>
          <a:prstGeom prst="rect">
            <a:avLst/>
          </a:prstGeom>
        </p:spPr>
        <p:txBody>
          <a:bodyPr anchor="t" rtlCol="false" tIns="0" lIns="0" bIns="0" rIns="0">
            <a:spAutoFit/>
          </a:bodyPr>
          <a:lstStyle/>
          <a:p>
            <a:pPr algn="l">
              <a:lnSpc>
                <a:spcPts val="2801"/>
              </a:lnSpc>
            </a:pPr>
            <a:r>
              <a:rPr lang="en-US" sz="1945">
                <a:solidFill>
                  <a:srgbClr val="504C49"/>
                </a:solidFill>
                <a:latin typeface="Source Serif Pro"/>
                <a:ea typeface="Source Serif Pro"/>
                <a:cs typeface="Source Serif Pro"/>
                <a:sym typeface="Source Serif Pro"/>
              </a:rPr>
              <a:t>Single-threaded CPU processes blocks one at a time, creating sequential bottleneck</a:t>
            </a:r>
          </a:p>
        </p:txBody>
      </p:sp>
      <p:sp>
        <p:nvSpPr>
          <p:cNvPr name="TextBox 24" id="24"/>
          <p:cNvSpPr txBox="true"/>
          <p:nvPr/>
        </p:nvSpPr>
        <p:spPr>
          <a:xfrm rot="0">
            <a:off x="992238" y="6644411"/>
            <a:ext cx="9076573" cy="3556864"/>
          </a:xfrm>
          <a:prstGeom prst="rect">
            <a:avLst/>
          </a:prstGeom>
        </p:spPr>
        <p:txBody>
          <a:bodyPr anchor="t" rtlCol="false" tIns="0" lIns="0" bIns="0" rIns="0">
            <a:spAutoFit/>
          </a:bodyPr>
          <a:lstStyle/>
          <a:p>
            <a:pPr algn="l">
              <a:lnSpc>
                <a:spcPts val="2853"/>
              </a:lnSpc>
            </a:pPr>
            <a:r>
              <a:rPr lang="en-US" sz="1981">
                <a:solidFill>
                  <a:srgbClr val="504C49"/>
                </a:solidFill>
                <a:latin typeface="Source Serif Pro"/>
                <a:ea typeface="Source Serif Pro"/>
                <a:cs typeface="Source Serif Pro"/>
                <a:sym typeface="Source Serif Pro"/>
              </a:rPr>
              <a:t>~100% </a:t>
            </a:r>
            <a:r>
              <a:rPr lang="en-US" sz="1981">
                <a:solidFill>
                  <a:srgbClr val="504C49"/>
                </a:solidFill>
                <a:latin typeface="Source Serif Pro"/>
                <a:ea typeface="Source Serif Pro"/>
                <a:cs typeface="Source Serif Pro"/>
                <a:sym typeface="Source Serif Pro"/>
              </a:rPr>
              <a:t>Parallelizable Fraction</a:t>
            </a:r>
          </a:p>
          <a:p>
            <a:pPr algn="l" marL="427899" indent="-213949" lvl="1">
              <a:lnSpc>
                <a:spcPts val="2853"/>
              </a:lnSpc>
              <a:buFont typeface="Arial"/>
              <a:buChar char="•"/>
            </a:pPr>
            <a:r>
              <a:rPr lang="en-US" sz="1981">
                <a:solidFill>
                  <a:srgbClr val="504C49"/>
                </a:solidFill>
                <a:latin typeface="Source Serif Pro"/>
                <a:ea typeface="Source Serif Pro"/>
                <a:cs typeface="Source Serif Pro"/>
                <a:sym typeface="Source Serif Pro"/>
              </a:rPr>
              <a:t>Amdahl's Law states that speedup is limited by the sequential portion of a program — even 5% serial work caps your spee</a:t>
            </a:r>
            <a:r>
              <a:rPr lang="en-US" sz="1981">
                <a:solidFill>
                  <a:srgbClr val="504C49"/>
                </a:solidFill>
                <a:latin typeface="Source Serif Pro"/>
                <a:ea typeface="Source Serif Pro"/>
                <a:cs typeface="Source Serif Pro"/>
                <a:sym typeface="Source Serif Pro"/>
              </a:rPr>
              <a:t>d</a:t>
            </a:r>
            <a:r>
              <a:rPr lang="en-US" sz="1981">
                <a:solidFill>
                  <a:srgbClr val="504C49"/>
                </a:solidFill>
                <a:latin typeface="Source Serif Pro"/>
                <a:ea typeface="Source Serif Pro"/>
                <a:cs typeface="Source Serif Pro"/>
                <a:sym typeface="Source Serif Pro"/>
              </a:rPr>
              <a:t>u</a:t>
            </a:r>
            <a:r>
              <a:rPr lang="en-US" sz="1981">
                <a:solidFill>
                  <a:srgbClr val="504C49"/>
                </a:solidFill>
                <a:latin typeface="Source Serif Pro"/>
                <a:ea typeface="Source Serif Pro"/>
                <a:cs typeface="Source Serif Pro"/>
                <a:sym typeface="Source Serif Pro"/>
              </a:rPr>
              <a:t>p</a:t>
            </a:r>
            <a:r>
              <a:rPr lang="en-US" sz="1981">
                <a:solidFill>
                  <a:srgbClr val="504C49"/>
                </a:solidFill>
                <a:latin typeface="Source Serif Pro"/>
                <a:ea typeface="Source Serif Pro"/>
                <a:cs typeface="Source Serif Pro"/>
                <a:sym typeface="Source Serif Pro"/>
              </a:rPr>
              <a:t> </a:t>
            </a:r>
            <a:r>
              <a:rPr lang="en-US" sz="1981">
                <a:solidFill>
                  <a:srgbClr val="504C49"/>
                </a:solidFill>
                <a:latin typeface="Source Serif Pro"/>
                <a:ea typeface="Source Serif Pro"/>
                <a:cs typeface="Source Serif Pro"/>
                <a:sym typeface="Source Serif Pro"/>
              </a:rPr>
              <a:t>a</a:t>
            </a:r>
            <a:r>
              <a:rPr lang="en-US" sz="1981">
                <a:solidFill>
                  <a:srgbClr val="504C49"/>
                </a:solidFill>
                <a:latin typeface="Source Serif Pro"/>
                <a:ea typeface="Source Serif Pro"/>
                <a:cs typeface="Source Serif Pro"/>
                <a:sym typeface="Source Serif Pro"/>
              </a:rPr>
              <a:t>t 20×, </a:t>
            </a:r>
            <a:r>
              <a:rPr lang="en-US" sz="1981">
                <a:solidFill>
                  <a:srgbClr val="504C49"/>
                </a:solidFill>
                <a:latin typeface="Source Serif Pro"/>
                <a:ea typeface="Source Serif Pro"/>
                <a:cs typeface="Source Serif Pro"/>
                <a:sym typeface="Source Serif Pro"/>
              </a:rPr>
              <a:t>r</a:t>
            </a:r>
            <a:r>
              <a:rPr lang="en-US" sz="1981">
                <a:solidFill>
                  <a:srgbClr val="504C49"/>
                </a:solidFill>
                <a:latin typeface="Source Serif Pro"/>
                <a:ea typeface="Source Serif Pro"/>
                <a:cs typeface="Source Serif Pro"/>
                <a:sym typeface="Source Serif Pro"/>
              </a:rPr>
              <a:t>eg</a:t>
            </a:r>
            <a:r>
              <a:rPr lang="en-US" sz="1981">
                <a:solidFill>
                  <a:srgbClr val="504C49"/>
                </a:solidFill>
                <a:latin typeface="Source Serif Pro"/>
                <a:ea typeface="Source Serif Pro"/>
                <a:cs typeface="Source Serif Pro"/>
                <a:sym typeface="Source Serif Pro"/>
              </a:rPr>
              <a:t>a</a:t>
            </a:r>
            <a:r>
              <a:rPr lang="en-US" sz="1981">
                <a:solidFill>
                  <a:srgbClr val="504C49"/>
                </a:solidFill>
                <a:latin typeface="Source Serif Pro"/>
                <a:ea typeface="Source Serif Pro"/>
                <a:cs typeface="Source Serif Pro"/>
                <a:sym typeface="Source Serif Pro"/>
              </a:rPr>
              <a:t>rd</a:t>
            </a:r>
            <a:r>
              <a:rPr lang="en-US" sz="1981">
                <a:solidFill>
                  <a:srgbClr val="504C49"/>
                </a:solidFill>
                <a:latin typeface="Source Serif Pro"/>
                <a:ea typeface="Source Serif Pro"/>
                <a:cs typeface="Source Serif Pro"/>
                <a:sym typeface="Source Serif Pro"/>
              </a:rPr>
              <a:t>l</a:t>
            </a:r>
            <a:r>
              <a:rPr lang="en-US" sz="1981">
                <a:solidFill>
                  <a:srgbClr val="504C49"/>
                </a:solidFill>
                <a:latin typeface="Source Serif Pro"/>
                <a:ea typeface="Source Serif Pro"/>
                <a:cs typeface="Source Serif Pro"/>
                <a:sym typeface="Source Serif Pro"/>
              </a:rPr>
              <a:t>ess of core count.</a:t>
            </a:r>
          </a:p>
          <a:p>
            <a:pPr algn="l" marL="427899" indent="-213949" lvl="1">
              <a:lnSpc>
                <a:spcPts val="2853"/>
              </a:lnSpc>
              <a:buFont typeface="Arial"/>
              <a:buChar char="•"/>
            </a:pPr>
            <a:r>
              <a:rPr lang="en-US" sz="1981">
                <a:solidFill>
                  <a:srgbClr val="504C49"/>
                </a:solidFill>
                <a:latin typeface="Source Serif Pro"/>
                <a:ea typeface="Source Serif Pro"/>
                <a:cs typeface="Source Serif Pro"/>
                <a:sym typeface="Source Serif Pro"/>
              </a:rPr>
              <a:t>In JPEG compression, the on</a:t>
            </a:r>
            <a:r>
              <a:rPr lang="en-US" sz="1981">
                <a:solidFill>
                  <a:srgbClr val="504C49"/>
                </a:solidFill>
                <a:latin typeface="Source Serif Pro"/>
                <a:ea typeface="Source Serif Pro"/>
                <a:cs typeface="Source Serif Pro"/>
                <a:sym typeface="Source Serif Pro"/>
              </a:rPr>
              <a:t>l</a:t>
            </a:r>
            <a:r>
              <a:rPr lang="en-US" sz="1981">
                <a:solidFill>
                  <a:srgbClr val="504C49"/>
                </a:solidFill>
                <a:latin typeface="Source Serif Pro"/>
                <a:ea typeface="Source Serif Pro"/>
                <a:cs typeface="Source Serif Pro"/>
                <a:sym typeface="Source Serif Pro"/>
              </a:rPr>
              <a:t>y s</a:t>
            </a:r>
            <a:r>
              <a:rPr lang="en-US" sz="1981">
                <a:solidFill>
                  <a:srgbClr val="504C49"/>
                </a:solidFill>
                <a:latin typeface="Source Serif Pro"/>
                <a:ea typeface="Source Serif Pro"/>
                <a:cs typeface="Source Serif Pro"/>
                <a:sym typeface="Source Serif Pro"/>
              </a:rPr>
              <a:t>e</a:t>
            </a:r>
            <a:r>
              <a:rPr lang="en-US" sz="1981">
                <a:solidFill>
                  <a:srgbClr val="504C49"/>
                </a:solidFill>
                <a:latin typeface="Source Serif Pro"/>
                <a:ea typeface="Source Serif Pro"/>
                <a:cs typeface="Source Serif Pro"/>
                <a:sym typeface="Source Serif Pro"/>
              </a:rPr>
              <a:t>ria</a:t>
            </a:r>
            <a:r>
              <a:rPr lang="en-US" sz="1981">
                <a:solidFill>
                  <a:srgbClr val="504C49"/>
                </a:solidFill>
                <a:latin typeface="Source Serif Pro"/>
                <a:ea typeface="Source Serif Pro"/>
                <a:cs typeface="Source Serif Pro"/>
                <a:sym typeface="Source Serif Pro"/>
              </a:rPr>
              <a:t>l</a:t>
            </a:r>
            <a:r>
              <a:rPr lang="en-US" sz="1981">
                <a:solidFill>
                  <a:srgbClr val="504C49"/>
                </a:solidFill>
                <a:latin typeface="Source Serif Pro"/>
                <a:ea typeface="Source Serif Pro"/>
                <a:cs typeface="Source Serif Pro"/>
                <a:sym typeface="Source Serif Pro"/>
              </a:rPr>
              <a:t> work is one-time setup: loading the image and uploading DCT/quantization tables to GPU memory. The actual compression across all 8×8 blocks is fully parallel — no thread ever waits on another.</a:t>
            </a:r>
          </a:p>
          <a:p>
            <a:pPr algn="l" marL="427899" indent="-213949" lvl="1">
              <a:lnSpc>
                <a:spcPts val="2853"/>
              </a:lnSpc>
              <a:buFont typeface="Arial"/>
              <a:buChar char="•"/>
            </a:pPr>
            <a:r>
              <a:rPr lang="en-US" sz="1981">
                <a:solidFill>
                  <a:srgbClr val="504C49"/>
                </a:solidFill>
                <a:latin typeface="Source Serif Pro"/>
                <a:ea typeface="Source Serif Pro"/>
                <a:cs typeface="Source Serif Pro"/>
                <a:sym typeface="Source Serif Pro"/>
              </a:rPr>
              <a:t>This makes JPEG one of the best real-world cases for GPU acceleration.</a:t>
            </a:r>
          </a:p>
          <a:p>
            <a:pPr algn="l">
              <a:lnSpc>
                <a:spcPts val="2853"/>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3F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940594"/>
            <a:ext cx="7964329" cy="710007"/>
          </a:xfrm>
          <a:prstGeom prst="rect">
            <a:avLst/>
          </a:prstGeom>
        </p:spPr>
        <p:txBody>
          <a:bodyPr anchor="t" rtlCol="false" tIns="0" lIns="0" bIns="0" rIns="0">
            <a:spAutoFit/>
          </a:bodyPr>
          <a:lstStyle/>
          <a:p>
            <a:pPr algn="l">
              <a:lnSpc>
                <a:spcPts val="5569"/>
              </a:lnSpc>
            </a:pPr>
            <a:r>
              <a:rPr lang="en-US" sz="4424">
                <a:solidFill>
                  <a:srgbClr val="201B18"/>
                </a:solidFill>
                <a:latin typeface="Arimo"/>
                <a:ea typeface="Arimo"/>
                <a:cs typeface="Arimo"/>
                <a:sym typeface="Arimo"/>
              </a:rPr>
              <a:t>Content-Aware Quality Mapping</a:t>
            </a:r>
          </a:p>
        </p:txBody>
      </p:sp>
      <p:sp>
        <p:nvSpPr>
          <p:cNvPr name="TextBox 11" id="11"/>
          <p:cNvSpPr txBox="true"/>
          <p:nvPr/>
        </p:nvSpPr>
        <p:spPr>
          <a:xfrm rot="0">
            <a:off x="992238" y="1780190"/>
            <a:ext cx="9445523" cy="1100593"/>
          </a:xfrm>
          <a:prstGeom prst="rect">
            <a:avLst/>
          </a:prstGeom>
        </p:spPr>
        <p:txBody>
          <a:bodyPr anchor="t" rtlCol="false" tIns="0" lIns="0" bIns="0" rIns="0">
            <a:spAutoFit/>
          </a:bodyPr>
          <a:lstStyle/>
          <a:p>
            <a:pPr algn="l">
              <a:lnSpc>
                <a:spcPts val="2973"/>
              </a:lnSpc>
            </a:pPr>
            <a:r>
              <a:rPr lang="en-US" sz="2137">
                <a:solidFill>
                  <a:srgbClr val="504C49"/>
                </a:solidFill>
                <a:latin typeface="Source Serif Pro"/>
                <a:ea typeface="Source Serif Pro"/>
                <a:cs typeface="Source Serif Pro"/>
                <a:sym typeface="Source Serif Pro"/>
              </a:rPr>
              <a:t>Our project extends standard JPEG with </a:t>
            </a:r>
            <a:r>
              <a:rPr lang="en-US" sz="2137" b="true">
                <a:solidFill>
                  <a:srgbClr val="3E2513"/>
                </a:solidFill>
                <a:latin typeface="Source Serif Pro Bold"/>
                <a:ea typeface="Source Serif Pro Bold"/>
                <a:cs typeface="Source Serif Pro Bold"/>
                <a:sym typeface="Source Serif Pro Bold"/>
              </a:rPr>
              <a:t>saliency-based quality mapping</a:t>
            </a:r>
            <a:r>
              <a:rPr lang="en-US" sz="2137">
                <a:solidFill>
                  <a:srgbClr val="504C49"/>
                </a:solidFill>
                <a:latin typeface="Source Serif Pro"/>
                <a:ea typeface="Source Serif Pro"/>
                <a:cs typeface="Source Serif Pro"/>
                <a:sym typeface="Source Serif Pro"/>
              </a:rPr>
              <a:t>, applying variable compression levels across different image regions based on visual importance.</a:t>
            </a:r>
          </a:p>
        </p:txBody>
      </p:sp>
      <p:grpSp>
        <p:nvGrpSpPr>
          <p:cNvPr name="Group 12" id="12"/>
          <p:cNvGrpSpPr/>
          <p:nvPr/>
        </p:nvGrpSpPr>
        <p:grpSpPr>
          <a:xfrm rot="0">
            <a:off x="992238" y="3010373"/>
            <a:ext cx="372066" cy="408929"/>
            <a:chOff x="0" y="0"/>
            <a:chExt cx="496087" cy="545239"/>
          </a:xfrm>
        </p:grpSpPr>
        <p:sp>
          <p:nvSpPr>
            <p:cNvPr name="Freeform 13" id="13"/>
            <p:cNvSpPr/>
            <p:nvPr/>
          </p:nvSpPr>
          <p:spPr>
            <a:xfrm flipH="false" flipV="false" rot="0">
              <a:off x="0" y="0"/>
              <a:ext cx="496093" cy="545242"/>
            </a:xfrm>
            <a:custGeom>
              <a:avLst/>
              <a:gdLst/>
              <a:ahLst/>
              <a:cxnLst/>
              <a:rect r="r" b="b" t="t" l="l"/>
              <a:pathLst>
                <a:path h="545242" w="496093">
                  <a:moveTo>
                    <a:pt x="0" y="0"/>
                  </a:moveTo>
                  <a:lnTo>
                    <a:pt x="496093" y="0"/>
                  </a:lnTo>
                  <a:lnTo>
                    <a:pt x="496093" y="545242"/>
                  </a:lnTo>
                  <a:lnTo>
                    <a:pt x="0" y="545242"/>
                  </a:lnTo>
                  <a:close/>
                </a:path>
              </a:pathLst>
            </a:custGeom>
            <a:blipFill>
              <a:blip r:embed="rId6">
                <a:alphaModFix amt="0"/>
              </a:blip>
              <a:stretch>
                <a:fillRect l="-30163" t="0" r="-30162" b="43152"/>
              </a:stretch>
            </a:blipFill>
          </p:spPr>
        </p:sp>
        <p:sp>
          <p:nvSpPr>
            <p:cNvPr name="TextBox 14" id="14"/>
            <p:cNvSpPr txBox="true"/>
            <p:nvPr/>
          </p:nvSpPr>
          <p:spPr>
            <a:xfrm>
              <a:off x="0" y="-47625"/>
              <a:ext cx="496087" cy="592864"/>
            </a:xfrm>
            <a:prstGeom prst="rect">
              <a:avLst/>
            </a:prstGeom>
          </p:spPr>
          <p:txBody>
            <a:bodyPr anchor="ctr" rtlCol="false" tIns="0" lIns="0" bIns="0" rIns="0"/>
            <a:lstStyle/>
            <a:p>
              <a:pPr algn="l">
                <a:lnSpc>
                  <a:spcPts val="2834"/>
                </a:lnSpc>
              </a:pPr>
              <a:r>
                <a:rPr lang="en-US" sz="2037">
                  <a:solidFill>
                    <a:srgbClr val="504C49"/>
                  </a:solidFill>
                  <a:latin typeface="Arimo"/>
                  <a:ea typeface="Arimo"/>
                  <a:cs typeface="Arimo"/>
                  <a:sym typeface="Arimo"/>
                </a:rPr>
                <a:t>01</a:t>
              </a:r>
            </a:p>
          </p:txBody>
        </p:sp>
      </p:grpSp>
      <p:grpSp>
        <p:nvGrpSpPr>
          <p:cNvPr name="Group 15" id="15"/>
          <p:cNvGrpSpPr/>
          <p:nvPr/>
        </p:nvGrpSpPr>
        <p:grpSpPr>
          <a:xfrm rot="0">
            <a:off x="992238" y="3447877"/>
            <a:ext cx="9445523" cy="19050"/>
            <a:chOff x="0" y="0"/>
            <a:chExt cx="12594031" cy="25400"/>
          </a:xfrm>
        </p:grpSpPr>
        <p:sp>
          <p:nvSpPr>
            <p:cNvPr name="Freeform 16" id="16"/>
            <p:cNvSpPr/>
            <p:nvPr/>
          </p:nvSpPr>
          <p:spPr>
            <a:xfrm flipH="false" flipV="false" rot="0">
              <a:off x="0" y="0"/>
              <a:ext cx="12594082" cy="25400"/>
            </a:xfrm>
            <a:custGeom>
              <a:avLst/>
              <a:gdLst/>
              <a:ahLst/>
              <a:cxnLst/>
              <a:rect r="r" b="b" t="t" l="l"/>
              <a:pathLst>
                <a:path h="25400" w="12594082">
                  <a:moveTo>
                    <a:pt x="0" y="0"/>
                  </a:moveTo>
                  <a:lnTo>
                    <a:pt x="12594082" y="0"/>
                  </a:lnTo>
                  <a:lnTo>
                    <a:pt x="12594082" y="25400"/>
                  </a:lnTo>
                  <a:lnTo>
                    <a:pt x="0" y="25400"/>
                  </a:lnTo>
                  <a:close/>
                </a:path>
              </a:pathLst>
            </a:custGeom>
            <a:solidFill>
              <a:srgbClr val="3E2513"/>
            </a:solidFill>
          </p:spPr>
        </p:sp>
      </p:grpSp>
      <p:sp>
        <p:nvSpPr>
          <p:cNvPr name="TextBox 17" id="17"/>
          <p:cNvSpPr txBox="true"/>
          <p:nvPr/>
        </p:nvSpPr>
        <p:spPr>
          <a:xfrm rot="0">
            <a:off x="992238" y="3550423"/>
            <a:ext cx="3378994" cy="378372"/>
          </a:xfrm>
          <a:prstGeom prst="rect">
            <a:avLst/>
          </a:prstGeom>
        </p:spPr>
        <p:txBody>
          <a:bodyPr anchor="t" rtlCol="false" tIns="0" lIns="0" bIns="0" rIns="0">
            <a:spAutoFit/>
          </a:bodyPr>
          <a:lstStyle/>
          <a:p>
            <a:pPr algn="l">
              <a:lnSpc>
                <a:spcPts val="2870"/>
              </a:lnSpc>
            </a:pPr>
            <a:r>
              <a:rPr lang="en-US" sz="2312">
                <a:solidFill>
                  <a:srgbClr val="504C49"/>
                </a:solidFill>
                <a:latin typeface="Arimo"/>
                <a:ea typeface="Arimo"/>
                <a:cs typeface="Arimo"/>
                <a:sym typeface="Arimo"/>
              </a:rPr>
              <a:t>Standard JPEG Limitation</a:t>
            </a:r>
          </a:p>
        </p:txBody>
      </p:sp>
      <p:sp>
        <p:nvSpPr>
          <p:cNvPr name="TextBox 18" id="18"/>
          <p:cNvSpPr txBox="true"/>
          <p:nvPr/>
        </p:nvSpPr>
        <p:spPr>
          <a:xfrm rot="0">
            <a:off x="992238" y="3905677"/>
            <a:ext cx="9445523"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Single quality level applied uniformly across entire image</a:t>
            </a:r>
          </a:p>
        </p:txBody>
      </p:sp>
      <p:grpSp>
        <p:nvGrpSpPr>
          <p:cNvPr name="Group 19" id="19"/>
          <p:cNvGrpSpPr/>
          <p:nvPr/>
        </p:nvGrpSpPr>
        <p:grpSpPr>
          <a:xfrm rot="0">
            <a:off x="982713" y="4275275"/>
            <a:ext cx="372066" cy="408929"/>
            <a:chOff x="0" y="0"/>
            <a:chExt cx="496087" cy="545239"/>
          </a:xfrm>
        </p:grpSpPr>
        <p:sp>
          <p:nvSpPr>
            <p:cNvPr name="Freeform 20" id="20"/>
            <p:cNvSpPr/>
            <p:nvPr/>
          </p:nvSpPr>
          <p:spPr>
            <a:xfrm flipH="false" flipV="false" rot="0">
              <a:off x="0" y="0"/>
              <a:ext cx="496093" cy="545242"/>
            </a:xfrm>
            <a:custGeom>
              <a:avLst/>
              <a:gdLst/>
              <a:ahLst/>
              <a:cxnLst/>
              <a:rect r="r" b="b" t="t" l="l"/>
              <a:pathLst>
                <a:path h="545242" w="496093">
                  <a:moveTo>
                    <a:pt x="0" y="0"/>
                  </a:moveTo>
                  <a:lnTo>
                    <a:pt x="496093" y="0"/>
                  </a:lnTo>
                  <a:lnTo>
                    <a:pt x="496093" y="545242"/>
                  </a:lnTo>
                  <a:lnTo>
                    <a:pt x="0" y="545242"/>
                  </a:lnTo>
                  <a:close/>
                </a:path>
              </a:pathLst>
            </a:custGeom>
            <a:blipFill>
              <a:blip r:embed="rId6">
                <a:alphaModFix amt="0"/>
              </a:blip>
              <a:stretch>
                <a:fillRect l="-30163" t="0" r="-30162" b="43152"/>
              </a:stretch>
            </a:blipFill>
          </p:spPr>
        </p:sp>
        <p:sp>
          <p:nvSpPr>
            <p:cNvPr name="TextBox 21" id="21"/>
            <p:cNvSpPr txBox="true"/>
            <p:nvPr/>
          </p:nvSpPr>
          <p:spPr>
            <a:xfrm>
              <a:off x="0" y="-47625"/>
              <a:ext cx="496087" cy="592864"/>
            </a:xfrm>
            <a:prstGeom prst="rect">
              <a:avLst/>
            </a:prstGeom>
          </p:spPr>
          <p:txBody>
            <a:bodyPr anchor="ctr" rtlCol="false" tIns="0" lIns="0" bIns="0" rIns="0"/>
            <a:lstStyle/>
            <a:p>
              <a:pPr algn="l">
                <a:lnSpc>
                  <a:spcPts val="2834"/>
                </a:lnSpc>
              </a:pPr>
              <a:r>
                <a:rPr lang="en-US" sz="2037">
                  <a:solidFill>
                    <a:srgbClr val="504C49"/>
                  </a:solidFill>
                  <a:latin typeface="Arimo"/>
                  <a:ea typeface="Arimo"/>
                  <a:cs typeface="Arimo"/>
                  <a:sym typeface="Arimo"/>
                </a:rPr>
                <a:t>02</a:t>
              </a:r>
            </a:p>
          </p:txBody>
        </p:sp>
      </p:grpSp>
      <p:grpSp>
        <p:nvGrpSpPr>
          <p:cNvPr name="Group 22" id="22"/>
          <p:cNvGrpSpPr/>
          <p:nvPr/>
        </p:nvGrpSpPr>
        <p:grpSpPr>
          <a:xfrm rot="0">
            <a:off x="982713" y="4712778"/>
            <a:ext cx="9445523" cy="19050"/>
            <a:chOff x="0" y="0"/>
            <a:chExt cx="12594031" cy="25400"/>
          </a:xfrm>
        </p:grpSpPr>
        <p:sp>
          <p:nvSpPr>
            <p:cNvPr name="Freeform 23" id="23"/>
            <p:cNvSpPr/>
            <p:nvPr/>
          </p:nvSpPr>
          <p:spPr>
            <a:xfrm flipH="false" flipV="false" rot="0">
              <a:off x="0" y="0"/>
              <a:ext cx="12594082" cy="25400"/>
            </a:xfrm>
            <a:custGeom>
              <a:avLst/>
              <a:gdLst/>
              <a:ahLst/>
              <a:cxnLst/>
              <a:rect r="r" b="b" t="t" l="l"/>
              <a:pathLst>
                <a:path h="25400" w="12594082">
                  <a:moveTo>
                    <a:pt x="0" y="0"/>
                  </a:moveTo>
                  <a:lnTo>
                    <a:pt x="12594082" y="0"/>
                  </a:lnTo>
                  <a:lnTo>
                    <a:pt x="12594082" y="25400"/>
                  </a:lnTo>
                  <a:lnTo>
                    <a:pt x="0" y="25400"/>
                  </a:lnTo>
                  <a:close/>
                </a:path>
              </a:pathLst>
            </a:custGeom>
            <a:solidFill>
              <a:srgbClr val="3E2513"/>
            </a:solidFill>
          </p:spPr>
        </p:sp>
      </p:grpSp>
      <p:sp>
        <p:nvSpPr>
          <p:cNvPr name="TextBox 24" id="24"/>
          <p:cNvSpPr txBox="true"/>
          <p:nvPr/>
        </p:nvSpPr>
        <p:spPr>
          <a:xfrm rot="0">
            <a:off x="982713" y="4815325"/>
            <a:ext cx="2432328" cy="378372"/>
          </a:xfrm>
          <a:prstGeom prst="rect">
            <a:avLst/>
          </a:prstGeom>
        </p:spPr>
        <p:txBody>
          <a:bodyPr anchor="t" rtlCol="false" tIns="0" lIns="0" bIns="0" rIns="0">
            <a:spAutoFit/>
          </a:bodyPr>
          <a:lstStyle/>
          <a:p>
            <a:pPr algn="l">
              <a:lnSpc>
                <a:spcPts val="2870"/>
              </a:lnSpc>
            </a:pPr>
            <a:r>
              <a:rPr lang="en-US" sz="2312">
                <a:solidFill>
                  <a:srgbClr val="504C49"/>
                </a:solidFill>
                <a:latin typeface="Arimo"/>
                <a:ea typeface="Arimo"/>
                <a:cs typeface="Arimo"/>
                <a:sym typeface="Arimo"/>
              </a:rPr>
              <a:t>Saliency Detection</a:t>
            </a:r>
          </a:p>
        </p:txBody>
      </p:sp>
      <p:sp>
        <p:nvSpPr>
          <p:cNvPr name="TextBox 25" id="25"/>
          <p:cNvSpPr txBox="true"/>
          <p:nvPr/>
        </p:nvSpPr>
        <p:spPr>
          <a:xfrm rot="0">
            <a:off x="982713" y="5170579"/>
            <a:ext cx="9445523"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Compute per-block importance from local contrast and luma variance</a:t>
            </a:r>
          </a:p>
        </p:txBody>
      </p:sp>
      <p:grpSp>
        <p:nvGrpSpPr>
          <p:cNvPr name="Group 26" id="26"/>
          <p:cNvGrpSpPr/>
          <p:nvPr/>
        </p:nvGrpSpPr>
        <p:grpSpPr>
          <a:xfrm rot="0">
            <a:off x="982713" y="5597326"/>
            <a:ext cx="372066" cy="408929"/>
            <a:chOff x="0" y="0"/>
            <a:chExt cx="496087" cy="545239"/>
          </a:xfrm>
        </p:grpSpPr>
        <p:sp>
          <p:nvSpPr>
            <p:cNvPr name="Freeform 27" id="27"/>
            <p:cNvSpPr/>
            <p:nvPr/>
          </p:nvSpPr>
          <p:spPr>
            <a:xfrm flipH="false" flipV="false" rot="0">
              <a:off x="0" y="0"/>
              <a:ext cx="496093" cy="545242"/>
            </a:xfrm>
            <a:custGeom>
              <a:avLst/>
              <a:gdLst/>
              <a:ahLst/>
              <a:cxnLst/>
              <a:rect r="r" b="b" t="t" l="l"/>
              <a:pathLst>
                <a:path h="545242" w="496093">
                  <a:moveTo>
                    <a:pt x="0" y="0"/>
                  </a:moveTo>
                  <a:lnTo>
                    <a:pt x="496093" y="0"/>
                  </a:lnTo>
                  <a:lnTo>
                    <a:pt x="496093" y="545242"/>
                  </a:lnTo>
                  <a:lnTo>
                    <a:pt x="0" y="545242"/>
                  </a:lnTo>
                  <a:close/>
                </a:path>
              </a:pathLst>
            </a:custGeom>
            <a:blipFill>
              <a:blip r:embed="rId6">
                <a:alphaModFix amt="0"/>
              </a:blip>
              <a:stretch>
                <a:fillRect l="-30163" t="0" r="-30162" b="43152"/>
              </a:stretch>
            </a:blipFill>
          </p:spPr>
        </p:sp>
        <p:sp>
          <p:nvSpPr>
            <p:cNvPr name="TextBox 28" id="28"/>
            <p:cNvSpPr txBox="true"/>
            <p:nvPr/>
          </p:nvSpPr>
          <p:spPr>
            <a:xfrm>
              <a:off x="0" y="-47625"/>
              <a:ext cx="496087" cy="592864"/>
            </a:xfrm>
            <a:prstGeom prst="rect">
              <a:avLst/>
            </a:prstGeom>
          </p:spPr>
          <p:txBody>
            <a:bodyPr anchor="ctr" rtlCol="false" tIns="0" lIns="0" bIns="0" rIns="0"/>
            <a:lstStyle/>
            <a:p>
              <a:pPr algn="l">
                <a:lnSpc>
                  <a:spcPts val="2834"/>
                </a:lnSpc>
              </a:pPr>
              <a:r>
                <a:rPr lang="en-US" sz="2037">
                  <a:solidFill>
                    <a:srgbClr val="504C49"/>
                  </a:solidFill>
                  <a:latin typeface="Arimo"/>
                  <a:ea typeface="Arimo"/>
                  <a:cs typeface="Arimo"/>
                  <a:sym typeface="Arimo"/>
                </a:rPr>
                <a:t>03</a:t>
              </a:r>
            </a:p>
          </p:txBody>
        </p:sp>
      </p:grpSp>
      <p:grpSp>
        <p:nvGrpSpPr>
          <p:cNvPr name="Group 29" id="29"/>
          <p:cNvGrpSpPr/>
          <p:nvPr/>
        </p:nvGrpSpPr>
        <p:grpSpPr>
          <a:xfrm rot="0">
            <a:off x="982713" y="6034830"/>
            <a:ext cx="9445523" cy="19050"/>
            <a:chOff x="0" y="0"/>
            <a:chExt cx="12594031" cy="25400"/>
          </a:xfrm>
        </p:grpSpPr>
        <p:sp>
          <p:nvSpPr>
            <p:cNvPr name="Freeform 30" id="30"/>
            <p:cNvSpPr/>
            <p:nvPr/>
          </p:nvSpPr>
          <p:spPr>
            <a:xfrm flipH="false" flipV="false" rot="0">
              <a:off x="0" y="0"/>
              <a:ext cx="12594082" cy="25400"/>
            </a:xfrm>
            <a:custGeom>
              <a:avLst/>
              <a:gdLst/>
              <a:ahLst/>
              <a:cxnLst/>
              <a:rect r="r" b="b" t="t" l="l"/>
              <a:pathLst>
                <a:path h="25400" w="12594082">
                  <a:moveTo>
                    <a:pt x="0" y="0"/>
                  </a:moveTo>
                  <a:lnTo>
                    <a:pt x="12594082" y="0"/>
                  </a:lnTo>
                  <a:lnTo>
                    <a:pt x="12594082" y="25400"/>
                  </a:lnTo>
                  <a:lnTo>
                    <a:pt x="0" y="25400"/>
                  </a:lnTo>
                  <a:close/>
                </a:path>
              </a:pathLst>
            </a:custGeom>
            <a:solidFill>
              <a:srgbClr val="3E2513"/>
            </a:solidFill>
          </p:spPr>
        </p:sp>
      </p:grpSp>
      <p:sp>
        <p:nvSpPr>
          <p:cNvPr name="TextBox 31" id="31"/>
          <p:cNvSpPr txBox="true"/>
          <p:nvPr/>
        </p:nvSpPr>
        <p:spPr>
          <a:xfrm rot="0">
            <a:off x="982713" y="6137377"/>
            <a:ext cx="1958816" cy="378372"/>
          </a:xfrm>
          <a:prstGeom prst="rect">
            <a:avLst/>
          </a:prstGeom>
        </p:spPr>
        <p:txBody>
          <a:bodyPr anchor="t" rtlCol="false" tIns="0" lIns="0" bIns="0" rIns="0">
            <a:spAutoFit/>
          </a:bodyPr>
          <a:lstStyle/>
          <a:p>
            <a:pPr algn="l">
              <a:lnSpc>
                <a:spcPts val="2870"/>
              </a:lnSpc>
            </a:pPr>
            <a:r>
              <a:rPr lang="en-US" sz="2312">
                <a:solidFill>
                  <a:srgbClr val="504C49"/>
                </a:solidFill>
                <a:latin typeface="Arimo"/>
                <a:ea typeface="Arimo"/>
                <a:cs typeface="Arimo"/>
                <a:sym typeface="Arimo"/>
              </a:rPr>
              <a:t>Quality Scaling</a:t>
            </a:r>
          </a:p>
        </p:txBody>
      </p:sp>
      <p:sp>
        <p:nvSpPr>
          <p:cNvPr name="TextBox 32" id="32"/>
          <p:cNvSpPr txBox="true"/>
          <p:nvPr/>
        </p:nvSpPr>
        <p:spPr>
          <a:xfrm rot="0">
            <a:off x="982713" y="6492631"/>
            <a:ext cx="9445523"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Important regions receive higher quality, background gets more compression</a:t>
            </a:r>
          </a:p>
        </p:txBody>
      </p:sp>
      <p:grpSp>
        <p:nvGrpSpPr>
          <p:cNvPr name="Group 33" id="33"/>
          <p:cNvGrpSpPr/>
          <p:nvPr/>
        </p:nvGrpSpPr>
        <p:grpSpPr>
          <a:xfrm rot="0">
            <a:off x="992238" y="6924726"/>
            <a:ext cx="372066" cy="408929"/>
            <a:chOff x="0" y="0"/>
            <a:chExt cx="496087" cy="545239"/>
          </a:xfrm>
        </p:grpSpPr>
        <p:sp>
          <p:nvSpPr>
            <p:cNvPr name="Freeform 34" id="34"/>
            <p:cNvSpPr/>
            <p:nvPr/>
          </p:nvSpPr>
          <p:spPr>
            <a:xfrm flipH="false" flipV="false" rot="0">
              <a:off x="0" y="0"/>
              <a:ext cx="496093" cy="545242"/>
            </a:xfrm>
            <a:custGeom>
              <a:avLst/>
              <a:gdLst/>
              <a:ahLst/>
              <a:cxnLst/>
              <a:rect r="r" b="b" t="t" l="l"/>
              <a:pathLst>
                <a:path h="545242" w="496093">
                  <a:moveTo>
                    <a:pt x="0" y="0"/>
                  </a:moveTo>
                  <a:lnTo>
                    <a:pt x="496093" y="0"/>
                  </a:lnTo>
                  <a:lnTo>
                    <a:pt x="496093" y="545242"/>
                  </a:lnTo>
                  <a:lnTo>
                    <a:pt x="0" y="545242"/>
                  </a:lnTo>
                  <a:close/>
                </a:path>
              </a:pathLst>
            </a:custGeom>
            <a:blipFill>
              <a:blip r:embed="rId6">
                <a:alphaModFix amt="0"/>
              </a:blip>
              <a:stretch>
                <a:fillRect l="-30163" t="0" r="-30162" b="43152"/>
              </a:stretch>
            </a:blipFill>
          </p:spPr>
        </p:sp>
        <p:sp>
          <p:nvSpPr>
            <p:cNvPr name="TextBox 35" id="35"/>
            <p:cNvSpPr txBox="true"/>
            <p:nvPr/>
          </p:nvSpPr>
          <p:spPr>
            <a:xfrm>
              <a:off x="0" y="-47625"/>
              <a:ext cx="496087" cy="592864"/>
            </a:xfrm>
            <a:prstGeom prst="rect">
              <a:avLst/>
            </a:prstGeom>
          </p:spPr>
          <p:txBody>
            <a:bodyPr anchor="ctr" rtlCol="false" tIns="0" lIns="0" bIns="0" rIns="0"/>
            <a:lstStyle/>
            <a:p>
              <a:pPr algn="l">
                <a:lnSpc>
                  <a:spcPts val="2834"/>
                </a:lnSpc>
              </a:pPr>
              <a:r>
                <a:rPr lang="en-US" sz="2037">
                  <a:solidFill>
                    <a:srgbClr val="504C49"/>
                  </a:solidFill>
                  <a:latin typeface="Arimo"/>
                  <a:ea typeface="Arimo"/>
                  <a:cs typeface="Arimo"/>
                  <a:sym typeface="Arimo"/>
                </a:rPr>
                <a:t>04</a:t>
              </a:r>
            </a:p>
          </p:txBody>
        </p:sp>
      </p:grpSp>
      <p:grpSp>
        <p:nvGrpSpPr>
          <p:cNvPr name="Group 36" id="36"/>
          <p:cNvGrpSpPr/>
          <p:nvPr/>
        </p:nvGrpSpPr>
        <p:grpSpPr>
          <a:xfrm rot="0">
            <a:off x="992238" y="7307309"/>
            <a:ext cx="9445523" cy="19050"/>
            <a:chOff x="0" y="0"/>
            <a:chExt cx="12594031" cy="25400"/>
          </a:xfrm>
        </p:grpSpPr>
        <p:sp>
          <p:nvSpPr>
            <p:cNvPr name="Freeform 37" id="37"/>
            <p:cNvSpPr/>
            <p:nvPr/>
          </p:nvSpPr>
          <p:spPr>
            <a:xfrm flipH="false" flipV="false" rot="0">
              <a:off x="0" y="0"/>
              <a:ext cx="12594082" cy="25400"/>
            </a:xfrm>
            <a:custGeom>
              <a:avLst/>
              <a:gdLst/>
              <a:ahLst/>
              <a:cxnLst/>
              <a:rect r="r" b="b" t="t" l="l"/>
              <a:pathLst>
                <a:path h="25400" w="12594082">
                  <a:moveTo>
                    <a:pt x="0" y="0"/>
                  </a:moveTo>
                  <a:lnTo>
                    <a:pt x="12594082" y="0"/>
                  </a:lnTo>
                  <a:lnTo>
                    <a:pt x="12594082" y="25400"/>
                  </a:lnTo>
                  <a:lnTo>
                    <a:pt x="0" y="25400"/>
                  </a:lnTo>
                  <a:close/>
                </a:path>
              </a:pathLst>
            </a:custGeom>
            <a:solidFill>
              <a:srgbClr val="3E2513"/>
            </a:solidFill>
          </p:spPr>
        </p:sp>
      </p:grpSp>
      <p:sp>
        <p:nvSpPr>
          <p:cNvPr name="TextBox 38" id="38"/>
          <p:cNvSpPr txBox="true"/>
          <p:nvPr/>
        </p:nvSpPr>
        <p:spPr>
          <a:xfrm rot="0">
            <a:off x="992238" y="7419380"/>
            <a:ext cx="2196703" cy="377847"/>
          </a:xfrm>
          <a:prstGeom prst="rect">
            <a:avLst/>
          </a:prstGeom>
        </p:spPr>
        <p:txBody>
          <a:bodyPr anchor="t" rtlCol="false" tIns="0" lIns="0" bIns="0" rIns="0">
            <a:spAutoFit/>
          </a:bodyPr>
          <a:lstStyle/>
          <a:p>
            <a:pPr algn="l">
              <a:lnSpc>
                <a:spcPts val="2994"/>
              </a:lnSpc>
            </a:pPr>
            <a:r>
              <a:rPr lang="en-US" sz="2412">
                <a:solidFill>
                  <a:srgbClr val="504C49"/>
                </a:solidFill>
                <a:latin typeface="Arimo"/>
                <a:ea typeface="Arimo"/>
                <a:cs typeface="Arimo"/>
                <a:sym typeface="Arimo"/>
              </a:rPr>
              <a:t>Perceptual Gain</a:t>
            </a:r>
          </a:p>
        </p:txBody>
      </p:sp>
      <p:sp>
        <p:nvSpPr>
          <p:cNvPr name="TextBox 39" id="39"/>
          <p:cNvSpPr txBox="true"/>
          <p:nvPr/>
        </p:nvSpPr>
        <p:spPr>
          <a:xfrm rot="0">
            <a:off x="992238" y="7765109"/>
            <a:ext cx="9445523"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Same file size with better quality, or smaller file with same apparent quality</a:t>
            </a:r>
          </a:p>
        </p:txBody>
      </p:sp>
      <p:sp>
        <p:nvSpPr>
          <p:cNvPr name="TextBox 40" id="40"/>
          <p:cNvSpPr txBox="true"/>
          <p:nvPr/>
        </p:nvSpPr>
        <p:spPr>
          <a:xfrm rot="0">
            <a:off x="982713" y="8430968"/>
            <a:ext cx="2007870" cy="378372"/>
          </a:xfrm>
          <a:prstGeom prst="rect">
            <a:avLst/>
          </a:prstGeom>
        </p:spPr>
        <p:txBody>
          <a:bodyPr anchor="t" rtlCol="false" tIns="0" lIns="0" bIns="0" rIns="0">
            <a:spAutoFit/>
          </a:bodyPr>
          <a:lstStyle/>
          <a:p>
            <a:pPr algn="l">
              <a:lnSpc>
                <a:spcPts val="2870"/>
              </a:lnSpc>
            </a:pPr>
            <a:r>
              <a:rPr lang="en-US" sz="2312">
                <a:solidFill>
                  <a:srgbClr val="201B18"/>
                </a:solidFill>
                <a:latin typeface="Arimo"/>
                <a:ea typeface="Arimo"/>
                <a:cs typeface="Arimo"/>
                <a:sym typeface="Arimo"/>
              </a:rPr>
              <a:t>Implementation</a:t>
            </a:r>
          </a:p>
        </p:txBody>
      </p:sp>
      <p:sp>
        <p:nvSpPr>
          <p:cNvPr name="TextBox 41" id="41"/>
          <p:cNvSpPr txBox="true"/>
          <p:nvPr/>
        </p:nvSpPr>
        <p:spPr>
          <a:xfrm rot="0">
            <a:off x="982713" y="8851554"/>
            <a:ext cx="4495800" cy="1046784"/>
          </a:xfrm>
          <a:prstGeom prst="rect">
            <a:avLst/>
          </a:prstGeom>
        </p:spPr>
        <p:txBody>
          <a:bodyPr anchor="t" rtlCol="false" tIns="0" lIns="0" bIns="0" rIns="0">
            <a:spAutoFit/>
          </a:bodyPr>
          <a:lstStyle/>
          <a:p>
            <a:pPr algn="l">
              <a:lnSpc>
                <a:spcPts val="2782"/>
              </a:lnSpc>
            </a:pPr>
            <a:r>
              <a:rPr lang="en-US" sz="2000">
                <a:solidFill>
                  <a:srgbClr val="504C49"/>
                </a:solidFill>
                <a:latin typeface="Source Serif Pro"/>
                <a:ea typeface="Source Serif Pro"/>
                <a:cs typeface="Source Serif Pro"/>
                <a:sym typeface="Source Serif Pro"/>
              </a:rPr>
              <a:t>Per-block quality scales computed from importance map and applied before quantization step</a:t>
            </a:r>
          </a:p>
        </p:txBody>
      </p:sp>
      <p:sp>
        <p:nvSpPr>
          <p:cNvPr name="TextBox 42" id="42"/>
          <p:cNvSpPr txBox="true"/>
          <p:nvPr/>
        </p:nvSpPr>
        <p:spPr>
          <a:xfrm rot="0">
            <a:off x="5941962" y="8440493"/>
            <a:ext cx="868323" cy="377847"/>
          </a:xfrm>
          <a:prstGeom prst="rect">
            <a:avLst/>
          </a:prstGeom>
        </p:spPr>
        <p:txBody>
          <a:bodyPr anchor="t" rtlCol="false" tIns="0" lIns="0" bIns="0" rIns="0">
            <a:spAutoFit/>
          </a:bodyPr>
          <a:lstStyle/>
          <a:p>
            <a:pPr algn="l">
              <a:lnSpc>
                <a:spcPts val="2994"/>
              </a:lnSpc>
            </a:pPr>
            <a:r>
              <a:rPr lang="en-US" sz="2412">
                <a:solidFill>
                  <a:srgbClr val="201B18"/>
                </a:solidFill>
                <a:latin typeface="Arimo"/>
                <a:ea typeface="Arimo"/>
                <a:cs typeface="Arimo"/>
                <a:sym typeface="Arimo"/>
              </a:rPr>
              <a:t>Result</a:t>
            </a:r>
          </a:p>
        </p:txBody>
      </p:sp>
      <p:sp>
        <p:nvSpPr>
          <p:cNvPr name="TextBox 43" id="43"/>
          <p:cNvSpPr txBox="true"/>
          <p:nvPr/>
        </p:nvSpPr>
        <p:spPr>
          <a:xfrm rot="0">
            <a:off x="5941962" y="8851554"/>
            <a:ext cx="4495800" cy="694359"/>
          </a:xfrm>
          <a:prstGeom prst="rect">
            <a:avLst/>
          </a:prstGeom>
        </p:spPr>
        <p:txBody>
          <a:bodyPr anchor="t" rtlCol="false" tIns="0" lIns="0" bIns="0" rIns="0">
            <a:spAutoFit/>
          </a:bodyPr>
          <a:lstStyle/>
          <a:p>
            <a:pPr algn="l">
              <a:lnSpc>
                <a:spcPts val="2782"/>
              </a:lnSpc>
            </a:pPr>
            <a:r>
              <a:rPr lang="en-US" sz="2000">
                <a:solidFill>
                  <a:srgbClr val="504C49"/>
                </a:solidFill>
                <a:latin typeface="Source Serif Pro"/>
                <a:ea typeface="Source Serif Pro"/>
                <a:cs typeface="Source Serif Pro"/>
                <a:sym typeface="Source Serif Pro"/>
              </a:rPr>
              <a:t>Content-aware compression improves perceptual quality at reduced bitrates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60" y="1335881"/>
            <a:ext cx="8118719" cy="1045073"/>
            <a:chOff x="0" y="0"/>
            <a:chExt cx="10824959" cy="1393431"/>
          </a:xfrm>
        </p:grpSpPr>
        <p:sp>
          <p:nvSpPr>
            <p:cNvPr name="Freeform 3" id="3"/>
            <p:cNvSpPr/>
            <p:nvPr/>
          </p:nvSpPr>
          <p:spPr>
            <a:xfrm flipH="false" flipV="false" rot="0">
              <a:off x="12700" y="12700"/>
              <a:ext cx="10799572" cy="1367917"/>
            </a:xfrm>
            <a:custGeom>
              <a:avLst/>
              <a:gdLst/>
              <a:ahLst/>
              <a:cxnLst/>
              <a:rect r="r" b="b" t="t" l="l"/>
              <a:pathLst>
                <a:path h="1367917" w="10799572">
                  <a:moveTo>
                    <a:pt x="0" y="36576"/>
                  </a:moveTo>
                  <a:cubicBezTo>
                    <a:pt x="0" y="16383"/>
                    <a:pt x="16637" y="0"/>
                    <a:pt x="37211" y="0"/>
                  </a:cubicBezTo>
                  <a:lnTo>
                    <a:pt x="10762361" y="0"/>
                  </a:lnTo>
                  <a:cubicBezTo>
                    <a:pt x="10782935" y="0"/>
                    <a:pt x="10799572" y="16383"/>
                    <a:pt x="10799572" y="36576"/>
                  </a:cubicBezTo>
                  <a:lnTo>
                    <a:pt x="10799572" y="1331341"/>
                  </a:lnTo>
                  <a:cubicBezTo>
                    <a:pt x="10799572" y="1351534"/>
                    <a:pt x="10782935" y="1367917"/>
                    <a:pt x="10762361" y="1367917"/>
                  </a:cubicBezTo>
                  <a:lnTo>
                    <a:pt x="37211" y="1367917"/>
                  </a:lnTo>
                  <a:cubicBezTo>
                    <a:pt x="16637" y="1367917"/>
                    <a:pt x="0" y="1351534"/>
                    <a:pt x="0" y="1331341"/>
                  </a:cubicBezTo>
                  <a:close/>
                </a:path>
              </a:pathLst>
            </a:custGeom>
            <a:solidFill>
              <a:srgbClr val="FFFFFF"/>
            </a:solidFill>
          </p:spPr>
        </p:sp>
        <p:sp>
          <p:nvSpPr>
            <p:cNvPr name="Freeform 4" id="4"/>
            <p:cNvSpPr/>
            <p:nvPr/>
          </p:nvSpPr>
          <p:spPr>
            <a:xfrm flipH="false" flipV="false" rot="0">
              <a:off x="0" y="0"/>
              <a:ext cx="10824972" cy="1393317"/>
            </a:xfrm>
            <a:custGeom>
              <a:avLst/>
              <a:gdLst/>
              <a:ahLst/>
              <a:cxnLst/>
              <a:rect r="r" b="b" t="t" l="l"/>
              <a:pathLst>
                <a:path h="1393317" w="10824972">
                  <a:moveTo>
                    <a:pt x="0" y="49276"/>
                  </a:moveTo>
                  <a:cubicBezTo>
                    <a:pt x="0" y="21844"/>
                    <a:pt x="22606" y="0"/>
                    <a:pt x="49911" y="0"/>
                  </a:cubicBezTo>
                  <a:lnTo>
                    <a:pt x="10775061" y="0"/>
                  </a:lnTo>
                  <a:lnTo>
                    <a:pt x="10775061" y="12700"/>
                  </a:lnTo>
                  <a:lnTo>
                    <a:pt x="10775061" y="0"/>
                  </a:lnTo>
                  <a:cubicBezTo>
                    <a:pt x="10802493" y="0"/>
                    <a:pt x="10824972" y="21844"/>
                    <a:pt x="10824972" y="49276"/>
                  </a:cubicBezTo>
                  <a:lnTo>
                    <a:pt x="10812272" y="49276"/>
                  </a:lnTo>
                  <a:lnTo>
                    <a:pt x="10824972" y="49276"/>
                  </a:lnTo>
                  <a:lnTo>
                    <a:pt x="10824972" y="1344041"/>
                  </a:lnTo>
                  <a:lnTo>
                    <a:pt x="10812272" y="1344041"/>
                  </a:lnTo>
                  <a:lnTo>
                    <a:pt x="10824972" y="1344041"/>
                  </a:lnTo>
                  <a:cubicBezTo>
                    <a:pt x="10824972" y="1371473"/>
                    <a:pt x="10802366" y="1393317"/>
                    <a:pt x="10775061" y="1393317"/>
                  </a:cubicBezTo>
                  <a:lnTo>
                    <a:pt x="10775061" y="1380617"/>
                  </a:lnTo>
                  <a:lnTo>
                    <a:pt x="10775061" y="1393317"/>
                  </a:lnTo>
                  <a:lnTo>
                    <a:pt x="49911" y="1393317"/>
                  </a:lnTo>
                  <a:lnTo>
                    <a:pt x="49911" y="1380617"/>
                  </a:lnTo>
                  <a:lnTo>
                    <a:pt x="49911" y="1393317"/>
                  </a:lnTo>
                  <a:cubicBezTo>
                    <a:pt x="22479" y="1393317"/>
                    <a:pt x="0" y="1371473"/>
                    <a:pt x="0" y="1344041"/>
                  </a:cubicBezTo>
                  <a:lnTo>
                    <a:pt x="0" y="49276"/>
                  </a:lnTo>
                  <a:lnTo>
                    <a:pt x="12700" y="49276"/>
                  </a:lnTo>
                  <a:lnTo>
                    <a:pt x="0" y="49276"/>
                  </a:lnTo>
                  <a:moveTo>
                    <a:pt x="25400" y="49276"/>
                  </a:moveTo>
                  <a:lnTo>
                    <a:pt x="25400" y="1344041"/>
                  </a:lnTo>
                  <a:lnTo>
                    <a:pt x="12700" y="1344041"/>
                  </a:lnTo>
                  <a:lnTo>
                    <a:pt x="25400" y="1344041"/>
                  </a:lnTo>
                  <a:cubicBezTo>
                    <a:pt x="25400" y="1357122"/>
                    <a:pt x="36195" y="1367917"/>
                    <a:pt x="49911" y="1367917"/>
                  </a:cubicBezTo>
                  <a:lnTo>
                    <a:pt x="10775061" y="1367917"/>
                  </a:lnTo>
                  <a:cubicBezTo>
                    <a:pt x="10788777" y="1367917"/>
                    <a:pt x="10799572" y="1356995"/>
                    <a:pt x="10799572" y="1344041"/>
                  </a:cubicBezTo>
                  <a:lnTo>
                    <a:pt x="10799572" y="49276"/>
                  </a:lnTo>
                  <a:cubicBezTo>
                    <a:pt x="10799572" y="36195"/>
                    <a:pt x="10788777" y="25400"/>
                    <a:pt x="10775061" y="25400"/>
                  </a:cubicBezTo>
                  <a:lnTo>
                    <a:pt x="49911" y="25400"/>
                  </a:lnTo>
                  <a:lnTo>
                    <a:pt x="49911" y="12700"/>
                  </a:lnTo>
                  <a:lnTo>
                    <a:pt x="49911" y="25400"/>
                  </a:lnTo>
                  <a:cubicBezTo>
                    <a:pt x="36195" y="25400"/>
                    <a:pt x="25400" y="36322"/>
                    <a:pt x="25400" y="49276"/>
                  </a:cubicBezTo>
                  <a:close/>
                </a:path>
              </a:pathLst>
            </a:custGeom>
            <a:solidFill>
              <a:srgbClr val="D8D4D4"/>
            </a:solidFill>
          </p:spPr>
        </p:sp>
      </p:grpSp>
      <p:grpSp>
        <p:nvGrpSpPr>
          <p:cNvPr name="Group 5" id="5"/>
          <p:cNvGrpSpPr/>
          <p:nvPr/>
        </p:nvGrpSpPr>
        <p:grpSpPr>
          <a:xfrm rot="0">
            <a:off x="9211570" y="1335881"/>
            <a:ext cx="8118719" cy="1045073"/>
            <a:chOff x="0" y="0"/>
            <a:chExt cx="10824959" cy="1393431"/>
          </a:xfrm>
        </p:grpSpPr>
        <p:sp>
          <p:nvSpPr>
            <p:cNvPr name="Freeform 6" id="6"/>
            <p:cNvSpPr/>
            <p:nvPr/>
          </p:nvSpPr>
          <p:spPr>
            <a:xfrm flipH="false" flipV="false" rot="0">
              <a:off x="12700" y="12700"/>
              <a:ext cx="10799572" cy="1367917"/>
            </a:xfrm>
            <a:custGeom>
              <a:avLst/>
              <a:gdLst/>
              <a:ahLst/>
              <a:cxnLst/>
              <a:rect r="r" b="b" t="t" l="l"/>
              <a:pathLst>
                <a:path h="1367917" w="10799572">
                  <a:moveTo>
                    <a:pt x="0" y="36576"/>
                  </a:moveTo>
                  <a:cubicBezTo>
                    <a:pt x="0" y="16383"/>
                    <a:pt x="16637" y="0"/>
                    <a:pt x="37211" y="0"/>
                  </a:cubicBezTo>
                  <a:lnTo>
                    <a:pt x="10762361" y="0"/>
                  </a:lnTo>
                  <a:cubicBezTo>
                    <a:pt x="10782935" y="0"/>
                    <a:pt x="10799572" y="16383"/>
                    <a:pt x="10799572" y="36576"/>
                  </a:cubicBezTo>
                  <a:lnTo>
                    <a:pt x="10799572" y="1331341"/>
                  </a:lnTo>
                  <a:cubicBezTo>
                    <a:pt x="10799572" y="1351534"/>
                    <a:pt x="10782935" y="1367917"/>
                    <a:pt x="10762361" y="1367917"/>
                  </a:cubicBezTo>
                  <a:lnTo>
                    <a:pt x="37211" y="1367917"/>
                  </a:lnTo>
                  <a:cubicBezTo>
                    <a:pt x="16637" y="1367917"/>
                    <a:pt x="0" y="1351534"/>
                    <a:pt x="0" y="1331341"/>
                  </a:cubicBezTo>
                  <a:close/>
                </a:path>
              </a:pathLst>
            </a:custGeom>
            <a:solidFill>
              <a:srgbClr val="FFFFFF"/>
            </a:solidFill>
          </p:spPr>
        </p:sp>
        <p:sp>
          <p:nvSpPr>
            <p:cNvPr name="Freeform 7" id="7"/>
            <p:cNvSpPr/>
            <p:nvPr/>
          </p:nvSpPr>
          <p:spPr>
            <a:xfrm flipH="false" flipV="false" rot="0">
              <a:off x="0" y="0"/>
              <a:ext cx="10824972" cy="1393317"/>
            </a:xfrm>
            <a:custGeom>
              <a:avLst/>
              <a:gdLst/>
              <a:ahLst/>
              <a:cxnLst/>
              <a:rect r="r" b="b" t="t" l="l"/>
              <a:pathLst>
                <a:path h="1393317" w="10824972">
                  <a:moveTo>
                    <a:pt x="0" y="49276"/>
                  </a:moveTo>
                  <a:cubicBezTo>
                    <a:pt x="0" y="21844"/>
                    <a:pt x="22606" y="0"/>
                    <a:pt x="49911" y="0"/>
                  </a:cubicBezTo>
                  <a:lnTo>
                    <a:pt x="10775061" y="0"/>
                  </a:lnTo>
                  <a:lnTo>
                    <a:pt x="10775061" y="12700"/>
                  </a:lnTo>
                  <a:lnTo>
                    <a:pt x="10775061" y="0"/>
                  </a:lnTo>
                  <a:cubicBezTo>
                    <a:pt x="10802493" y="0"/>
                    <a:pt x="10824972" y="21844"/>
                    <a:pt x="10824972" y="49276"/>
                  </a:cubicBezTo>
                  <a:lnTo>
                    <a:pt x="10812272" y="49276"/>
                  </a:lnTo>
                  <a:lnTo>
                    <a:pt x="10824972" y="49276"/>
                  </a:lnTo>
                  <a:lnTo>
                    <a:pt x="10824972" y="1344041"/>
                  </a:lnTo>
                  <a:lnTo>
                    <a:pt x="10812272" y="1344041"/>
                  </a:lnTo>
                  <a:lnTo>
                    <a:pt x="10824972" y="1344041"/>
                  </a:lnTo>
                  <a:cubicBezTo>
                    <a:pt x="10824972" y="1371473"/>
                    <a:pt x="10802366" y="1393317"/>
                    <a:pt x="10775061" y="1393317"/>
                  </a:cubicBezTo>
                  <a:lnTo>
                    <a:pt x="10775061" y="1380617"/>
                  </a:lnTo>
                  <a:lnTo>
                    <a:pt x="10775061" y="1393317"/>
                  </a:lnTo>
                  <a:lnTo>
                    <a:pt x="49911" y="1393317"/>
                  </a:lnTo>
                  <a:lnTo>
                    <a:pt x="49911" y="1380617"/>
                  </a:lnTo>
                  <a:lnTo>
                    <a:pt x="49911" y="1393317"/>
                  </a:lnTo>
                  <a:cubicBezTo>
                    <a:pt x="22479" y="1393317"/>
                    <a:pt x="0" y="1371473"/>
                    <a:pt x="0" y="1344041"/>
                  </a:cubicBezTo>
                  <a:lnTo>
                    <a:pt x="0" y="49276"/>
                  </a:lnTo>
                  <a:lnTo>
                    <a:pt x="12700" y="49276"/>
                  </a:lnTo>
                  <a:lnTo>
                    <a:pt x="0" y="49276"/>
                  </a:lnTo>
                  <a:moveTo>
                    <a:pt x="25400" y="49276"/>
                  </a:moveTo>
                  <a:lnTo>
                    <a:pt x="25400" y="1344041"/>
                  </a:lnTo>
                  <a:lnTo>
                    <a:pt x="12700" y="1344041"/>
                  </a:lnTo>
                  <a:lnTo>
                    <a:pt x="25400" y="1344041"/>
                  </a:lnTo>
                  <a:cubicBezTo>
                    <a:pt x="25400" y="1357122"/>
                    <a:pt x="36195" y="1367917"/>
                    <a:pt x="49911" y="1367917"/>
                  </a:cubicBezTo>
                  <a:lnTo>
                    <a:pt x="10775061" y="1367917"/>
                  </a:lnTo>
                  <a:cubicBezTo>
                    <a:pt x="10788777" y="1367917"/>
                    <a:pt x="10799572" y="1356995"/>
                    <a:pt x="10799572" y="1344041"/>
                  </a:cubicBezTo>
                  <a:lnTo>
                    <a:pt x="10799572" y="49276"/>
                  </a:lnTo>
                  <a:cubicBezTo>
                    <a:pt x="10799572" y="36195"/>
                    <a:pt x="10788777" y="25400"/>
                    <a:pt x="10775061" y="25400"/>
                  </a:cubicBezTo>
                  <a:lnTo>
                    <a:pt x="49911" y="25400"/>
                  </a:lnTo>
                  <a:lnTo>
                    <a:pt x="49911" y="12700"/>
                  </a:lnTo>
                  <a:lnTo>
                    <a:pt x="49911" y="25400"/>
                  </a:lnTo>
                  <a:cubicBezTo>
                    <a:pt x="36195" y="25400"/>
                    <a:pt x="25400" y="36322"/>
                    <a:pt x="25400" y="49276"/>
                  </a:cubicBezTo>
                  <a:close/>
                </a:path>
              </a:pathLst>
            </a:custGeom>
            <a:solidFill>
              <a:srgbClr val="D8D4D4"/>
            </a:solidFill>
          </p:spPr>
        </p:sp>
      </p:grpSp>
      <p:grpSp>
        <p:nvGrpSpPr>
          <p:cNvPr name="Group 8" id="8"/>
          <p:cNvGrpSpPr/>
          <p:nvPr/>
        </p:nvGrpSpPr>
        <p:grpSpPr>
          <a:xfrm rot="0">
            <a:off x="976760" y="2497036"/>
            <a:ext cx="8118719" cy="1299715"/>
            <a:chOff x="0" y="0"/>
            <a:chExt cx="10824959" cy="1732953"/>
          </a:xfrm>
        </p:grpSpPr>
        <p:sp>
          <p:nvSpPr>
            <p:cNvPr name="Freeform 9" id="9"/>
            <p:cNvSpPr/>
            <p:nvPr/>
          </p:nvSpPr>
          <p:spPr>
            <a:xfrm flipH="false" flipV="false" rot="0">
              <a:off x="12700" y="12700"/>
              <a:ext cx="10799572" cy="1707515"/>
            </a:xfrm>
            <a:custGeom>
              <a:avLst/>
              <a:gdLst/>
              <a:ahLst/>
              <a:cxnLst/>
              <a:rect r="r" b="b" t="t" l="l"/>
              <a:pathLst>
                <a:path h="1707515" w="10799572">
                  <a:moveTo>
                    <a:pt x="0" y="36576"/>
                  </a:moveTo>
                  <a:cubicBezTo>
                    <a:pt x="0" y="16383"/>
                    <a:pt x="16637" y="0"/>
                    <a:pt x="37084" y="0"/>
                  </a:cubicBezTo>
                  <a:lnTo>
                    <a:pt x="10762488" y="0"/>
                  </a:lnTo>
                  <a:cubicBezTo>
                    <a:pt x="10782935" y="0"/>
                    <a:pt x="10799572" y="16383"/>
                    <a:pt x="10799572" y="36576"/>
                  </a:cubicBezTo>
                  <a:lnTo>
                    <a:pt x="10799572" y="1670939"/>
                  </a:lnTo>
                  <a:cubicBezTo>
                    <a:pt x="10799572" y="1691132"/>
                    <a:pt x="10782935" y="1707515"/>
                    <a:pt x="10762488" y="1707515"/>
                  </a:cubicBezTo>
                  <a:lnTo>
                    <a:pt x="37084" y="1707515"/>
                  </a:lnTo>
                  <a:cubicBezTo>
                    <a:pt x="16637" y="1707515"/>
                    <a:pt x="0" y="1691132"/>
                    <a:pt x="0" y="1670939"/>
                  </a:cubicBezTo>
                  <a:close/>
                </a:path>
              </a:pathLst>
            </a:custGeom>
            <a:solidFill>
              <a:srgbClr val="FFFFFF"/>
            </a:solidFill>
          </p:spPr>
        </p:sp>
        <p:sp>
          <p:nvSpPr>
            <p:cNvPr name="Freeform 10" id="10"/>
            <p:cNvSpPr/>
            <p:nvPr/>
          </p:nvSpPr>
          <p:spPr>
            <a:xfrm flipH="false" flipV="false" rot="0">
              <a:off x="0" y="0"/>
              <a:ext cx="10824972" cy="1732915"/>
            </a:xfrm>
            <a:custGeom>
              <a:avLst/>
              <a:gdLst/>
              <a:ahLst/>
              <a:cxnLst/>
              <a:rect r="r" b="b" t="t" l="l"/>
              <a:pathLst>
                <a:path h="1732915" w="10824972">
                  <a:moveTo>
                    <a:pt x="0" y="49276"/>
                  </a:moveTo>
                  <a:cubicBezTo>
                    <a:pt x="0" y="21971"/>
                    <a:pt x="22479" y="0"/>
                    <a:pt x="49784" y="0"/>
                  </a:cubicBezTo>
                  <a:lnTo>
                    <a:pt x="10775188" y="0"/>
                  </a:lnTo>
                  <a:lnTo>
                    <a:pt x="10775188" y="12700"/>
                  </a:lnTo>
                  <a:lnTo>
                    <a:pt x="10775188" y="0"/>
                  </a:lnTo>
                  <a:cubicBezTo>
                    <a:pt x="10802493" y="0"/>
                    <a:pt x="10824972" y="21971"/>
                    <a:pt x="10824972" y="49276"/>
                  </a:cubicBezTo>
                  <a:lnTo>
                    <a:pt x="10812272" y="49276"/>
                  </a:lnTo>
                  <a:lnTo>
                    <a:pt x="10824972" y="49276"/>
                  </a:lnTo>
                  <a:lnTo>
                    <a:pt x="10824972" y="1683639"/>
                  </a:lnTo>
                  <a:lnTo>
                    <a:pt x="10812272" y="1683639"/>
                  </a:lnTo>
                  <a:lnTo>
                    <a:pt x="10824972" y="1683639"/>
                  </a:lnTo>
                  <a:cubicBezTo>
                    <a:pt x="10824972" y="1711071"/>
                    <a:pt x="10802493" y="1732915"/>
                    <a:pt x="10775188" y="1732915"/>
                  </a:cubicBezTo>
                  <a:lnTo>
                    <a:pt x="10775188" y="1720215"/>
                  </a:lnTo>
                  <a:lnTo>
                    <a:pt x="10775188" y="1732915"/>
                  </a:lnTo>
                  <a:lnTo>
                    <a:pt x="49784" y="1732915"/>
                  </a:lnTo>
                  <a:lnTo>
                    <a:pt x="49784" y="1720215"/>
                  </a:lnTo>
                  <a:lnTo>
                    <a:pt x="49784" y="1732915"/>
                  </a:lnTo>
                  <a:cubicBezTo>
                    <a:pt x="22479" y="1732915"/>
                    <a:pt x="0" y="1710944"/>
                    <a:pt x="0" y="1683639"/>
                  </a:cubicBezTo>
                  <a:lnTo>
                    <a:pt x="0" y="49276"/>
                  </a:lnTo>
                  <a:lnTo>
                    <a:pt x="12700" y="49276"/>
                  </a:lnTo>
                  <a:lnTo>
                    <a:pt x="0" y="49276"/>
                  </a:lnTo>
                  <a:moveTo>
                    <a:pt x="25400" y="49276"/>
                  </a:moveTo>
                  <a:lnTo>
                    <a:pt x="25400" y="1683639"/>
                  </a:lnTo>
                  <a:lnTo>
                    <a:pt x="12700" y="1683639"/>
                  </a:lnTo>
                  <a:lnTo>
                    <a:pt x="25400" y="1683639"/>
                  </a:lnTo>
                  <a:cubicBezTo>
                    <a:pt x="25400" y="1696720"/>
                    <a:pt x="36195" y="1707515"/>
                    <a:pt x="49784" y="1707515"/>
                  </a:cubicBezTo>
                  <a:lnTo>
                    <a:pt x="10775188" y="1707515"/>
                  </a:lnTo>
                  <a:cubicBezTo>
                    <a:pt x="10788777" y="1707515"/>
                    <a:pt x="10799572" y="1696593"/>
                    <a:pt x="10799572" y="1683639"/>
                  </a:cubicBezTo>
                  <a:lnTo>
                    <a:pt x="10799572" y="49276"/>
                  </a:lnTo>
                  <a:cubicBezTo>
                    <a:pt x="10799572" y="36195"/>
                    <a:pt x="10788777" y="25400"/>
                    <a:pt x="10775188" y="25400"/>
                  </a:cubicBezTo>
                  <a:lnTo>
                    <a:pt x="49784" y="25400"/>
                  </a:lnTo>
                  <a:lnTo>
                    <a:pt x="49784" y="12700"/>
                  </a:lnTo>
                  <a:lnTo>
                    <a:pt x="49784" y="25400"/>
                  </a:lnTo>
                  <a:cubicBezTo>
                    <a:pt x="36195" y="25400"/>
                    <a:pt x="25400" y="36322"/>
                    <a:pt x="25400" y="49276"/>
                  </a:cubicBezTo>
                  <a:close/>
                </a:path>
              </a:pathLst>
            </a:custGeom>
            <a:solidFill>
              <a:srgbClr val="D8D4D4"/>
            </a:solidFill>
          </p:spPr>
        </p:sp>
      </p:grpSp>
      <p:grpSp>
        <p:nvGrpSpPr>
          <p:cNvPr name="Group 11" id="11"/>
          <p:cNvGrpSpPr/>
          <p:nvPr/>
        </p:nvGrpSpPr>
        <p:grpSpPr>
          <a:xfrm rot="0">
            <a:off x="9211570" y="2497036"/>
            <a:ext cx="8118719" cy="1299715"/>
            <a:chOff x="0" y="0"/>
            <a:chExt cx="10824959" cy="1732953"/>
          </a:xfrm>
        </p:grpSpPr>
        <p:sp>
          <p:nvSpPr>
            <p:cNvPr name="Freeform 12" id="12"/>
            <p:cNvSpPr/>
            <p:nvPr/>
          </p:nvSpPr>
          <p:spPr>
            <a:xfrm flipH="false" flipV="false" rot="0">
              <a:off x="12700" y="12700"/>
              <a:ext cx="10799572" cy="1707515"/>
            </a:xfrm>
            <a:custGeom>
              <a:avLst/>
              <a:gdLst/>
              <a:ahLst/>
              <a:cxnLst/>
              <a:rect r="r" b="b" t="t" l="l"/>
              <a:pathLst>
                <a:path h="1707515" w="10799572">
                  <a:moveTo>
                    <a:pt x="0" y="36576"/>
                  </a:moveTo>
                  <a:cubicBezTo>
                    <a:pt x="0" y="16383"/>
                    <a:pt x="16637" y="0"/>
                    <a:pt x="37084" y="0"/>
                  </a:cubicBezTo>
                  <a:lnTo>
                    <a:pt x="10762488" y="0"/>
                  </a:lnTo>
                  <a:cubicBezTo>
                    <a:pt x="10782935" y="0"/>
                    <a:pt x="10799572" y="16383"/>
                    <a:pt x="10799572" y="36576"/>
                  </a:cubicBezTo>
                  <a:lnTo>
                    <a:pt x="10799572" y="1670939"/>
                  </a:lnTo>
                  <a:cubicBezTo>
                    <a:pt x="10799572" y="1691132"/>
                    <a:pt x="10782935" y="1707515"/>
                    <a:pt x="10762488" y="1707515"/>
                  </a:cubicBezTo>
                  <a:lnTo>
                    <a:pt x="37084" y="1707515"/>
                  </a:lnTo>
                  <a:cubicBezTo>
                    <a:pt x="16637" y="1707515"/>
                    <a:pt x="0" y="1691132"/>
                    <a:pt x="0" y="1670939"/>
                  </a:cubicBezTo>
                  <a:close/>
                </a:path>
              </a:pathLst>
            </a:custGeom>
            <a:solidFill>
              <a:srgbClr val="FFFFFF"/>
            </a:solidFill>
          </p:spPr>
        </p:sp>
        <p:sp>
          <p:nvSpPr>
            <p:cNvPr name="Freeform 13" id="13"/>
            <p:cNvSpPr/>
            <p:nvPr/>
          </p:nvSpPr>
          <p:spPr>
            <a:xfrm flipH="false" flipV="false" rot="0">
              <a:off x="0" y="0"/>
              <a:ext cx="10824972" cy="1732915"/>
            </a:xfrm>
            <a:custGeom>
              <a:avLst/>
              <a:gdLst/>
              <a:ahLst/>
              <a:cxnLst/>
              <a:rect r="r" b="b" t="t" l="l"/>
              <a:pathLst>
                <a:path h="1732915" w="10824972">
                  <a:moveTo>
                    <a:pt x="0" y="49276"/>
                  </a:moveTo>
                  <a:cubicBezTo>
                    <a:pt x="0" y="21971"/>
                    <a:pt x="22479" y="0"/>
                    <a:pt x="49784" y="0"/>
                  </a:cubicBezTo>
                  <a:lnTo>
                    <a:pt x="10775188" y="0"/>
                  </a:lnTo>
                  <a:lnTo>
                    <a:pt x="10775188" y="12700"/>
                  </a:lnTo>
                  <a:lnTo>
                    <a:pt x="10775188" y="0"/>
                  </a:lnTo>
                  <a:cubicBezTo>
                    <a:pt x="10802493" y="0"/>
                    <a:pt x="10824972" y="21971"/>
                    <a:pt x="10824972" y="49276"/>
                  </a:cubicBezTo>
                  <a:lnTo>
                    <a:pt x="10812272" y="49276"/>
                  </a:lnTo>
                  <a:lnTo>
                    <a:pt x="10824972" y="49276"/>
                  </a:lnTo>
                  <a:lnTo>
                    <a:pt x="10824972" y="1683639"/>
                  </a:lnTo>
                  <a:lnTo>
                    <a:pt x="10812272" y="1683639"/>
                  </a:lnTo>
                  <a:lnTo>
                    <a:pt x="10824972" y="1683639"/>
                  </a:lnTo>
                  <a:cubicBezTo>
                    <a:pt x="10824972" y="1711071"/>
                    <a:pt x="10802493" y="1732915"/>
                    <a:pt x="10775188" y="1732915"/>
                  </a:cubicBezTo>
                  <a:lnTo>
                    <a:pt x="10775188" y="1720215"/>
                  </a:lnTo>
                  <a:lnTo>
                    <a:pt x="10775188" y="1732915"/>
                  </a:lnTo>
                  <a:lnTo>
                    <a:pt x="49784" y="1732915"/>
                  </a:lnTo>
                  <a:lnTo>
                    <a:pt x="49784" y="1720215"/>
                  </a:lnTo>
                  <a:lnTo>
                    <a:pt x="49784" y="1732915"/>
                  </a:lnTo>
                  <a:cubicBezTo>
                    <a:pt x="22479" y="1732915"/>
                    <a:pt x="0" y="1710944"/>
                    <a:pt x="0" y="1683639"/>
                  </a:cubicBezTo>
                  <a:lnTo>
                    <a:pt x="0" y="49276"/>
                  </a:lnTo>
                  <a:lnTo>
                    <a:pt x="12700" y="49276"/>
                  </a:lnTo>
                  <a:lnTo>
                    <a:pt x="0" y="49276"/>
                  </a:lnTo>
                  <a:moveTo>
                    <a:pt x="25400" y="49276"/>
                  </a:moveTo>
                  <a:lnTo>
                    <a:pt x="25400" y="1683639"/>
                  </a:lnTo>
                  <a:lnTo>
                    <a:pt x="12700" y="1683639"/>
                  </a:lnTo>
                  <a:lnTo>
                    <a:pt x="25400" y="1683639"/>
                  </a:lnTo>
                  <a:cubicBezTo>
                    <a:pt x="25400" y="1696720"/>
                    <a:pt x="36195" y="1707515"/>
                    <a:pt x="49784" y="1707515"/>
                  </a:cubicBezTo>
                  <a:lnTo>
                    <a:pt x="10775188" y="1707515"/>
                  </a:lnTo>
                  <a:cubicBezTo>
                    <a:pt x="10788777" y="1707515"/>
                    <a:pt x="10799572" y="1696593"/>
                    <a:pt x="10799572" y="1683639"/>
                  </a:cubicBezTo>
                  <a:lnTo>
                    <a:pt x="10799572" y="49276"/>
                  </a:lnTo>
                  <a:cubicBezTo>
                    <a:pt x="10799572" y="36195"/>
                    <a:pt x="10788777" y="25400"/>
                    <a:pt x="10775188" y="25400"/>
                  </a:cubicBezTo>
                  <a:lnTo>
                    <a:pt x="49784" y="25400"/>
                  </a:lnTo>
                  <a:lnTo>
                    <a:pt x="49784" y="12700"/>
                  </a:lnTo>
                  <a:lnTo>
                    <a:pt x="49784" y="25400"/>
                  </a:lnTo>
                  <a:cubicBezTo>
                    <a:pt x="36195" y="25400"/>
                    <a:pt x="25400" y="36322"/>
                    <a:pt x="25400" y="49276"/>
                  </a:cubicBezTo>
                  <a:close/>
                </a:path>
              </a:pathLst>
            </a:custGeom>
            <a:solidFill>
              <a:srgbClr val="D8D4D4"/>
            </a:solidFill>
          </p:spPr>
        </p:sp>
      </p:grpSp>
      <p:grpSp>
        <p:nvGrpSpPr>
          <p:cNvPr name="Group 14" id="14"/>
          <p:cNvGrpSpPr/>
          <p:nvPr/>
        </p:nvGrpSpPr>
        <p:grpSpPr>
          <a:xfrm rot="0">
            <a:off x="1039568" y="4385662"/>
            <a:ext cx="16344005" cy="2208162"/>
            <a:chOff x="0" y="0"/>
            <a:chExt cx="21792006" cy="2944216"/>
          </a:xfrm>
        </p:grpSpPr>
        <p:sp>
          <p:nvSpPr>
            <p:cNvPr name="Freeform 15" id="15"/>
            <p:cNvSpPr/>
            <p:nvPr/>
          </p:nvSpPr>
          <p:spPr>
            <a:xfrm flipH="false" flipV="false" rot="0">
              <a:off x="0" y="0"/>
              <a:ext cx="21792057" cy="2944241"/>
            </a:xfrm>
            <a:custGeom>
              <a:avLst/>
              <a:gdLst/>
              <a:ahLst/>
              <a:cxnLst/>
              <a:rect r="r" b="b" t="t" l="l"/>
              <a:pathLst>
                <a:path h="2944241" w="21792057">
                  <a:moveTo>
                    <a:pt x="0" y="43053"/>
                  </a:moveTo>
                  <a:cubicBezTo>
                    <a:pt x="0" y="19177"/>
                    <a:pt x="19304" y="0"/>
                    <a:pt x="43180" y="0"/>
                  </a:cubicBezTo>
                  <a:lnTo>
                    <a:pt x="21748877" y="0"/>
                  </a:lnTo>
                  <a:lnTo>
                    <a:pt x="21748877" y="6350"/>
                  </a:lnTo>
                  <a:lnTo>
                    <a:pt x="21748877" y="0"/>
                  </a:lnTo>
                  <a:cubicBezTo>
                    <a:pt x="21772626" y="0"/>
                    <a:pt x="21792057" y="19177"/>
                    <a:pt x="21792057" y="43053"/>
                  </a:cubicBezTo>
                  <a:lnTo>
                    <a:pt x="21785707" y="43053"/>
                  </a:lnTo>
                  <a:lnTo>
                    <a:pt x="21792057" y="43053"/>
                  </a:lnTo>
                  <a:lnTo>
                    <a:pt x="21792057" y="2901188"/>
                  </a:lnTo>
                  <a:lnTo>
                    <a:pt x="21785707" y="2901188"/>
                  </a:lnTo>
                  <a:lnTo>
                    <a:pt x="21792057" y="2901188"/>
                  </a:lnTo>
                  <a:cubicBezTo>
                    <a:pt x="21792057" y="2924937"/>
                    <a:pt x="21772753" y="2944241"/>
                    <a:pt x="21748877" y="2944241"/>
                  </a:cubicBezTo>
                  <a:lnTo>
                    <a:pt x="21748877" y="2937891"/>
                  </a:lnTo>
                  <a:lnTo>
                    <a:pt x="21748877" y="2944241"/>
                  </a:lnTo>
                  <a:lnTo>
                    <a:pt x="43180" y="2944241"/>
                  </a:lnTo>
                  <a:lnTo>
                    <a:pt x="43180" y="2937891"/>
                  </a:lnTo>
                  <a:lnTo>
                    <a:pt x="43180" y="2944241"/>
                  </a:lnTo>
                  <a:cubicBezTo>
                    <a:pt x="19431" y="2944241"/>
                    <a:pt x="0" y="2925064"/>
                    <a:pt x="0" y="2901188"/>
                  </a:cubicBezTo>
                  <a:lnTo>
                    <a:pt x="0" y="43053"/>
                  </a:lnTo>
                  <a:lnTo>
                    <a:pt x="6350" y="43053"/>
                  </a:lnTo>
                  <a:lnTo>
                    <a:pt x="0" y="43053"/>
                  </a:lnTo>
                  <a:moveTo>
                    <a:pt x="12700" y="43053"/>
                  </a:moveTo>
                  <a:lnTo>
                    <a:pt x="12700" y="2901188"/>
                  </a:lnTo>
                  <a:lnTo>
                    <a:pt x="6350" y="2901188"/>
                  </a:lnTo>
                  <a:lnTo>
                    <a:pt x="12700" y="2901188"/>
                  </a:lnTo>
                  <a:cubicBezTo>
                    <a:pt x="12700" y="2917952"/>
                    <a:pt x="26289" y="2931541"/>
                    <a:pt x="43180" y="2931541"/>
                  </a:cubicBezTo>
                  <a:lnTo>
                    <a:pt x="21748877" y="2931541"/>
                  </a:lnTo>
                  <a:cubicBezTo>
                    <a:pt x="21765768" y="2931541"/>
                    <a:pt x="21779357" y="2917952"/>
                    <a:pt x="21779357" y="2901188"/>
                  </a:cubicBezTo>
                  <a:lnTo>
                    <a:pt x="21779357" y="43053"/>
                  </a:lnTo>
                  <a:cubicBezTo>
                    <a:pt x="21779357" y="26289"/>
                    <a:pt x="21765768" y="12700"/>
                    <a:pt x="21748877" y="12700"/>
                  </a:cubicBezTo>
                  <a:lnTo>
                    <a:pt x="43180" y="12700"/>
                  </a:lnTo>
                  <a:lnTo>
                    <a:pt x="43180" y="6350"/>
                  </a:lnTo>
                  <a:lnTo>
                    <a:pt x="43180" y="12700"/>
                  </a:lnTo>
                  <a:cubicBezTo>
                    <a:pt x="26289" y="12700"/>
                    <a:pt x="12700" y="26289"/>
                    <a:pt x="12700" y="43053"/>
                  </a:cubicBezTo>
                  <a:close/>
                </a:path>
              </a:pathLst>
            </a:custGeom>
            <a:solidFill>
              <a:srgbClr val="000000">
                <a:alpha val="392"/>
              </a:srgbClr>
            </a:solidFill>
          </p:spPr>
        </p:sp>
      </p:grpSp>
      <p:grpSp>
        <p:nvGrpSpPr>
          <p:cNvPr name="Group 16" id="16"/>
          <p:cNvGrpSpPr/>
          <p:nvPr/>
        </p:nvGrpSpPr>
        <p:grpSpPr>
          <a:xfrm rot="0">
            <a:off x="1053856" y="4399950"/>
            <a:ext cx="16315430" cy="435921"/>
            <a:chOff x="0" y="0"/>
            <a:chExt cx="21753906" cy="581228"/>
          </a:xfrm>
        </p:grpSpPr>
        <p:sp>
          <p:nvSpPr>
            <p:cNvPr name="Freeform 17" id="17"/>
            <p:cNvSpPr/>
            <p:nvPr/>
          </p:nvSpPr>
          <p:spPr>
            <a:xfrm flipH="false" flipV="false" rot="0">
              <a:off x="0" y="0"/>
              <a:ext cx="21753957" cy="581279"/>
            </a:xfrm>
            <a:custGeom>
              <a:avLst/>
              <a:gdLst/>
              <a:ahLst/>
              <a:cxnLst/>
              <a:rect r="r" b="b" t="t" l="l"/>
              <a:pathLst>
                <a:path h="581279" w="21753957">
                  <a:moveTo>
                    <a:pt x="0" y="0"/>
                  </a:moveTo>
                  <a:lnTo>
                    <a:pt x="21753957" y="0"/>
                  </a:lnTo>
                  <a:lnTo>
                    <a:pt x="21753957" y="581279"/>
                  </a:lnTo>
                  <a:lnTo>
                    <a:pt x="0" y="581279"/>
                  </a:lnTo>
                  <a:close/>
                </a:path>
              </a:pathLst>
            </a:custGeom>
            <a:solidFill>
              <a:srgbClr val="FFFFFF">
                <a:alpha val="0"/>
              </a:srgbClr>
            </a:solidFill>
          </p:spPr>
        </p:sp>
      </p:grpSp>
      <p:grpSp>
        <p:nvGrpSpPr>
          <p:cNvPr name="Group 18" id="18"/>
          <p:cNvGrpSpPr/>
          <p:nvPr/>
        </p:nvGrpSpPr>
        <p:grpSpPr>
          <a:xfrm rot="0">
            <a:off x="1053856" y="4835871"/>
            <a:ext cx="16315430" cy="435921"/>
            <a:chOff x="0" y="0"/>
            <a:chExt cx="21753906" cy="581228"/>
          </a:xfrm>
        </p:grpSpPr>
        <p:sp>
          <p:nvSpPr>
            <p:cNvPr name="Freeform 19" id="19"/>
            <p:cNvSpPr/>
            <p:nvPr/>
          </p:nvSpPr>
          <p:spPr>
            <a:xfrm flipH="false" flipV="false" rot="0">
              <a:off x="0" y="0"/>
              <a:ext cx="21753957" cy="581279"/>
            </a:xfrm>
            <a:custGeom>
              <a:avLst/>
              <a:gdLst/>
              <a:ahLst/>
              <a:cxnLst/>
              <a:rect r="r" b="b" t="t" l="l"/>
              <a:pathLst>
                <a:path h="581279" w="21753957">
                  <a:moveTo>
                    <a:pt x="0" y="0"/>
                  </a:moveTo>
                  <a:lnTo>
                    <a:pt x="21753957" y="0"/>
                  </a:lnTo>
                  <a:lnTo>
                    <a:pt x="21753957" y="581279"/>
                  </a:lnTo>
                  <a:lnTo>
                    <a:pt x="0" y="581279"/>
                  </a:lnTo>
                  <a:close/>
                </a:path>
              </a:pathLst>
            </a:custGeom>
            <a:solidFill>
              <a:srgbClr val="000000">
                <a:alpha val="0"/>
              </a:srgbClr>
            </a:solidFill>
          </p:spPr>
        </p:sp>
      </p:grpSp>
      <p:grpSp>
        <p:nvGrpSpPr>
          <p:cNvPr name="Group 20" id="20"/>
          <p:cNvGrpSpPr/>
          <p:nvPr/>
        </p:nvGrpSpPr>
        <p:grpSpPr>
          <a:xfrm rot="0">
            <a:off x="1053856" y="5271792"/>
            <a:ext cx="16315430" cy="435921"/>
            <a:chOff x="0" y="0"/>
            <a:chExt cx="21753906" cy="581228"/>
          </a:xfrm>
        </p:grpSpPr>
        <p:sp>
          <p:nvSpPr>
            <p:cNvPr name="Freeform 21" id="21"/>
            <p:cNvSpPr/>
            <p:nvPr/>
          </p:nvSpPr>
          <p:spPr>
            <a:xfrm flipH="false" flipV="false" rot="0">
              <a:off x="0" y="0"/>
              <a:ext cx="21753957" cy="581279"/>
            </a:xfrm>
            <a:custGeom>
              <a:avLst/>
              <a:gdLst/>
              <a:ahLst/>
              <a:cxnLst/>
              <a:rect r="r" b="b" t="t" l="l"/>
              <a:pathLst>
                <a:path h="581279" w="21753957">
                  <a:moveTo>
                    <a:pt x="0" y="0"/>
                  </a:moveTo>
                  <a:lnTo>
                    <a:pt x="21753957" y="0"/>
                  </a:lnTo>
                  <a:lnTo>
                    <a:pt x="21753957" y="581279"/>
                  </a:lnTo>
                  <a:lnTo>
                    <a:pt x="0" y="581279"/>
                  </a:lnTo>
                  <a:close/>
                </a:path>
              </a:pathLst>
            </a:custGeom>
            <a:solidFill>
              <a:srgbClr val="FFFFFF">
                <a:alpha val="0"/>
              </a:srgbClr>
            </a:solidFill>
          </p:spPr>
        </p:sp>
      </p:grpSp>
      <p:grpSp>
        <p:nvGrpSpPr>
          <p:cNvPr name="Group 22" id="22"/>
          <p:cNvGrpSpPr/>
          <p:nvPr/>
        </p:nvGrpSpPr>
        <p:grpSpPr>
          <a:xfrm rot="0">
            <a:off x="1053856" y="5707704"/>
            <a:ext cx="16315430" cy="435921"/>
            <a:chOff x="0" y="0"/>
            <a:chExt cx="21753906" cy="581228"/>
          </a:xfrm>
        </p:grpSpPr>
        <p:sp>
          <p:nvSpPr>
            <p:cNvPr name="Freeform 23" id="23"/>
            <p:cNvSpPr/>
            <p:nvPr/>
          </p:nvSpPr>
          <p:spPr>
            <a:xfrm flipH="false" flipV="false" rot="0">
              <a:off x="0" y="0"/>
              <a:ext cx="21753957" cy="581279"/>
            </a:xfrm>
            <a:custGeom>
              <a:avLst/>
              <a:gdLst/>
              <a:ahLst/>
              <a:cxnLst/>
              <a:rect r="r" b="b" t="t" l="l"/>
              <a:pathLst>
                <a:path h="581279" w="21753957">
                  <a:moveTo>
                    <a:pt x="0" y="0"/>
                  </a:moveTo>
                  <a:lnTo>
                    <a:pt x="21753957" y="0"/>
                  </a:lnTo>
                  <a:lnTo>
                    <a:pt x="21753957" y="581279"/>
                  </a:lnTo>
                  <a:lnTo>
                    <a:pt x="0" y="581279"/>
                  </a:lnTo>
                  <a:close/>
                </a:path>
              </a:pathLst>
            </a:custGeom>
            <a:solidFill>
              <a:srgbClr val="000000">
                <a:alpha val="0"/>
              </a:srgbClr>
            </a:solidFill>
          </p:spPr>
        </p:sp>
      </p:grpSp>
      <p:grpSp>
        <p:nvGrpSpPr>
          <p:cNvPr name="Group 24" id="24"/>
          <p:cNvGrpSpPr/>
          <p:nvPr/>
        </p:nvGrpSpPr>
        <p:grpSpPr>
          <a:xfrm rot="0">
            <a:off x="1053856" y="6143625"/>
            <a:ext cx="16315430" cy="435921"/>
            <a:chOff x="0" y="0"/>
            <a:chExt cx="21753906" cy="581228"/>
          </a:xfrm>
        </p:grpSpPr>
        <p:sp>
          <p:nvSpPr>
            <p:cNvPr name="Freeform 25" id="25"/>
            <p:cNvSpPr/>
            <p:nvPr/>
          </p:nvSpPr>
          <p:spPr>
            <a:xfrm flipH="false" flipV="false" rot="0">
              <a:off x="0" y="0"/>
              <a:ext cx="21753957" cy="581279"/>
            </a:xfrm>
            <a:custGeom>
              <a:avLst/>
              <a:gdLst/>
              <a:ahLst/>
              <a:cxnLst/>
              <a:rect r="r" b="b" t="t" l="l"/>
              <a:pathLst>
                <a:path h="581279" w="21753957">
                  <a:moveTo>
                    <a:pt x="0" y="0"/>
                  </a:moveTo>
                  <a:lnTo>
                    <a:pt x="21753957" y="0"/>
                  </a:lnTo>
                  <a:lnTo>
                    <a:pt x="21753957" y="581279"/>
                  </a:lnTo>
                  <a:lnTo>
                    <a:pt x="0" y="581279"/>
                  </a:lnTo>
                  <a:close/>
                </a:path>
              </a:pathLst>
            </a:custGeom>
            <a:solidFill>
              <a:srgbClr val="FFFFFF">
                <a:alpha val="0"/>
              </a:srgbClr>
            </a:solidFill>
          </p:spPr>
        </p:sp>
      </p:grpSp>
      <p:sp>
        <p:nvSpPr>
          <p:cNvPr name="Freeform 26" id="26"/>
          <p:cNvSpPr/>
          <p:nvPr/>
        </p:nvSpPr>
        <p:spPr>
          <a:xfrm flipH="false" flipV="false" rot="0">
            <a:off x="1053856" y="7589635"/>
            <a:ext cx="3498354" cy="2468765"/>
          </a:xfrm>
          <a:custGeom>
            <a:avLst/>
            <a:gdLst/>
            <a:ahLst/>
            <a:cxnLst/>
            <a:rect r="r" b="b" t="t" l="l"/>
            <a:pathLst>
              <a:path h="2468765" w="3498354">
                <a:moveTo>
                  <a:pt x="0" y="0"/>
                </a:moveTo>
                <a:lnTo>
                  <a:pt x="3498353" y="0"/>
                </a:lnTo>
                <a:lnTo>
                  <a:pt x="3498353" y="2468765"/>
                </a:lnTo>
                <a:lnTo>
                  <a:pt x="0" y="2468765"/>
                </a:lnTo>
                <a:lnTo>
                  <a:pt x="0" y="0"/>
                </a:lnTo>
                <a:close/>
              </a:path>
            </a:pathLst>
          </a:custGeom>
          <a:blipFill>
            <a:blip r:embed="rId3"/>
            <a:stretch>
              <a:fillRect l="0" t="-14521" r="0" b="-34691"/>
            </a:stretch>
          </a:blipFill>
        </p:spPr>
      </p:sp>
      <p:sp>
        <p:nvSpPr>
          <p:cNvPr name="Freeform 27" id="27"/>
          <p:cNvSpPr/>
          <p:nvPr/>
        </p:nvSpPr>
        <p:spPr>
          <a:xfrm flipH="false" flipV="false" rot="0">
            <a:off x="4786079" y="8907682"/>
            <a:ext cx="2763699" cy="276370"/>
          </a:xfrm>
          <a:custGeom>
            <a:avLst/>
            <a:gdLst/>
            <a:ahLst/>
            <a:cxnLst/>
            <a:rect r="r" b="b" t="t" l="l"/>
            <a:pathLst>
              <a:path h="276370" w="2763699">
                <a:moveTo>
                  <a:pt x="0" y="0"/>
                </a:moveTo>
                <a:lnTo>
                  <a:pt x="2763700" y="0"/>
                </a:lnTo>
                <a:lnTo>
                  <a:pt x="2763700" y="276369"/>
                </a:lnTo>
                <a:lnTo>
                  <a:pt x="0" y="2763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7674020" y="7589635"/>
            <a:ext cx="3498354" cy="2468765"/>
          </a:xfrm>
          <a:custGeom>
            <a:avLst/>
            <a:gdLst/>
            <a:ahLst/>
            <a:cxnLst/>
            <a:rect r="r" b="b" t="t" l="l"/>
            <a:pathLst>
              <a:path h="2468765" w="3498354">
                <a:moveTo>
                  <a:pt x="0" y="0"/>
                </a:moveTo>
                <a:lnTo>
                  <a:pt x="3498354" y="0"/>
                </a:lnTo>
                <a:lnTo>
                  <a:pt x="3498354" y="2468765"/>
                </a:lnTo>
                <a:lnTo>
                  <a:pt x="0" y="2468765"/>
                </a:lnTo>
                <a:lnTo>
                  <a:pt x="0" y="0"/>
                </a:lnTo>
                <a:close/>
              </a:path>
            </a:pathLst>
          </a:custGeom>
          <a:blipFill>
            <a:blip r:embed="rId3"/>
            <a:stretch>
              <a:fillRect l="0" t="-14521" r="0" b="-34691"/>
            </a:stretch>
          </a:blipFill>
        </p:spPr>
      </p:sp>
      <p:sp>
        <p:nvSpPr>
          <p:cNvPr name="Freeform 29" id="29"/>
          <p:cNvSpPr/>
          <p:nvPr/>
        </p:nvSpPr>
        <p:spPr>
          <a:xfrm flipH="false" flipV="false" rot="0">
            <a:off x="12662592" y="7589635"/>
            <a:ext cx="3498354" cy="2468765"/>
          </a:xfrm>
          <a:custGeom>
            <a:avLst/>
            <a:gdLst/>
            <a:ahLst/>
            <a:cxnLst/>
            <a:rect r="r" b="b" t="t" l="l"/>
            <a:pathLst>
              <a:path h="2468765" w="3498354">
                <a:moveTo>
                  <a:pt x="0" y="0"/>
                </a:moveTo>
                <a:lnTo>
                  <a:pt x="3498354" y="0"/>
                </a:lnTo>
                <a:lnTo>
                  <a:pt x="3498354" y="2468765"/>
                </a:lnTo>
                <a:lnTo>
                  <a:pt x="0" y="2468765"/>
                </a:lnTo>
                <a:lnTo>
                  <a:pt x="0" y="0"/>
                </a:lnTo>
                <a:close/>
              </a:path>
            </a:pathLst>
          </a:custGeom>
          <a:blipFill>
            <a:blip r:embed="rId3"/>
            <a:stretch>
              <a:fillRect l="0" t="-14521" r="0" b="-34691"/>
            </a:stretch>
          </a:blipFill>
        </p:spPr>
      </p:sp>
      <p:sp>
        <p:nvSpPr>
          <p:cNvPr name="Freeform 30" id="30"/>
          <p:cNvSpPr/>
          <p:nvPr/>
        </p:nvSpPr>
        <p:spPr>
          <a:xfrm flipH="false" flipV="false" rot="0">
            <a:off x="13349722" y="8587176"/>
            <a:ext cx="473683" cy="473683"/>
          </a:xfrm>
          <a:custGeom>
            <a:avLst/>
            <a:gdLst/>
            <a:ahLst/>
            <a:cxnLst/>
            <a:rect r="r" b="b" t="t" l="l"/>
            <a:pathLst>
              <a:path h="473683" w="473683">
                <a:moveTo>
                  <a:pt x="0" y="0"/>
                </a:moveTo>
                <a:lnTo>
                  <a:pt x="473682" y="0"/>
                </a:lnTo>
                <a:lnTo>
                  <a:pt x="473682" y="473683"/>
                </a:lnTo>
                <a:lnTo>
                  <a:pt x="0" y="4736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1" id="31"/>
          <p:cNvSpPr txBox="true"/>
          <p:nvPr/>
        </p:nvSpPr>
        <p:spPr>
          <a:xfrm rot="0">
            <a:off x="976760" y="620611"/>
            <a:ext cx="9804917" cy="662740"/>
          </a:xfrm>
          <a:prstGeom prst="rect">
            <a:avLst/>
          </a:prstGeom>
        </p:spPr>
        <p:txBody>
          <a:bodyPr anchor="t" rtlCol="false" tIns="0" lIns="0" bIns="0" rIns="0">
            <a:spAutoFit/>
          </a:bodyPr>
          <a:lstStyle/>
          <a:p>
            <a:pPr algn="l">
              <a:lnSpc>
                <a:spcPts val="5131"/>
              </a:lnSpc>
            </a:pPr>
            <a:r>
              <a:rPr lang="en-US" sz="4062">
                <a:solidFill>
                  <a:srgbClr val="201B18"/>
                </a:solidFill>
                <a:latin typeface="Arimo"/>
                <a:ea typeface="Arimo"/>
                <a:cs typeface="Arimo"/>
                <a:sym typeface="Arimo"/>
              </a:rPr>
              <a:t>GPU CUDA Kernel &amp; Performance Results</a:t>
            </a:r>
          </a:p>
        </p:txBody>
      </p:sp>
      <p:sp>
        <p:nvSpPr>
          <p:cNvPr name="TextBox 32" id="32"/>
          <p:cNvSpPr txBox="true"/>
          <p:nvPr/>
        </p:nvSpPr>
        <p:spPr>
          <a:xfrm rot="0">
            <a:off x="1188396" y="1518942"/>
            <a:ext cx="2215634" cy="348071"/>
          </a:xfrm>
          <a:prstGeom prst="rect">
            <a:avLst/>
          </a:prstGeom>
        </p:spPr>
        <p:txBody>
          <a:bodyPr anchor="t" rtlCol="false" tIns="0" lIns="0" bIns="0" rIns="0">
            <a:spAutoFit/>
          </a:bodyPr>
          <a:lstStyle/>
          <a:p>
            <a:pPr algn="l">
              <a:lnSpc>
                <a:spcPts val="2764"/>
              </a:lnSpc>
            </a:pPr>
            <a:r>
              <a:rPr lang="en-US" sz="2149">
                <a:solidFill>
                  <a:srgbClr val="504C49"/>
                </a:solidFill>
                <a:latin typeface="Arimo"/>
                <a:ea typeface="Arimo"/>
                <a:cs typeface="Arimo"/>
                <a:sym typeface="Arimo"/>
              </a:rPr>
              <a:t>Thread Block Size</a:t>
            </a:r>
          </a:p>
        </p:txBody>
      </p:sp>
      <p:sp>
        <p:nvSpPr>
          <p:cNvPr name="TextBox 33" id="33"/>
          <p:cNvSpPr txBox="true"/>
          <p:nvPr/>
        </p:nvSpPr>
        <p:spPr>
          <a:xfrm rot="0">
            <a:off x="1188396" y="1867052"/>
            <a:ext cx="7695457"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8×8 threads maps exactly to one JPEG block</a:t>
            </a:r>
          </a:p>
        </p:txBody>
      </p:sp>
      <p:sp>
        <p:nvSpPr>
          <p:cNvPr name="TextBox 34" id="34"/>
          <p:cNvSpPr txBox="true"/>
          <p:nvPr/>
        </p:nvSpPr>
        <p:spPr>
          <a:xfrm rot="0">
            <a:off x="9423197" y="1518942"/>
            <a:ext cx="2111454" cy="366032"/>
          </a:xfrm>
          <a:prstGeom prst="rect">
            <a:avLst/>
          </a:prstGeom>
        </p:spPr>
        <p:txBody>
          <a:bodyPr anchor="t" rtlCol="false" tIns="0" lIns="0" bIns="0" rIns="0">
            <a:spAutoFit/>
          </a:bodyPr>
          <a:lstStyle/>
          <a:p>
            <a:pPr algn="l">
              <a:lnSpc>
                <a:spcPts val="2892"/>
              </a:lnSpc>
            </a:pPr>
            <a:r>
              <a:rPr lang="en-US" sz="2249">
                <a:solidFill>
                  <a:srgbClr val="504C49"/>
                </a:solidFill>
                <a:latin typeface="Arimo"/>
                <a:ea typeface="Arimo"/>
                <a:cs typeface="Arimo"/>
                <a:sym typeface="Arimo"/>
              </a:rPr>
              <a:t>Grid Dimensions</a:t>
            </a:r>
          </a:p>
        </p:txBody>
      </p:sp>
      <p:sp>
        <p:nvSpPr>
          <p:cNvPr name="TextBox 35" id="35"/>
          <p:cNvSpPr txBox="true"/>
          <p:nvPr/>
        </p:nvSpPr>
        <p:spPr>
          <a:xfrm rot="0">
            <a:off x="9423197" y="1876577"/>
            <a:ext cx="7695457" cy="300686"/>
          </a:xfrm>
          <a:prstGeom prst="rect">
            <a:avLst/>
          </a:prstGeom>
        </p:spPr>
        <p:txBody>
          <a:bodyPr anchor="t" rtlCol="false" tIns="0" lIns="0" bIns="0" rIns="0">
            <a:spAutoFit/>
          </a:bodyPr>
          <a:lstStyle/>
          <a:p>
            <a:pPr algn="l">
              <a:lnSpc>
                <a:spcPts val="2417"/>
              </a:lnSpc>
            </a:pPr>
            <a:r>
              <a:rPr lang="en-US" sz="1737">
                <a:solidFill>
                  <a:srgbClr val="504C49"/>
                </a:solidFill>
                <a:latin typeface="Source Serif Pro"/>
                <a:ea typeface="Source Serif Pro"/>
                <a:cs typeface="Source Serif Pro"/>
                <a:sym typeface="Source Serif Pro"/>
              </a:rPr>
              <a:t>(image_width/8) × (image_height/8) blocks processes every block in parallel</a:t>
            </a:r>
          </a:p>
        </p:txBody>
      </p:sp>
      <p:sp>
        <p:nvSpPr>
          <p:cNvPr name="TextBox 36" id="36"/>
          <p:cNvSpPr txBox="true"/>
          <p:nvPr/>
        </p:nvSpPr>
        <p:spPr>
          <a:xfrm rot="0">
            <a:off x="1188396" y="2680097"/>
            <a:ext cx="2032278" cy="366032"/>
          </a:xfrm>
          <a:prstGeom prst="rect">
            <a:avLst/>
          </a:prstGeom>
        </p:spPr>
        <p:txBody>
          <a:bodyPr anchor="t" rtlCol="false" tIns="0" lIns="0" bIns="0" rIns="0">
            <a:spAutoFit/>
          </a:bodyPr>
          <a:lstStyle/>
          <a:p>
            <a:pPr algn="l">
              <a:lnSpc>
                <a:spcPts val="2892"/>
              </a:lnSpc>
            </a:pPr>
            <a:r>
              <a:rPr lang="en-US" sz="2249">
                <a:solidFill>
                  <a:srgbClr val="504C49"/>
                </a:solidFill>
                <a:latin typeface="Arimo"/>
                <a:ea typeface="Arimo"/>
                <a:cs typeface="Arimo"/>
                <a:sym typeface="Arimo"/>
              </a:rPr>
              <a:t>Shared Memory</a:t>
            </a:r>
          </a:p>
        </p:txBody>
      </p:sp>
      <p:sp>
        <p:nvSpPr>
          <p:cNvPr name="TextBox 37" id="37"/>
          <p:cNvSpPr txBox="true"/>
          <p:nvPr/>
        </p:nvSpPr>
        <p:spPr>
          <a:xfrm rot="0">
            <a:off x="1188396" y="3028207"/>
            <a:ext cx="7695457"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8×9 float arrays (+1 padding avoids bank conflicts)</a:t>
            </a:r>
          </a:p>
        </p:txBody>
      </p:sp>
      <p:sp>
        <p:nvSpPr>
          <p:cNvPr name="TextBox 38" id="38"/>
          <p:cNvSpPr txBox="true"/>
          <p:nvPr/>
        </p:nvSpPr>
        <p:spPr>
          <a:xfrm rot="0">
            <a:off x="9423197" y="2680097"/>
            <a:ext cx="2254448" cy="366032"/>
          </a:xfrm>
          <a:prstGeom prst="rect">
            <a:avLst/>
          </a:prstGeom>
        </p:spPr>
        <p:txBody>
          <a:bodyPr anchor="t" rtlCol="false" tIns="0" lIns="0" bIns="0" rIns="0">
            <a:spAutoFit/>
          </a:bodyPr>
          <a:lstStyle/>
          <a:p>
            <a:pPr algn="l">
              <a:lnSpc>
                <a:spcPts val="2892"/>
              </a:lnSpc>
            </a:pPr>
            <a:r>
              <a:rPr lang="en-US" sz="2249">
                <a:solidFill>
                  <a:srgbClr val="504C49"/>
                </a:solidFill>
                <a:latin typeface="Arimo"/>
                <a:ea typeface="Arimo"/>
                <a:cs typeface="Arimo"/>
                <a:sym typeface="Arimo"/>
              </a:rPr>
              <a:t>Constant Memory</a:t>
            </a:r>
          </a:p>
        </p:txBody>
      </p:sp>
      <p:sp>
        <p:nvSpPr>
          <p:cNvPr name="TextBox 39" id="39"/>
          <p:cNvSpPr txBox="true"/>
          <p:nvPr/>
        </p:nvSpPr>
        <p:spPr>
          <a:xfrm rot="0">
            <a:off x="9423197" y="3028207"/>
            <a:ext cx="7695457" cy="702973"/>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DCT matrix (T), transpose (Tt), quantization table (d_qLuma) uploaded once, broadcast to all threads</a:t>
            </a:r>
          </a:p>
        </p:txBody>
      </p:sp>
      <p:sp>
        <p:nvSpPr>
          <p:cNvPr name="TextBox 40" id="40"/>
          <p:cNvSpPr txBox="true"/>
          <p:nvPr/>
        </p:nvSpPr>
        <p:spPr>
          <a:xfrm rot="0">
            <a:off x="1044331" y="3825326"/>
            <a:ext cx="4594774" cy="362398"/>
          </a:xfrm>
          <a:prstGeom prst="rect">
            <a:avLst/>
          </a:prstGeom>
        </p:spPr>
        <p:txBody>
          <a:bodyPr anchor="t" rtlCol="false" tIns="0" lIns="0" bIns="0" rIns="0">
            <a:spAutoFit/>
          </a:bodyPr>
          <a:lstStyle/>
          <a:p>
            <a:pPr algn="l">
              <a:lnSpc>
                <a:spcPts val="2687"/>
              </a:lnSpc>
            </a:pPr>
            <a:r>
              <a:rPr lang="en-US" sz="2125">
                <a:solidFill>
                  <a:srgbClr val="201B18"/>
                </a:solidFill>
                <a:latin typeface="Arimo"/>
                <a:ea typeface="Arimo"/>
                <a:cs typeface="Arimo"/>
                <a:sym typeface="Arimo"/>
              </a:rPr>
              <a:t>GPU vs CPU — Benchmark Results</a:t>
            </a:r>
          </a:p>
        </p:txBody>
      </p:sp>
      <p:sp>
        <p:nvSpPr>
          <p:cNvPr name="TextBox 41" id="41"/>
          <p:cNvSpPr txBox="true"/>
          <p:nvPr/>
        </p:nvSpPr>
        <p:spPr>
          <a:xfrm rot="0">
            <a:off x="1237212" y="4452490"/>
            <a:ext cx="6155236" cy="357643"/>
          </a:xfrm>
          <a:prstGeom prst="rect">
            <a:avLst/>
          </a:prstGeom>
        </p:spPr>
        <p:txBody>
          <a:bodyPr anchor="t" rtlCol="false" tIns="0" lIns="0" bIns="0" rIns="0">
            <a:spAutoFit/>
          </a:bodyPr>
          <a:lstStyle/>
          <a:p>
            <a:pPr algn="l">
              <a:lnSpc>
                <a:spcPts val="2973"/>
              </a:lnSpc>
            </a:pPr>
            <a:r>
              <a:rPr lang="en-US" sz="2137" b="true">
                <a:solidFill>
                  <a:srgbClr val="504C49"/>
                </a:solidFill>
                <a:latin typeface="Source Serif Pro Bold"/>
                <a:ea typeface="Source Serif Pro Bold"/>
                <a:cs typeface="Source Serif Pro Bold"/>
                <a:sym typeface="Source Serif Pro Bold"/>
              </a:rPr>
              <a:t>Metric</a:t>
            </a:r>
          </a:p>
        </p:txBody>
      </p:sp>
      <p:sp>
        <p:nvSpPr>
          <p:cNvPr name="TextBox 42" id="42"/>
          <p:cNvSpPr txBox="true"/>
          <p:nvPr/>
        </p:nvSpPr>
        <p:spPr>
          <a:xfrm rot="0">
            <a:off x="7768085" y="4442965"/>
            <a:ext cx="4518870" cy="383789"/>
          </a:xfrm>
          <a:prstGeom prst="rect">
            <a:avLst/>
          </a:prstGeom>
        </p:spPr>
        <p:txBody>
          <a:bodyPr anchor="t" rtlCol="false" tIns="0" lIns="0" bIns="0" rIns="0">
            <a:spAutoFit/>
          </a:bodyPr>
          <a:lstStyle/>
          <a:p>
            <a:pPr algn="l">
              <a:lnSpc>
                <a:spcPts val="3113"/>
              </a:lnSpc>
            </a:pPr>
            <a:r>
              <a:rPr lang="en-US" sz="2237" b="true">
                <a:solidFill>
                  <a:srgbClr val="504C49"/>
                </a:solidFill>
                <a:latin typeface="Source Serif Pro Bold"/>
                <a:ea typeface="Source Serif Pro Bold"/>
                <a:cs typeface="Source Serif Pro Bold"/>
                <a:sym typeface="Source Serif Pro Bold"/>
              </a:rPr>
              <a:t>GPU</a:t>
            </a:r>
          </a:p>
        </p:txBody>
      </p:sp>
      <p:sp>
        <p:nvSpPr>
          <p:cNvPr name="TextBox 43" id="43"/>
          <p:cNvSpPr txBox="true"/>
          <p:nvPr/>
        </p:nvSpPr>
        <p:spPr>
          <a:xfrm rot="0">
            <a:off x="12662592" y="4442965"/>
            <a:ext cx="4523632" cy="383789"/>
          </a:xfrm>
          <a:prstGeom prst="rect">
            <a:avLst/>
          </a:prstGeom>
        </p:spPr>
        <p:txBody>
          <a:bodyPr anchor="t" rtlCol="false" tIns="0" lIns="0" bIns="0" rIns="0">
            <a:spAutoFit/>
          </a:bodyPr>
          <a:lstStyle/>
          <a:p>
            <a:pPr algn="l">
              <a:lnSpc>
                <a:spcPts val="3113"/>
              </a:lnSpc>
            </a:pPr>
            <a:r>
              <a:rPr lang="en-US" sz="2237" b="true">
                <a:solidFill>
                  <a:srgbClr val="504C49"/>
                </a:solidFill>
                <a:latin typeface="Source Serif Pro Bold"/>
                <a:ea typeface="Source Serif Pro Bold"/>
                <a:cs typeface="Source Serif Pro Bold"/>
                <a:sym typeface="Source Serif Pro Bold"/>
              </a:rPr>
              <a:t>CPU</a:t>
            </a:r>
          </a:p>
        </p:txBody>
      </p:sp>
      <p:sp>
        <p:nvSpPr>
          <p:cNvPr name="TextBox 44" id="44"/>
          <p:cNvSpPr txBox="true"/>
          <p:nvPr/>
        </p:nvSpPr>
        <p:spPr>
          <a:xfrm rot="0">
            <a:off x="1237212" y="4878886"/>
            <a:ext cx="6155236"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Compression time (test image)</a:t>
            </a:r>
          </a:p>
        </p:txBody>
      </p:sp>
      <p:sp>
        <p:nvSpPr>
          <p:cNvPr name="TextBox 45" id="45"/>
          <p:cNvSpPr txBox="true"/>
          <p:nvPr/>
        </p:nvSpPr>
        <p:spPr>
          <a:xfrm rot="0">
            <a:off x="7768085" y="4878886"/>
            <a:ext cx="4518870"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22.625 ms</a:t>
            </a:r>
          </a:p>
        </p:txBody>
      </p:sp>
      <p:sp>
        <p:nvSpPr>
          <p:cNvPr name="TextBox 46" id="46"/>
          <p:cNvSpPr txBox="true"/>
          <p:nvPr/>
        </p:nvSpPr>
        <p:spPr>
          <a:xfrm rot="0">
            <a:off x="12662592" y="4878886"/>
            <a:ext cx="4523632"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138.928 ms</a:t>
            </a:r>
          </a:p>
        </p:txBody>
      </p:sp>
      <p:sp>
        <p:nvSpPr>
          <p:cNvPr name="TextBox 47" id="47"/>
          <p:cNvSpPr txBox="true"/>
          <p:nvPr/>
        </p:nvSpPr>
        <p:spPr>
          <a:xfrm rot="0">
            <a:off x="1237212" y="5314798"/>
            <a:ext cx="6155236"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Speedup</a:t>
            </a:r>
          </a:p>
        </p:txBody>
      </p:sp>
      <p:sp>
        <p:nvSpPr>
          <p:cNvPr name="TextBox 48" id="48"/>
          <p:cNvSpPr txBox="true"/>
          <p:nvPr/>
        </p:nvSpPr>
        <p:spPr>
          <a:xfrm rot="0">
            <a:off x="7768085" y="5314798"/>
            <a:ext cx="4518870" cy="350548"/>
          </a:xfrm>
          <a:prstGeom prst="rect">
            <a:avLst/>
          </a:prstGeom>
        </p:spPr>
        <p:txBody>
          <a:bodyPr anchor="t" rtlCol="false" tIns="0" lIns="0" bIns="0" rIns="0">
            <a:spAutoFit/>
          </a:bodyPr>
          <a:lstStyle/>
          <a:p>
            <a:pPr algn="l">
              <a:lnSpc>
                <a:spcPts val="2834"/>
              </a:lnSpc>
            </a:pPr>
            <a:r>
              <a:rPr lang="en-US" sz="2037" b="true">
                <a:solidFill>
                  <a:srgbClr val="3E2513"/>
                </a:solidFill>
                <a:latin typeface="Source Serif Pro Bold"/>
                <a:ea typeface="Source Serif Pro Bold"/>
                <a:cs typeface="Source Serif Pro Bold"/>
                <a:sym typeface="Source Serif Pro Bold"/>
              </a:rPr>
              <a:t>6.140x</a:t>
            </a:r>
          </a:p>
        </p:txBody>
      </p:sp>
      <p:sp>
        <p:nvSpPr>
          <p:cNvPr name="TextBox 49" id="49"/>
          <p:cNvSpPr txBox="true"/>
          <p:nvPr/>
        </p:nvSpPr>
        <p:spPr>
          <a:xfrm rot="0">
            <a:off x="12662592" y="5314798"/>
            <a:ext cx="4523632"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1x</a:t>
            </a:r>
          </a:p>
        </p:txBody>
      </p:sp>
      <p:sp>
        <p:nvSpPr>
          <p:cNvPr name="TextBox 50" id="50"/>
          <p:cNvSpPr txBox="true"/>
          <p:nvPr/>
        </p:nvSpPr>
        <p:spPr>
          <a:xfrm rot="0">
            <a:off x="1237212" y="5750719"/>
            <a:ext cx="6155236"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Output quality (PSNR)</a:t>
            </a:r>
          </a:p>
        </p:txBody>
      </p:sp>
      <p:sp>
        <p:nvSpPr>
          <p:cNvPr name="TextBox 51" id="51"/>
          <p:cNvSpPr txBox="true"/>
          <p:nvPr/>
        </p:nvSpPr>
        <p:spPr>
          <a:xfrm rot="0">
            <a:off x="7768085" y="5750719"/>
            <a:ext cx="4518870"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68.361</a:t>
            </a:r>
          </a:p>
        </p:txBody>
      </p:sp>
      <p:sp>
        <p:nvSpPr>
          <p:cNvPr name="TextBox 52" id="52"/>
          <p:cNvSpPr txBox="true"/>
          <p:nvPr/>
        </p:nvSpPr>
        <p:spPr>
          <a:xfrm rot="0">
            <a:off x="12662592" y="5750719"/>
            <a:ext cx="4523632"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a:t>
            </a:r>
          </a:p>
        </p:txBody>
      </p:sp>
      <p:sp>
        <p:nvSpPr>
          <p:cNvPr name="TextBox 53" id="53"/>
          <p:cNvSpPr txBox="true"/>
          <p:nvPr/>
        </p:nvSpPr>
        <p:spPr>
          <a:xfrm rot="0">
            <a:off x="1237212" y="6186640"/>
            <a:ext cx="6155236"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Quality map support</a:t>
            </a:r>
          </a:p>
        </p:txBody>
      </p:sp>
      <p:sp>
        <p:nvSpPr>
          <p:cNvPr name="TextBox 54" id="54"/>
          <p:cNvSpPr txBox="true"/>
          <p:nvPr/>
        </p:nvSpPr>
        <p:spPr>
          <a:xfrm rot="0">
            <a:off x="7768085" y="6186640"/>
            <a:ext cx="4518870"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Yes</a:t>
            </a:r>
          </a:p>
        </p:txBody>
      </p:sp>
      <p:sp>
        <p:nvSpPr>
          <p:cNvPr name="TextBox 55" id="55"/>
          <p:cNvSpPr txBox="true"/>
          <p:nvPr/>
        </p:nvSpPr>
        <p:spPr>
          <a:xfrm rot="0">
            <a:off x="12662592" y="6186640"/>
            <a:ext cx="4523632" cy="350548"/>
          </a:xfrm>
          <a:prstGeom prst="rect">
            <a:avLst/>
          </a:prstGeom>
        </p:spPr>
        <p:txBody>
          <a:bodyPr anchor="t" rtlCol="false" tIns="0" lIns="0" bIns="0" rIns="0">
            <a:spAutoFit/>
          </a:bodyPr>
          <a:lstStyle/>
          <a:p>
            <a:pPr algn="l">
              <a:lnSpc>
                <a:spcPts val="2834"/>
              </a:lnSpc>
            </a:pPr>
            <a:r>
              <a:rPr lang="en-US" sz="2037">
                <a:solidFill>
                  <a:srgbClr val="504C49"/>
                </a:solidFill>
                <a:latin typeface="Source Serif Pro"/>
                <a:ea typeface="Source Serif Pro"/>
                <a:cs typeface="Source Serif Pro"/>
                <a:sym typeface="Source Serif Pro"/>
              </a:rPr>
              <a:t>Yes</a:t>
            </a:r>
          </a:p>
        </p:txBody>
      </p:sp>
      <p:sp>
        <p:nvSpPr>
          <p:cNvPr name="TextBox 56" id="56"/>
          <p:cNvSpPr txBox="true"/>
          <p:nvPr/>
        </p:nvSpPr>
        <p:spPr>
          <a:xfrm rot="0">
            <a:off x="1044331" y="6712591"/>
            <a:ext cx="16334480" cy="488950"/>
          </a:xfrm>
          <a:prstGeom prst="rect">
            <a:avLst/>
          </a:prstGeom>
        </p:spPr>
        <p:txBody>
          <a:bodyPr anchor="t" rtlCol="false" tIns="0" lIns="0" bIns="0" rIns="0">
            <a:spAutoFit/>
          </a:bodyPr>
          <a:lstStyle/>
          <a:p>
            <a:pPr algn="l">
              <a:lnSpc>
                <a:spcPts val="2000"/>
              </a:lnSpc>
            </a:pPr>
            <a:r>
              <a:rPr lang="en-US" sz="1437">
                <a:solidFill>
                  <a:srgbClr val="504C49"/>
                </a:solidFill>
                <a:latin typeface="Source Serif Pro"/>
                <a:ea typeface="Source Serif Pro"/>
                <a:cs typeface="Source Serif Pro"/>
                <a:sym typeface="Source Serif Pro"/>
              </a:rPr>
              <a:t>Both paths produce pixel-identical output verified via PSNR comparison. GPU advantage grows with image resolution as more blocks enable greater parallelism. Content-aware mode achieves same or better perceptual quality at reduced bitrate.</a:t>
            </a:r>
          </a:p>
        </p:txBody>
      </p:sp>
      <p:sp>
        <p:nvSpPr>
          <p:cNvPr name="TextBox 57" id="57"/>
          <p:cNvSpPr txBox="true"/>
          <p:nvPr/>
        </p:nvSpPr>
        <p:spPr>
          <a:xfrm rot="0">
            <a:off x="2023232" y="7220591"/>
            <a:ext cx="1559600" cy="334963"/>
          </a:xfrm>
          <a:prstGeom prst="rect">
            <a:avLst/>
          </a:prstGeom>
        </p:spPr>
        <p:txBody>
          <a:bodyPr anchor="t" rtlCol="false" tIns="0" lIns="0" bIns="0" rIns="0">
            <a:spAutoFit/>
          </a:bodyPr>
          <a:lstStyle/>
          <a:p>
            <a:pPr algn="l">
              <a:lnSpc>
                <a:spcPts val="2687"/>
              </a:lnSpc>
            </a:pPr>
            <a:r>
              <a:rPr lang="en-US" sz="2125">
                <a:solidFill>
                  <a:srgbClr val="201B18"/>
                </a:solidFill>
                <a:latin typeface="Arimo"/>
                <a:ea typeface="Arimo"/>
                <a:cs typeface="Arimo"/>
                <a:sym typeface="Arimo"/>
              </a:rPr>
              <a:t>MrMeow.png</a:t>
            </a:r>
          </a:p>
        </p:txBody>
      </p:sp>
      <p:sp>
        <p:nvSpPr>
          <p:cNvPr name="TextBox 58" id="58"/>
          <p:cNvSpPr txBox="true"/>
          <p:nvPr/>
        </p:nvSpPr>
        <p:spPr>
          <a:xfrm rot="0">
            <a:off x="8331572" y="7174849"/>
            <a:ext cx="2218849" cy="334963"/>
          </a:xfrm>
          <a:prstGeom prst="rect">
            <a:avLst/>
          </a:prstGeom>
        </p:spPr>
        <p:txBody>
          <a:bodyPr anchor="t" rtlCol="false" tIns="0" lIns="0" bIns="0" rIns="0">
            <a:spAutoFit/>
          </a:bodyPr>
          <a:lstStyle/>
          <a:p>
            <a:pPr algn="l">
              <a:lnSpc>
                <a:spcPts val="2687"/>
              </a:lnSpc>
            </a:pPr>
            <a:r>
              <a:rPr lang="en-US" sz="2125">
                <a:solidFill>
                  <a:srgbClr val="201B18"/>
                </a:solidFill>
                <a:latin typeface="Arimo"/>
                <a:ea typeface="Arimo"/>
                <a:cs typeface="Arimo"/>
                <a:sym typeface="Arimo"/>
              </a:rPr>
              <a:t>MrMeow.jpg(CPU)</a:t>
            </a:r>
          </a:p>
        </p:txBody>
      </p:sp>
      <p:sp>
        <p:nvSpPr>
          <p:cNvPr name="TextBox 59" id="59"/>
          <p:cNvSpPr txBox="true"/>
          <p:nvPr/>
        </p:nvSpPr>
        <p:spPr>
          <a:xfrm rot="0">
            <a:off x="13270925" y="7146274"/>
            <a:ext cx="2233851" cy="334963"/>
          </a:xfrm>
          <a:prstGeom prst="rect">
            <a:avLst/>
          </a:prstGeom>
        </p:spPr>
        <p:txBody>
          <a:bodyPr anchor="t" rtlCol="false" tIns="0" lIns="0" bIns="0" rIns="0">
            <a:spAutoFit/>
          </a:bodyPr>
          <a:lstStyle/>
          <a:p>
            <a:pPr algn="l">
              <a:lnSpc>
                <a:spcPts val="2687"/>
              </a:lnSpc>
            </a:pPr>
            <a:r>
              <a:rPr lang="en-US" sz="2125">
                <a:solidFill>
                  <a:srgbClr val="201B18"/>
                </a:solidFill>
                <a:latin typeface="Arimo"/>
                <a:ea typeface="Arimo"/>
                <a:cs typeface="Arimo"/>
                <a:sym typeface="Arimo"/>
              </a:rPr>
              <a:t>MrMeow.jpg(GPU)</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88310" y="1028700"/>
            <a:ext cx="7511380" cy="8229600"/>
          </a:xfrm>
          <a:custGeom>
            <a:avLst/>
            <a:gdLst/>
            <a:ahLst/>
            <a:cxnLst/>
            <a:rect r="r" b="b" t="t" l="l"/>
            <a:pathLst>
              <a:path h="8229600" w="7511380">
                <a:moveTo>
                  <a:pt x="0" y="0"/>
                </a:moveTo>
                <a:lnTo>
                  <a:pt x="7511380" y="0"/>
                </a:lnTo>
                <a:lnTo>
                  <a:pt x="7511380" y="8229600"/>
                </a:lnTo>
                <a:lnTo>
                  <a:pt x="0" y="822960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DAHIVdrwyZE</dc:identifier>
  <dcterms:modified xsi:type="dcterms:W3CDTF">2011-08-01T06:04:30Z</dcterms:modified>
  <cp:revision>1</cp:revision>
  <dc:title>GPU-Accelerated-JPEG-Image-Compression (2).pptx</dc:title>
</cp:coreProperties>
</file>